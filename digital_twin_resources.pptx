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4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Укомплектованность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621B-DA4B-96CE-FEEB0051CCBF}"/>
              </c:ext>
            </c:extLst>
          </c:dPt>
          <c:dPt>
            <c:idx val="1"/>
            <c:bubble3D val="0"/>
            <c:spPr>
              <a:solidFill>
                <a:srgbClr val="E23B2E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621B-DA4B-96CE-FEEB0051CCBF}"/>
              </c:ext>
            </c:extLst>
          </c:dPt>
          <c:cat>
            <c:strRef>
              <c:f>Sheet1!$A$2:$A$3</c:f>
              <c:strCache>
                <c:ptCount val="2"/>
                <c:pt idx="0">
                  <c:v>Занято</c:v>
                </c:pt>
                <c:pt idx="1">
                  <c:v>Дефицит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21B-DA4B-96CE-FEEB0051CC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</c:v>
                </c:pt>
              </c:strCache>
            </c:strRef>
          </c:tx>
          <c:spPr>
            <a:solidFill>
              <a:schemeClr val="accent1"/>
            </a:solidFill>
            <a:ln w="6350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267-E44C-A186-F7ABC248C3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267-E44C-A186-F7ABC248C3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267-E44C-A186-F7ABC248C36F}"/>
              </c:ext>
            </c:extLst>
          </c:dPt>
          <c:dPt>
            <c:idx val="3"/>
            <c:bubble3D val="0"/>
            <c:spPr>
              <a:solidFill>
                <a:srgbClr val="A7C74A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267-E44C-A186-F7ABC248C36F}"/>
              </c:ext>
            </c:extLst>
          </c:dPt>
          <c:dPt>
            <c:idx val="4"/>
            <c:bubble3D val="0"/>
            <c:spPr>
              <a:solidFill>
                <a:srgbClr val="F5A623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267-E44C-A186-F7ABC248C36F}"/>
              </c:ext>
            </c:extLst>
          </c:dPt>
          <c:dPt>
            <c:idx val="5"/>
            <c:bubble3D val="0"/>
            <c:spPr>
              <a:solidFill>
                <a:srgbClr val="8E6FC9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267-E44C-A186-F7ABC248C36F}"/>
              </c:ext>
            </c:extLst>
          </c:dPt>
          <c:dPt>
            <c:idx val="6"/>
            <c:bubble3D val="0"/>
            <c:spPr>
              <a:solidFill>
                <a:srgbClr val="2C3E6B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267-E44C-A186-F7ABC248C36F}"/>
              </c:ext>
            </c:extLst>
          </c:dPt>
          <c:cat>
            <c:strRef>
              <c:f>Sheet1!$A$2:$A$8</c:f>
              <c:strCache>
                <c:ptCount val="7"/>
                <c:pt idx="0">
                  <c:v>Data Science</c:v>
                </c:pt>
                <c:pt idx="1">
                  <c:v>Аналитика</c:v>
                </c:pt>
                <c:pt idx="2">
                  <c:v>Управление</c:v>
                </c:pt>
                <c:pt idx="3">
                  <c:v>Разработка</c:v>
                </c:pt>
                <c:pt idx="4">
                  <c:v>Методология, CX</c:v>
                </c:pt>
                <c:pt idx="5">
                  <c:v>Support</c:v>
                </c:pt>
                <c:pt idx="6">
                  <c:v>QA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71</c:v>
                </c:pt>
                <c:pt idx="1">
                  <c:v>29</c:v>
                </c:pt>
                <c:pt idx="2">
                  <c:v>9</c:v>
                </c:pt>
                <c:pt idx="3">
                  <c:v>11</c:v>
                </c:pt>
                <c:pt idx="4">
                  <c:v>7</c:v>
                </c:pt>
                <c:pt idx="5">
                  <c:v>3</c:v>
                </c:pt>
                <c:pt idx="6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2267-E44C-A186-F7ABC248C3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0.46"/>
          <c:y val="0"/>
          <c:w val="0.52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Факт, ПШЕ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invertIfNegative val="0"/>
          <c:cat>
            <c:strRef>
              <c:f>Лист1!$A$2:$A$8</c:f>
              <c:strCache>
                <c:ptCount val="7"/>
                <c:pt idx="0">
                  <c:v>Мотивационный профиль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Поставка данных</c:v>
                </c:pt>
                <c:pt idx="4">
                  <c:v>Foundation Model</c:v>
                </c:pt>
                <c:pt idx="5">
                  <c:v>Бизнес-тестирование</c:v>
                </c:pt>
                <c:pt idx="6">
                  <c:v>Правовая обвязка</c:v>
                </c:pt>
              </c:strCache>
            </c:strRef>
          </c:cat>
          <c:val>
            <c:numRef>
              <c:f>Лист1!$B$2:$B$8</c:f>
              <c:numCache>
                <c:formatCode>General</c:formatCode>
                <c:ptCount val="7"/>
                <c:pt idx="0">
                  <c:v>9</c:v>
                </c:pt>
                <c:pt idx="1">
                  <c:v>20</c:v>
                </c:pt>
                <c:pt idx="2">
                  <c:v>29</c:v>
                </c:pt>
                <c:pt idx="3">
                  <c:v>16</c:v>
                </c:pt>
                <c:pt idx="4">
                  <c:v>34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7F-944F-9DC8-A94FF971215C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План, ПШЕ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 w="9525">
              <a:solidFill>
                <a:schemeClr val="accent6"/>
              </a:solidFill>
              <a:prstDash val="dash"/>
            </a:ln>
          </c:spPr>
          <c:invertIfNegative val="0"/>
          <c:cat>
            <c:strRef>
              <c:f>Лист1!$A$2:$A$8</c:f>
              <c:strCache>
                <c:ptCount val="7"/>
                <c:pt idx="0">
                  <c:v>Мотивационный профиль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Поставка данных</c:v>
                </c:pt>
                <c:pt idx="4">
                  <c:v>Foundation Model</c:v>
                </c:pt>
                <c:pt idx="5">
                  <c:v>Бизнес-тестирование</c:v>
                </c:pt>
                <c:pt idx="6">
                  <c:v>Правовая обвязка</c:v>
                </c:pt>
              </c:strCache>
            </c:strRef>
          </c:cat>
          <c:val>
            <c:numRef>
              <c:f>Лист1!$C$2:$C$8</c:f>
              <c:numCache>
                <c:formatCode>General</c:formatCode>
                <c:ptCount val="7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7F-944F-9DC8-A94FF97121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2"/>
        <c:overlap val="100"/>
        <c:axId val="1009633471"/>
        <c:axId val="948074495"/>
      </c:barChart>
      <c:catAx>
        <c:axId val="10096334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>
            <a:solidFill>
              <a:srgbClr val="DCE5E9"/>
            </a:solidFill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 xmlns:p="http://schemas.openxmlformats.org/presentationml/2006/main"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48074495"/>
        <c:crosses val="autoZero"/>
        <c:auto val="1"/>
        <c:lblAlgn val="ctr"/>
        <c:lblOffset val="100"/>
        <c:tickLblSkip val="1"/>
        <c:noMultiLvlLbl val="0"/>
      </c:catAx>
      <c:valAx>
        <c:axId val="94807449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09633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609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1247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2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Два объекта">
    <p:bg>
      <p:bgPr>
        <a:solidFill>
          <a:srgbClr val="F8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6E787-6118-CB30-1860-80B2DDBC2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2880"/>
            <a:ext cx="11277570" cy="548640"/>
          </a:xfrm>
          <a:prstGeom prst="rect">
            <a:avLst/>
          </a:prstGeom>
        </p:spPr>
        <p:txBody>
          <a:bodyPr lIns="0" rIns="0" anchor="ctr">
            <a:noAutofit/>
          </a:bodyPr>
          <a:lstStyle>
            <a:lvl1pPr>
              <a:lnSpc>
                <a:spcPct val="85000"/>
              </a:lnSpc>
              <a:defRPr sz="2933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AFD5C01-A8EF-81DE-BED5-684EEF03ABDB}"/>
              </a:ext>
            </a:extLst>
          </p:cNvPr>
          <p:cNvSpPr/>
          <p:nvPr userDrawn="1"/>
        </p:nvSpPr>
        <p:spPr>
          <a:xfrm>
            <a:off x="11287125" y="6561139"/>
            <a:ext cx="904875" cy="296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ctr"/>
            <a:fld id="{E5BEBB3C-960C-4E0B-A5BA-796AFB15491B}" type="slidenum">
              <a:rPr lang="ru-RU" sz="1088" smtClean="0">
                <a:solidFill>
                  <a:schemeClr val="tx2"/>
                </a:solidFill>
                <a:latin typeface="+mn-lt"/>
              </a:rPr>
              <a:t>‹#›</a:t>
            </a:fld>
            <a:endParaRPr lang="en-US" sz="1088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361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">
          <p15:clr>
            <a:srgbClr val="FBAE40"/>
          </p15:clr>
        </p15:guide>
        <p15:guide id="2" pos="272">
          <p15:clr>
            <a:srgbClr val="FBAE40"/>
          </p15:clr>
        </p15:guide>
        <p15:guide id="3" pos="5488">
          <p15:clr>
            <a:srgbClr val="FBAE40"/>
          </p15:clr>
        </p15:guide>
        <p15:guide id="4" pos="136">
          <p15:clr>
            <a:srgbClr val="FBAE40"/>
          </p15:clr>
        </p15:guide>
        <p15:guide id="5" pos="5624">
          <p15:clr>
            <a:srgbClr val="FBAE40"/>
          </p15:clr>
        </p15:guide>
        <p15:guide id="7" orient="horz" pos="311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7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726886" rtl="0" eaLnBrk="1" latinLnBrk="0" hangingPunct="1">
        <a:lnSpc>
          <a:spcPct val="90000"/>
        </a:lnSpc>
        <a:spcBef>
          <a:spcPct val="0"/>
        </a:spcBef>
        <a:buNone/>
        <a:defRPr sz="34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1722" indent="-181722" algn="l" defTabSz="726886" rtl="0" eaLnBrk="1" latinLnBrk="0" hangingPunct="1">
        <a:lnSpc>
          <a:spcPct val="90000"/>
        </a:lnSpc>
        <a:spcBef>
          <a:spcPts val="795"/>
        </a:spcBef>
        <a:buFont typeface="Arial" panose="020B0604020202020204" pitchFamily="34" charset="0"/>
        <a:buChar char="•"/>
        <a:defRPr sz="2227" kern="1200">
          <a:solidFill>
            <a:schemeClr val="tx1"/>
          </a:solidFill>
          <a:latin typeface="+mn-lt"/>
          <a:ea typeface="+mn-ea"/>
          <a:cs typeface="+mn-cs"/>
        </a:defRPr>
      </a:lvl1pPr>
      <a:lvl2pPr marL="54516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908" kern="1200">
          <a:solidFill>
            <a:schemeClr val="tx1"/>
          </a:solidFill>
          <a:latin typeface="+mn-lt"/>
          <a:ea typeface="+mn-ea"/>
          <a:cs typeface="+mn-cs"/>
        </a:defRPr>
      </a:lvl2pPr>
      <a:lvl3pPr marL="90860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589" kern="1200">
          <a:solidFill>
            <a:schemeClr val="tx1"/>
          </a:solidFill>
          <a:latin typeface="+mn-lt"/>
          <a:ea typeface="+mn-ea"/>
          <a:cs typeface="+mn-cs"/>
        </a:defRPr>
      </a:lvl3pPr>
      <a:lvl4pPr marL="127205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63549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99893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36238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725824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308926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1pPr>
      <a:lvl2pPr marL="36344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2pPr>
      <a:lvl3pPr marL="72688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3pPr>
      <a:lvl4pPr marL="109033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45377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81721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180659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54410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290754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EAD9-1103-01BE-0374-74E9413D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1339D3F8-B2C3-3099-FDF8-24F64A636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Ресурсы программы Цифровой двойник</a:t>
            </a:r>
          </a:p>
        </p:txBody>
      </p:sp>
      <p:sp>
        <p:nvSpPr>
          <p:cNvPr id="106" name="Таблица: подложка">
            <a:extLst>
              <a:ext uri="{FF2B5EF4-FFF2-40B4-BE49-F238E27FC236}">
                <a16:creationId xmlns:a16="http://schemas.microsoft.com/office/drawing/2014/main" id="{7B7A478F-545C-5523-575D-EDF2FBAA26B7}"/>
              </a:ext>
            </a:extLst>
          </p:cNvPr>
          <p:cNvSpPr/>
          <p:nvPr/>
        </p:nvSpPr>
        <p:spPr bwMode="auto">
          <a:xfrm>
            <a:off x="457200" y="3163824"/>
            <a:ext cx="11277570" cy="3264408"/>
          </a:xfrm>
          <a:prstGeom prst="roundRect">
            <a:avLst>
              <a:gd name="adj" fmla="val 2600"/>
            </a:avLst>
          </a:prstGeom>
          <a:solidFill>
            <a:schemeClr val="bg1"/>
          </a:solidFill>
          <a:ln w="9525">
            <a:solidFill>
              <a:srgbClr val="DCE5E9"/>
            </a:solidFill>
          </a:ln>
          <a:effectLst>
            <a:outerShdw blurRad="63500" dist="12700" dir="5400000" algn="t" rotWithShape="0">
              <a:srgbClr val="262F36">
                <a:alpha val="9000"/>
              </a:srgbClr>
            </a:outerShdw>
          </a:effectLst>
        </p:spPr>
        <p:txBody>
          <a:bodyPr wrap="square" lIns="240000" tIns="24000" bIns="0" anchor="ctr">
            <a:noAutofit/>
          </a:bodyPr>
          <a:lstStyle/>
          <a:p>
            <a:pPr defTabSz="477183">
              <a:lnSpc>
                <a:spcPct val="90000"/>
              </a:lnSpc>
              <a:defRPr/>
            </a:pPr>
            <a:endParaRPr lang="ru-RU" sz="1867" b="1" dirty="0">
              <a:solidFill>
                <a:srgbClr val="32ACA8"/>
              </a:solidFill>
              <a:latin typeface="+mj-lt"/>
              <a:cs typeface="SB Sans Display"/>
            </a:endParaRPr>
          </a:p>
        </p:txBody>
      </p:sp>
      <p:graphicFrame>
        <p:nvGraphicFramePr>
          <p:cNvPr id="99" name="Таблица: компоненты ЦД">
            <a:extLst>
              <a:ext uri="{FF2B5EF4-FFF2-40B4-BE49-F238E27FC236}">
                <a16:creationId xmlns:a16="http://schemas.microsoft.com/office/drawing/2014/main" id="{E999922B-A399-8391-B7D1-D67F818D8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044524"/>
              </p:ext>
            </p:extLst>
          </p:nvPr>
        </p:nvGraphicFramePr>
        <p:xfrm>
          <a:off x="516773" y="3209544"/>
          <a:ext cx="11158423" cy="3154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55534317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99459520"/>
                    </a:ext>
                  </a:extLst>
                </a:gridCol>
                <a:gridCol w="5751576">
                  <a:extLst>
                    <a:ext uri="{9D8B030D-6E8A-4147-A177-3AD203B41FA5}">
                      <a16:colId xmlns:a16="http://schemas.microsoft.com/office/drawing/2014/main" val="3417525183"/>
                    </a:ext>
                  </a:extLst>
                </a:gridCol>
                <a:gridCol w="651967">
                  <a:extLst>
                    <a:ext uri="{9D8B030D-6E8A-4147-A177-3AD203B41FA5}">
                      <a16:colId xmlns:a16="http://schemas.microsoft.com/office/drawing/2014/main" val="246217537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КОМПОНЕНТЫ ЦД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850" b="1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КОМАНДА</a:t>
                      </a:r>
                      <a:endParaRPr lang="ru-RU" sz="850" b="1" i="0" u="none" strike="noStrike" dirty="0">
                        <a:solidFill>
                          <a:srgbClr val="6B7785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НАПРАВЛЕНИЯ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ЦЕЛЬ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ПШЕ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412726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Агент ЦД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Создать агента ЦД , как единую точку доступа к профилю клиента (</a:t>
                      </a:r>
                      <a:r>
                        <a:rPr lang="en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core </a:t>
                      </a: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данные, витрины, память, проактивный профиль) для персонализированного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714454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Память и контекст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Горячий кэш, Память,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FS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, Клиентское окружение, оферта, проактивный профиль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Реализовать Память по клиентам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B2C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 учетом истории контекста из диалогов. Обеспечить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Governance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получаемых данных. Сформировать набор бенчмарков для оценки работы Памяти.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93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Foundation Model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Support, </a:t>
                      </a:r>
                      <a:r>
                        <a:rPr lang="en-US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AmazMe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моделей,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core FM, 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траекторий, инфра, сопровождение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</a:t>
                      </a: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Развить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как базовую модель для персонализированных сценариев и долгосрочного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97514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Мотивационный профиль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ЛНиПЧ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методологии определения мотивов на основе результатов экспериментов</a:t>
                      </a:r>
                    </a:p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Создать комплексную систему психологического профилирования клиентов для персонализации взаимодействия на основе мотивов и валидных </a:t>
                      </a:r>
                      <a:r>
                        <a:rPr lang="ru-RU" sz="900" b="0" i="0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психопараметров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490243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Поставка данных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CDO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данными ЦД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3634338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Процесс и правовая обвязка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DPO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правовой возможности безопасного использования ЦД во всех бизнес-сценариях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366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Бизнес-тестирование</a:t>
                      </a:r>
                      <a:b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SberCampaingning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Оперативный запуск пилотов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90743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ИТОГО: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1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ru-RU" sz="90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1</a:t>
                      </a:r>
                      <a:r>
                        <a:rPr lang="en-US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31</a:t>
                      </a:r>
                      <a:endParaRPr lang="ru-RU" sz="105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441873"/>
                  </a:ext>
                </a:extLst>
              </a:tr>
            </a:tbl>
          </a:graphicData>
        </a:graphic>
      </p:graphicFrame>
      <p:grpSp>
        <p:nvGrpSpPr>
          <p:cNvPr id="133" name="Summary"/>
          <p:cNvGrpSpPr/>
          <p:nvPr/>
        </p:nvGrpSpPr>
        <p:grpSpPr>
          <a:xfrm>
            <a:off x="457200" y="841248"/>
            <a:ext cx="8397210" cy="420624"/>
            <a:chOff x="457200" y="841248"/>
            <a:chExt cx="8397210" cy="420624"/>
          </a:xfrm>
        </p:grpSpPr>
        <p:sp>
          <p:nvSpPr>
            <p:cNvPr id="3" name="Summary: фон">
              <a:extLst>
                <a:ext uri="{FF2B5EF4-FFF2-40B4-BE49-F238E27FC236}">
                  <a16:creationId xmlns:a16="http://schemas.microsoft.com/office/drawing/2014/main" id="{712B87A3-5F1A-467A-9518-468CD7552B91}"/>
                </a:ext>
              </a:extLst>
            </p:cNvPr>
            <p:cNvSpPr/>
            <p:nvPr/>
          </p:nvSpPr>
          <p:spPr bwMode="auto">
            <a:xfrm>
              <a:off x="457200" y="841248"/>
              <a:ext cx="8397210" cy="420624"/>
            </a:xfrm>
            <a:prstGeom prst="roundRect">
              <a:avLst>
                <a:gd name="adj" fmla="val 220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wrap="square" lIns="240000" tIns="24000" bIns="0" anchor="ctr">
              <a:noAutofit/>
            </a:bodyPr>
            <a:lstStyle/>
            <a:p>
              <a:pPr defTabSz="477183">
                <a:lnSpc>
                  <a:spcPct val="90000"/>
                </a:lnSpc>
                <a:defRPr/>
              </a:pPr>
              <a:endParaRPr lang="ru-RU" sz="1867" b="1" dirty="0">
                <a:solidFill>
                  <a:srgbClr val="32ACA8"/>
                </a:solidFill>
                <a:latin typeface="+mj-lt"/>
                <a:cs typeface="SB Sans Display"/>
              </a:endParaRPr>
            </a:p>
          </p:txBody>
        </p:sp>
        <p:sp>
          <p:nvSpPr>
            <p:cNvPr id="12" name="Summary: подпись">
              <a:extLst>
                <a:ext uri="{FF2B5EF4-FFF2-40B4-BE49-F238E27FC236}">
                  <a16:creationId xmlns:a16="http://schemas.microsoft.com/office/drawing/2014/main" id="{7682BF1D-0994-6124-B121-F51CE1361E41}"/>
                </a:ext>
              </a:extLst>
            </p:cNvPr>
            <p:cNvSpPr/>
            <p:nvPr/>
          </p:nvSpPr>
          <p:spPr>
            <a:xfrm>
              <a:off x="621792" y="841248"/>
              <a:ext cx="91440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r>
                <a:rPr lang="en-US" sz="1200" b="1" dirty="0" i="0">
                  <a:solidFill>
                    <a:schemeClr val="accent6"/>
                  </a:solidFill>
                </a:rPr>
                <a:t>Summary</a:t>
              </a:r>
              <a:endParaRPr lang="ru-RU" sz="1200" b="1" dirty="0" i="0">
                <a:solidFill>
                  <a:schemeClr val="accent6"/>
                </a:solidFill>
              </a:endParaRPr>
            </a:p>
          </p:txBody>
        </p:sp>
        <p:cxnSp>
          <p:nvCxnSpPr>
            <p:cNvPr id="27" name="Summary: разделитель">
              <a:extLst>
                <a:ext uri="{FF2B5EF4-FFF2-40B4-BE49-F238E27FC236}">
                  <a16:creationId xmlns:a16="http://schemas.microsoft.com/office/drawing/2014/main" id="{64E607FC-9671-9FBD-42ED-2F7285FAA286}"/>
                </a:ext>
              </a:extLst>
            </p:cNvPr>
            <p:cNvCxnSpPr>
              <a:cxnSpLocks/>
            </p:cNvCxnSpPr>
            <p:nvPr/>
          </p:nvCxnSpPr>
          <p:spPr>
            <a:xfrm>
              <a:off x="1627632" y="950976"/>
              <a:ext cx="0" cy="201168"/>
            </a:xfrm>
            <a:prstGeom prst="line">
              <a:avLst/>
            </a:prstGeom>
            <a:ln w="9525" cap="rnd">
              <a:gradFill flip="none" rotWithShape="1">
                <a:gsLst>
                  <a:gs pos="1000">
                    <a:srgbClr val="095C52">
                      <a:alpha val="0"/>
                    </a:srgbClr>
                  </a:gs>
                  <a:gs pos="14000">
                    <a:srgbClr val="095C52"/>
                  </a:gs>
                  <a:gs pos="97000">
                    <a:srgbClr val="3FAD9B">
                      <a:alpha val="0"/>
                    </a:srgbClr>
                  </a:gs>
                  <a:gs pos="84000">
                    <a:srgbClr val="3FAD9B"/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Summary: поле для текста">
              <a:extLst>
                <a:ext uri="{FF2B5EF4-FFF2-40B4-BE49-F238E27FC236}">
                  <a16:creationId xmlns:a16="http://schemas.microsoft.com/office/drawing/2014/main" id="{0B814F4B-31D1-168B-3990-28769AD28EBE}"/>
                </a:ext>
              </a:extLst>
            </p:cNvPr>
            <p:cNvSpPr/>
            <p:nvPr/>
          </p:nvSpPr>
          <p:spPr>
            <a:xfrm>
              <a:off x="1755648" y="841248"/>
              <a:ext cx="6961602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endParaRPr lang="ru-RU" sz="1200" b="1" dirty="0" i="0">
                <a:solidFill>
                  <a:schemeClr val="tx1"/>
                </a:solidFill>
              </a:endParaRPr>
            </a:p>
          </p:txBody>
        </p:sp>
      </p:grpSp>
      <p:sp>
        <p:nvSpPr>
          <p:cNvPr id="4" name="Метка: Приложение">
            <a:extLst>
              <a:ext uri="{FF2B5EF4-FFF2-40B4-BE49-F238E27FC236}">
                <a16:creationId xmlns:a16="http://schemas.microsoft.com/office/drawing/2014/main" id="{63F2F6C8-37F0-66C5-F1B1-21514F66B220}"/>
              </a:ext>
            </a:extLst>
          </p:cNvPr>
          <p:cNvSpPr/>
          <p:nvPr/>
        </p:nvSpPr>
        <p:spPr>
          <a:xfrm>
            <a:off x="10134570" y="301752"/>
            <a:ext cx="160020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6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0">
            <a:noAutofit/>
          </a:bodyPr>
          <a:lstStyle/>
          <a:p>
            <a:pPr algn="ctr" fontAlgn="base">
              <a:lnSpc>
                <a:spcPct val="95000"/>
              </a:lnSpc>
              <a:spcBef>
                <a:spcPct val="0"/>
              </a:spcBef>
              <a:spcAft>
                <a:spcPts val="800"/>
              </a:spcAft>
            </a:pPr>
            <a:r>
              <a:rPr lang="ru-RU" sz="1200" i="0" kern="0" spc="-67" dirty="0" b="1">
                <a:solidFill>
                  <a:schemeClr val="accent6"/>
                </a:solidFill>
              </a:rPr>
              <a:t>Приложение</a:t>
            </a:r>
          </a:p>
        </p:txBody>
      </p:sp>
      <p:grpSp>
        <p:nvGrpSpPr>
          <p:cNvPr id="134" name="KPI: Всего на программе"/>
          <p:cNvGrpSpPr/>
          <p:nvPr/>
        </p:nvGrpSpPr>
        <p:grpSpPr>
          <a:xfrm>
            <a:off x="8991570" y="841248"/>
            <a:ext cx="2743200" cy="420624"/>
            <a:chOff x="8991570" y="841248"/>
            <a:chExt cx="2743200" cy="420624"/>
          </a:xfrm>
        </p:grpSpPr>
        <p:sp>
          <p:nvSpPr>
            <p:cNvPr id="124" name="Плашка: 131 ПШЕ"/>
            <p:cNvSpPr/>
            <p:nvPr/>
          </p:nvSpPr>
          <p:spPr>
            <a:xfrm>
              <a:off x="8991570" y="841248"/>
              <a:ext cx="2743200" cy="420624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KPI: значение">
              <a:extLst>
                <a:ext uri="{FF2B5EF4-FFF2-40B4-BE49-F238E27FC236}">
                  <a16:creationId xmlns:a16="http://schemas.microsoft.com/office/drawing/2014/main" id="{DE118B1B-291B-23A4-513C-FE2C8665AA2B}"/>
                </a:ext>
              </a:extLst>
            </p:cNvPr>
            <p:cNvSpPr/>
            <p:nvPr/>
          </p:nvSpPr>
          <p:spPr>
            <a:xfrm>
              <a:off x="9156162" y="841248"/>
              <a:ext cx="109728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>
                <a:defRPr/>
              </a:pPr>
              <a:r>
                <a:rPr lang="en-US" sz="2200" b="1" dirty="0" i="0">
                  <a:solidFill>
                    <a:schemeClr val="accent4"/>
                  </a:solidFill>
                </a:rPr>
                <a:t>131</a:t>
              </a:r>
              <a:r>
                <a:rPr lang="ru-RU" sz="2200" b="1" dirty="0" i="0">
                  <a:solidFill>
                    <a:schemeClr val="accent4"/>
                  </a:solidFill>
                </a:rPr>
                <a:t> </a:t>
              </a:r>
              <a:r>
                <a:rPr lang="en-US" sz="110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9" name="KPI: подпись">
              <a:extLst>
                <a:ext uri="{FF2B5EF4-FFF2-40B4-BE49-F238E27FC236}">
                  <a16:creationId xmlns:a16="http://schemas.microsoft.com/office/drawing/2014/main" id="{C0F5063F-5A67-4228-0732-09EEFCE61FA8}"/>
                </a:ext>
              </a:extLst>
            </p:cNvPr>
            <p:cNvSpPr/>
            <p:nvPr/>
          </p:nvSpPr>
          <p:spPr>
            <a:xfrm>
              <a:off x="10290018" y="841248"/>
              <a:ext cx="1371600" cy="420624"/>
            </a:xfrm>
            <a:prstGeom prst="rect">
              <a:avLst/>
            </a:prstGeom>
            <a:noFill/>
            <a:ln/>
          </p:spPr>
          <p:txBody>
            <a:bodyPr wrap="non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00" dirty="0" err="1" b="0" i="0">
                  <a:solidFill>
                    <a:srgbClr val="6B7785"/>
                  </a:solidFill>
                </a:rPr>
                <a:t>Всего</a:t>
              </a:r>
              <a:r>
                <a:rPr lang="en-US" sz="1000" dirty="0" b="0" i="0">
                  <a:solidFill>
                    <a:srgbClr val="6B7785"/>
                  </a:solidFill>
                </a:rPr>
                <a:t> </a:t>
              </a:r>
              <a:r>
                <a:rPr lang="ru-RU" sz="1000" dirty="0" b="0" i="0">
                  <a:solidFill>
                    <a:srgbClr val="6B7785"/>
                  </a:solidFill>
                </a:rPr>
                <a:t>на</a:t>
              </a:r>
              <a:r>
                <a:rPr lang="en-US" sz="1000" dirty="0" b="0" i="0">
                  <a:solidFill>
                    <a:srgbClr val="6B7785"/>
                  </a:solidFill>
                </a:rPr>
                <a:t> программе</a:t>
              </a:r>
              <a:endParaRPr lang="en-US" sz="1000" dirty="0" b="0" i="0">
                <a:solidFill>
                  <a:srgbClr val="6B7785"/>
                </a:solidFill>
              </a:endParaRPr>
            </a:p>
          </p:txBody>
        </p:sp>
      </p:grpSp>
      <p:grpSp>
        <p:nvGrpSpPr>
          <p:cNvPr id="135" name="График: Укомплектованность"/>
          <p:cNvGrpSpPr/>
          <p:nvPr/>
        </p:nvGrpSpPr>
        <p:grpSpPr>
          <a:xfrm>
            <a:off x="457200" y="1389888"/>
            <a:ext cx="2971800" cy="1645920"/>
            <a:chOff x="457200" y="1389888"/>
            <a:chExt cx="2971800" cy="1645920"/>
          </a:xfrm>
        </p:grpSpPr>
        <p:sp>
          <p:nvSpPr>
            <p:cNvPr id="125" name="Карточка: Укомплектованность"/>
            <p:cNvSpPr/>
            <p:nvPr/>
          </p:nvSpPr>
          <p:spPr>
            <a:xfrm>
              <a:off x="457200" y="1389888"/>
              <a:ext cx="297180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Заголовок: Укомплектованность">
              <a:extLst>
                <a:ext uri="{FF2B5EF4-FFF2-40B4-BE49-F238E27FC236}">
                  <a16:creationId xmlns:a16="http://schemas.microsoft.com/office/drawing/2014/main" id="{9876A19B-E7F5-CA68-F559-678A05E06188}"/>
                </a:ext>
              </a:extLst>
            </p:cNvPr>
            <p:cNvSpPr/>
            <p:nvPr/>
          </p:nvSpPr>
          <p:spPr>
            <a:xfrm>
              <a:off x="594360" y="1481328"/>
              <a:ext cx="269748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УКОМПЛЕКТОВАННОСТЬ ПРОГРАММЫ</a:t>
              </a:r>
              <a:endParaRPr lang="en-US" sz="1050" dirty="0" b="1" i="0">
                <a:solidFill>
                  <a:schemeClr val="tx1"/>
                </a:solidFill>
              </a:endParaRPr>
            </a:p>
          </p:txBody>
        </p:sp>
        <p:graphicFrame>
          <p:nvGraphicFramePr>
            <p:cNvPr id="11" name="График: Укомплектованность (кольцо)" descr="Кольцевая диаграмма: занято 117 ПШЕ, дефицит 14 ПШЕ">
              <a:extLst>
                <a:ext uri="{FF2B5EF4-FFF2-40B4-BE49-F238E27FC236}">
                  <a16:creationId xmlns:a16="http://schemas.microsoft.com/office/drawing/2014/main" id="{FA90B5A5-0E01-F817-EAA0-2B543F04DA1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97749300"/>
                </p:ext>
              </p:extLst>
            </p:nvPr>
          </p:nvGraphicFramePr>
          <p:xfrm>
            <a:off x="59436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3" name="Центр кольца: 89,3%">
              <a:extLst>
                <a:ext uri="{FF2B5EF4-FFF2-40B4-BE49-F238E27FC236}">
                  <a16:creationId xmlns:a16="http://schemas.microsoft.com/office/drawing/2014/main" id="{72CFB3D4-E6DA-5620-F73E-63E447AAF573}"/>
                </a:ext>
              </a:extLst>
            </p:cNvPr>
            <p:cNvSpPr/>
            <p:nvPr/>
          </p:nvSpPr>
          <p:spPr>
            <a:xfrm>
              <a:off x="72237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89,3</a:t>
              </a:r>
              <a:r>
                <a:rPr lang="en-US" sz="900" b="1" dirty="0" i="0">
                  <a:solidFill>
                    <a:schemeClr val="accent4"/>
                  </a:solidFill>
                </a:rPr>
                <a:t>%</a:t>
              </a:r>
              <a:endParaRPr lang="en-US" sz="1400" b="1" dirty="0" i="0">
                <a:solidFill>
                  <a:schemeClr val="accent4"/>
                </a:solidFill>
              </a:endParaRPr>
            </a:p>
          </p:txBody>
        </p:sp>
        <p:sp>
          <p:nvSpPr>
            <p:cNvPr id="15" name="Легенда: Укомплектованность">
              <a:extLst>
                <a:ext uri="{FF2B5EF4-FFF2-40B4-BE49-F238E27FC236}">
                  <a16:creationId xmlns:a16="http://schemas.microsoft.com/office/drawing/2014/main" id="{F632EFDA-ADD2-548B-5787-F6DDA0A7A5DA}"/>
                </a:ext>
              </a:extLst>
            </p:cNvPr>
            <p:cNvSpPr/>
            <p:nvPr/>
          </p:nvSpPr>
          <p:spPr>
            <a:xfrm>
              <a:off x="1874520" y="1810512"/>
              <a:ext cx="1463040" cy="109728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117 ПШЕ </a:t>
              </a:r>
              <a:r>
                <a:rPr lang="en-US" sz="1000" dirty="0" i="0">
                  <a:solidFill>
                    <a:schemeClr val="tx1"/>
                  </a:solidFill>
                </a:rPr>
                <a:t>занято</a:t>
              </a:r>
              <a:endParaRPr lang="en-US" sz="1000" dirty="0" i="0">
                <a:solidFill>
                  <a:schemeClr val="tx1"/>
                </a:solidFill>
              </a:endParaRPr>
            </a:p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rgbClr val="E23B2E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14 ПШЕ </a:t>
              </a:r>
              <a:r>
                <a:rPr lang="en-US" sz="1000" dirty="0" err="1" i="0">
                  <a:solidFill>
                    <a:schemeClr val="tx1"/>
                  </a:solidFill>
                </a:rPr>
                <a:t>в</a:t>
              </a:r>
              <a:r>
                <a:rPr lang="en-US" sz="1000" dirty="0" i="0">
                  <a:solidFill>
                    <a:schemeClr val="tx1"/>
                  </a:solidFill>
                </a:rPr>
                <a:t> </a:t>
              </a:r>
              <a:r>
                <a:rPr lang="ru-RU" sz="1000" dirty="0" i="0">
                  <a:solidFill>
                    <a:schemeClr val="tx1"/>
                  </a:solidFill>
                </a:rPr>
                <a:t>подборе</a:t>
              </a:r>
              <a:endParaRPr lang="en-US" sz="1000" dirty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График: Структура компетенций"/>
          <p:cNvGrpSpPr/>
          <p:nvPr/>
        </p:nvGrpSpPr>
        <p:grpSpPr>
          <a:xfrm>
            <a:off x="3566160" y="1389888"/>
            <a:ext cx="3337560" cy="1645920"/>
            <a:chOff x="3566160" y="1389888"/>
            <a:chExt cx="3337560" cy="1645920"/>
          </a:xfrm>
        </p:grpSpPr>
        <p:sp>
          <p:nvSpPr>
            <p:cNvPr id="126" name="Карточка: Структура компетенций"/>
            <p:cNvSpPr/>
            <p:nvPr/>
          </p:nvSpPr>
          <p:spPr>
            <a:xfrm>
              <a:off x="3566160" y="1389888"/>
              <a:ext cx="333756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Заголовок: Структура компетенций">
              <a:extLst>
                <a:ext uri="{FF2B5EF4-FFF2-40B4-BE49-F238E27FC236}">
                  <a16:creationId xmlns:a16="http://schemas.microsoft.com/office/drawing/2014/main" id="{69D60A6E-DCD4-417F-DD79-96BA06E8FB81}"/>
                </a:ext>
              </a:extLst>
            </p:cNvPr>
            <p:cNvSpPr/>
            <p:nvPr/>
          </p:nvSpPr>
          <p:spPr>
            <a:xfrm>
              <a:off x="3703320" y="1481328"/>
              <a:ext cx="306324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СТРУКТУРА КОМПЕТЕНЦИЙ (ПШЕ)</a:t>
              </a:r>
            </a:p>
          </p:txBody>
        </p:sp>
        <p:graphicFrame>
          <p:nvGraphicFramePr>
            <p:cNvPr id="16" name="График: Структура компетенций (кольцо)" descr="Кольцевая диаграмма: структура компетенций по направлениям, ПШЕ">
              <a:extLst>
                <a:ext uri="{FF2B5EF4-FFF2-40B4-BE49-F238E27FC236}">
                  <a16:creationId xmlns:a16="http://schemas.microsoft.com/office/drawing/2014/main" id="{176A0D9F-A88D-6A3F-3001-77B5EE47838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48254302"/>
                </p:ext>
              </p:extLst>
            </p:nvPr>
          </p:nvGraphicFramePr>
          <p:xfrm>
            <a:off x="370332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2" name="Центр кольца: 131 ПШЕ">
              <a:extLst>
                <a:ext uri="{FF2B5EF4-FFF2-40B4-BE49-F238E27FC236}">
                  <a16:creationId xmlns:a16="http://schemas.microsoft.com/office/drawing/2014/main" id="{79ED5D29-49CC-1880-E0A4-DFB3839B4BAF}"/>
                </a:ext>
              </a:extLst>
            </p:cNvPr>
            <p:cNvSpPr/>
            <p:nvPr/>
          </p:nvSpPr>
          <p:spPr>
            <a:xfrm>
              <a:off x="383133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131</a:t>
              </a:r>
              <a:br>
                <a:rPr lang="ru-RU" sz="1400" b="1" dirty="0" i="0">
                  <a:solidFill>
                    <a:schemeClr val="accent4"/>
                  </a:solidFill>
                </a:rPr>
              </a:br>
              <a:r>
                <a:rPr lang="en-US" sz="85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18" name="Легенда: Структура компетенций">
              <a:extLst>
                <a:ext uri="{FF2B5EF4-FFF2-40B4-BE49-F238E27FC236}">
                  <a16:creationId xmlns:a16="http://schemas.microsoft.com/office/drawing/2014/main" id="{B028CEBB-3A42-EE35-01E8-F57B638A63E1}"/>
                </a:ext>
              </a:extLst>
            </p:cNvPr>
            <p:cNvSpPr/>
            <p:nvPr/>
          </p:nvSpPr>
          <p:spPr>
            <a:xfrm>
              <a:off x="4937760" y="1755648"/>
              <a:ext cx="1911096" cy="1207008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6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Data Science	71</a:t>
              </a:r>
              <a:r>
                <a:rPr lang="en-US" sz="1000" dirty="0" b="0" i="0">
                  <a:solidFill>
                    <a:srgbClr val="6B7785"/>
                  </a:solidFill>
                </a:rPr>
                <a:t> (55%)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5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Аналитика	27</a:t>
              </a:r>
              <a:r>
                <a:rPr lang="en-US" sz="1000" dirty="0" b="0" i="0">
                  <a:solidFill>
                    <a:srgbClr val="6B7785"/>
                  </a:solidFill>
                </a:rPr>
                <a:t> (21%)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dirty="0" err="1" b="0" i="0">
                  <a:solidFill>
                    <a:schemeClr val="tx1"/>
                  </a:solidFill>
                </a:rPr>
                <a:t>Управление</a:t>
              </a:r>
              <a:r>
                <a:rPr lang="en-US" sz="1000" dirty="0" b="0" i="0">
                  <a:solidFill>
                    <a:schemeClr val="tx1"/>
                  </a:solidFill>
                </a:rPr>
                <a:t>	</a:t>
              </a:r>
              <a:r>
                <a:rPr lang="ru-RU" sz="1000" dirty="0" b="0" i="0">
                  <a:solidFill>
                    <a:schemeClr val="tx1"/>
                  </a:solidFill>
                </a:rPr>
                <a:t>9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A7C74A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Разработка	11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F5A623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Методология, CX	6</a:t>
              </a:r>
              <a:r>
                <a:rPr lang="en-US" sz="1000" dirty="0" b="0" i="0">
                  <a:solidFill>
                    <a:srgbClr val="6B7785"/>
                  </a:solidFill>
                </a:rPr>
                <a:t> (5%)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8E6FC9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Support	3</a:t>
              </a:r>
              <a:r>
                <a:rPr lang="en-US" sz="1000" dirty="0" b="0" i="0">
                  <a:solidFill>
                    <a:srgbClr val="6B7785"/>
                  </a:solidFill>
                </a:rPr>
                <a:t> (2%)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2C3E6B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QA	2</a:t>
              </a:r>
              <a:r>
                <a:rPr lang="en-US" sz="1000" dirty="0" b="0" i="0">
                  <a:solidFill>
                    <a:srgbClr val="6B7785"/>
                  </a:solidFill>
                </a:rPr>
                <a:t> (1%)</a:t>
              </a:r>
              <a:endParaRPr lang="en-US" sz="1000" dirty="0" b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7" name="График: Обеспеченность компонентов"/>
          <p:cNvGrpSpPr/>
          <p:nvPr/>
        </p:nvGrpSpPr>
        <p:grpSpPr>
          <a:xfrm>
            <a:off x="7040880" y="1389888"/>
            <a:ext cx="4693890" cy="1645920"/>
            <a:chOff x="7040880" y="1389888"/>
            <a:chExt cx="4693890" cy="1645920"/>
          </a:xfrm>
        </p:grpSpPr>
        <p:sp>
          <p:nvSpPr>
            <p:cNvPr id="127" name="Карточка: Обеспеченность компонентов"/>
            <p:cNvSpPr/>
            <p:nvPr/>
          </p:nvSpPr>
          <p:spPr>
            <a:xfrm>
              <a:off x="7040880" y="1389888"/>
              <a:ext cx="469389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Заголовок: Обеспеченность компонентов">
              <a:extLst>
                <a:ext uri="{FF2B5EF4-FFF2-40B4-BE49-F238E27FC236}">
                  <a16:creationId xmlns:a16="http://schemas.microsoft.com/office/drawing/2014/main" id="{751BD7B4-D722-DCC2-54C2-77F06F85089D}"/>
                </a:ext>
              </a:extLst>
            </p:cNvPr>
            <p:cNvSpPr/>
            <p:nvPr/>
          </p:nvSpPr>
          <p:spPr>
            <a:xfrm>
              <a:off x="7178040" y="1481328"/>
              <a:ext cx="441957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ОБЕСПЕЧЕННОСТЬ КОМПОНЕНТОВ</a:t>
              </a:r>
            </a:p>
          </p:txBody>
        </p:sp>
        <p:graphicFrame>
          <p:nvGraphicFramePr>
            <p:cNvPr id="39" name="График: Обеспеченность компонентов (столбцы)" descr="Столбчатая диаграмма: факт и план по компонентам, ПШЕ">
              <a:extLst>
                <a:ext uri="{FF2B5EF4-FFF2-40B4-BE49-F238E27FC236}">
                  <a16:creationId xmlns:a16="http://schemas.microsoft.com/office/drawing/2014/main" id="{A474DDE8-235F-972D-3CAA-3B55BAF582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60110523"/>
                </p:ext>
              </p:extLst>
            </p:nvPr>
          </p:nvGraphicFramePr>
          <p:xfrm>
            <a:off x="7114032" y="1792224"/>
            <a:ext cx="3304002" cy="1152144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  <p:sp>
          <p:nvSpPr>
            <p:cNvPr id="128" name="Числа: факт"/>
            <p:cNvSpPr txBox="1"/>
            <p:nvPr/>
          </p:nvSpPr>
          <p:spPr>
            <a:xfrm>
              <a:off x="10436322" y="1792224"/>
              <a:ext cx="237744" cy="1152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3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7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34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16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29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20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3"/>
                  </a:solidFill>
                </a:rPr>
                <a:t>9</a:t>
              </a:r>
            </a:p>
          </p:txBody>
        </p:sp>
        <p:sp>
          <p:nvSpPr>
            <p:cNvPr id="129" name="Числа: разделитель 1"/>
            <p:cNvSpPr txBox="1"/>
            <p:nvPr/>
          </p:nvSpPr>
          <p:spPr>
            <a:xfrm>
              <a:off x="10701498" y="1792224"/>
              <a:ext cx="82296" cy="1152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</p:txBody>
        </p:sp>
        <p:sp>
          <p:nvSpPr>
            <p:cNvPr id="130" name="Числа: план (итого)"/>
            <p:cNvSpPr txBox="1"/>
            <p:nvPr/>
          </p:nvSpPr>
          <p:spPr>
            <a:xfrm>
              <a:off x="10811226" y="1792224"/>
              <a:ext cx="237744" cy="1152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3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8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37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20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31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21</a:t>
              </a:r>
            </a:p>
            <a:p>
              <a:pPr marL="0" indent="0" algn="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7B8794"/>
                  </a:solidFill>
                </a:rPr>
                <a:t>11</a:t>
              </a:r>
            </a:p>
          </p:txBody>
        </p:sp>
        <p:sp>
          <p:nvSpPr>
            <p:cNvPr id="131" name="Числа: разделитель 2"/>
            <p:cNvSpPr txBox="1"/>
            <p:nvPr/>
          </p:nvSpPr>
          <p:spPr>
            <a:xfrm>
              <a:off x="11076402" y="1792224"/>
              <a:ext cx="82296" cy="1152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  <a:p>
              <a:pPr marL="0" indent="0" algn="ctr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b="0" dirty="0">
                  <a:solidFill>
                    <a:srgbClr val="C5D2D8"/>
                  </a:solidFill>
                </a:rPr>
                <a:t>|</a:t>
              </a:r>
            </a:p>
          </p:txBody>
        </p:sp>
        <p:sp>
          <p:nvSpPr>
            <p:cNvPr id="132" name="Числа: % обеспеченности"/>
            <p:cNvSpPr txBox="1"/>
            <p:nvPr/>
          </p:nvSpPr>
          <p:spPr>
            <a:xfrm>
              <a:off x="11186130" y="1792224"/>
              <a:ext cx="502920" cy="1152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4"/>
                  </a:solidFill>
                </a:rPr>
                <a:t>100</a:t>
              </a:r>
              <a:r>
                <a:rPr lang="ru-RU" sz="800" b="1" dirty="0">
                  <a:solidFill>
                    <a:schemeClr val="accent4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B76E00"/>
                  </a:solidFill>
                </a:rPr>
                <a:t>87,5</a:t>
              </a:r>
              <a:r>
                <a:rPr lang="ru-RU" sz="800" b="1" dirty="0">
                  <a:solidFill>
                    <a:srgbClr val="B76E00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4"/>
                  </a:solidFill>
                </a:rPr>
                <a:t>91,9</a:t>
              </a:r>
              <a:r>
                <a:rPr lang="ru-RU" sz="800" b="1" dirty="0">
                  <a:solidFill>
                    <a:schemeClr val="accent4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B76E00"/>
                  </a:solidFill>
                </a:rPr>
                <a:t>80</a:t>
              </a:r>
              <a:r>
                <a:rPr lang="ru-RU" sz="800" b="1" dirty="0">
                  <a:solidFill>
                    <a:srgbClr val="B76E00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4"/>
                  </a:solidFill>
                </a:rPr>
                <a:t>93,5</a:t>
              </a:r>
              <a:r>
                <a:rPr lang="ru-RU" sz="800" b="1" dirty="0">
                  <a:solidFill>
                    <a:schemeClr val="accent4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chemeClr val="accent4"/>
                  </a:solidFill>
                </a:rPr>
                <a:t>95,2</a:t>
              </a:r>
              <a:r>
                <a:rPr lang="ru-RU" sz="800" b="1" dirty="0">
                  <a:solidFill>
                    <a:schemeClr val="accent4"/>
                  </a:solidFill>
                </a:rPr>
                <a:t>%</a:t>
              </a:r>
            </a:p>
            <a:p>
              <a:pPr marL="0" indent="0" algn="l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50" b="1" dirty="0">
                  <a:solidFill>
                    <a:srgbClr val="B76E00"/>
                  </a:solidFill>
                </a:rPr>
                <a:t>82</a:t>
              </a:r>
              <a:r>
                <a:rPr lang="ru-RU" sz="800" b="1" dirty="0">
                  <a:solidFill>
                    <a:srgbClr val="B76E00"/>
                  </a:solidFill>
                </a:rPr>
                <a:t>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9523264"/>
      </p:ext>
    </p:extLst>
  </p:cSld>
  <p:clrMapOvr>
    <a:masterClrMapping/>
  </p:clrMapOvr>
</p:sld>
</file>

<file path=ppt/theme/theme1.xml><?xml version="1.0" encoding="utf-8"?>
<a:theme xmlns:a="http://schemas.openxmlformats.org/drawingml/2006/main" name="Специальное оформление">
  <a:themeElements>
    <a:clrScheme name="PMO 26">
      <a:dk1>
        <a:srgbClr val="262F36"/>
      </a:dk1>
      <a:lt1>
        <a:srgbClr val="FFFFFF"/>
      </a:lt1>
      <a:dk2>
        <a:srgbClr val="000000"/>
      </a:dk2>
      <a:lt2>
        <a:srgbClr val="F8FBFC"/>
      </a:lt2>
      <a:accent1>
        <a:srgbClr val="4FFE01"/>
      </a:accent1>
      <a:accent2>
        <a:srgbClr val="28D180"/>
      </a:accent2>
      <a:accent3>
        <a:srgbClr val="3FAD9B"/>
      </a:accent3>
      <a:accent4>
        <a:srgbClr val="0F9C58"/>
      </a:accent4>
      <a:accent5>
        <a:srgbClr val="15BAC0"/>
      </a:accent5>
      <a:accent6>
        <a:srgbClr val="008191"/>
      </a:accent6>
      <a:hlink>
        <a:srgbClr val="333F48"/>
      </a:hlink>
      <a:folHlink>
        <a:srgbClr val="333F48"/>
      </a:folHlink>
    </a:clrScheme>
    <a:fontScheme name="2gis">
      <a:majorFont>
        <a:latin typeface="SB Sans Display Semibold"/>
        <a:ea typeface=""/>
        <a:cs typeface=""/>
      </a:majorFont>
      <a:minorFont>
        <a:latin typeface="SB Sans Display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noFill/>
        </a:ln>
        <a:effectLst/>
      </a:spPr>
      <a:bodyPr wrap="square" lIns="0" tIns="0" rIns="0" bIns="0" rtlCol="0" anchor="ctr" anchorCtr="0">
        <a:spAutoFit/>
      </a:bodyPr>
      <a:lstStyle>
        <a:defPPr marL="0" marR="0" indent="0" algn="l" defTabSz="914400" rtl="0" eaLnBrk="1" fontAlgn="base" latinLnBrk="0" hangingPunct="1">
          <a:lnSpc>
            <a:spcPct val="95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sz="1600" kern="0" spc="-50" dirty="0" smtClean="0">
            <a:solidFill>
              <a:schemeClr val="tx1"/>
            </a:solidFill>
            <a:latin typeface="SB Sans Display" panose="020B0503040504020204" pitchFamily="34" charset="0"/>
            <a:cs typeface="SB Sans Display" panose="020B0503040504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  <a:lumOff val="50000"/>
              <a:alpha val="85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3178</TotalTime>
  <Words>369</Words>
  <Application>Microsoft Macintosh PowerPoint</Application>
  <PresentationFormat>Широкоэкранный</PresentationFormat>
  <Paragraphs>115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7" baseType="lpstr">
      <vt:lpstr>Aptos</vt:lpstr>
      <vt:lpstr>Arial</vt:lpstr>
      <vt:lpstr>SB Sans Display</vt:lpstr>
      <vt:lpstr>SB Sans Display Light</vt:lpstr>
      <vt:lpstr>SB Sans Display Semibold</vt:lpstr>
      <vt:lpstr>Специальное оформление</vt:lpstr>
      <vt:lpstr>Ресурсы программы Цифровой двойник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2</cp:revision>
  <dcterms:created xsi:type="dcterms:W3CDTF">2026-08-28T15:54:20Z</dcterms:created>
  <dcterms:modified xsi:type="dcterms:W3CDTF">2026-10-07T16:13:32Z</dcterms:modified>
</cp:coreProperties>
</file>