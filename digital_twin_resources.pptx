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3934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Укомплектованность</c:v>
                </c:pt>
              </c:strCache>
            </c:strRef>
          </c:tx>
          <c:dPt>
            <c:idx val="0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rgbClr val="E23B2E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noFill/>
              <a:ln>
                <a:noFill/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layout>
                <c:manualLayout>
                  <c:x val="0"/>
                  <c:y val="0.4375"/>
                </c:manualLayout>
              </c:layout>
              <c:tx>
                <c:rich>
                  <a:bodyPr wrap="none" lIns="0" tIns="0" rIns="0" bIns="0" anchor="ctr"/>
                  <a:lstStyle/>
                  <a:p>
                    <a:fld id="{51BB1ED7-14B8-4BFC-9360-5D2268B37F48}" type="CELLRANGE">
                      <a:rPr lang="ru-RU" sz="120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117 ПШЕ занято</c:v>
                </c:pt>
                <c:pt idx="1">
                  <c:v>14 ПШЕ в подборе</c:v>
                </c:pt>
                <c:pt idx="2">
                  <c:v>Служебная строка (подпись в центре)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14</c:v>
                </c:pt>
                <c:pt idx="2">
                  <c:v>0.00131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Sheet1!$C$2:$C$4</c15:f>
                <c15:dlblRangeCache>
                  <c:ptCount val="3"/>
                  <c:pt idx="2">
                    <c:v>89,3%</c:v>
                  </c:pt>
                </c15:dlblRangeCache>
              </c15:datalabelsRange>
            </c:ext>
          </c:extLst>
        </c:ser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egendEntry>
        <c:idx val="2"/>
        <c:delete val="1"/>
      </c:legendEntry>
      <c:layout>
        <c:manualLayout>
          <c:xMode val="edge"/>
          <c:yMode val="edge"/>
          <c:x val="0.4590"/>
          <c:y val="0.300"/>
          <c:w val="0.5310"/>
          <c:h val="0.400"/>
        </c:manualLayout>
      </c:layout>
      <c:overlay val="0"/>
      <c:spPr>
        <a:noFill/>
        <a:ln>
          <a:noFill/>
        </a:ln>
      </c:spPr>
      <c:txPr>
        <a:bodyPr/>
        <a:lstStyle/>
        <a:p>
          <a:pPr>
            <a:defRPr sz="1000" b="0">
              <a:solidFill>
                <a:schemeClr val="tx1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0.3478"/>
          <c:h val="1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</c:v>
                </c:pt>
              </c:strCache>
            </c:strRef>
          </c:tx>
          <c:dPt>
            <c:idx val="0"/>
            <c:bubble3D val="0"/>
            <c:spPr>
              <a:solidFill>
                <a:schemeClr val="accent6"/>
              </a:solidFill>
              <a:ln w="19050">
                <a:solidFill>
                  <a:schemeClr val="bg1"/>
                </a:solidFill>
              </a:ln>
            </c:spPr>
          </c:dPt>
          <c:dPt>
            <c:idx val="1"/>
            <c:bubble3D val="0"/>
            <c:spPr>
              <a:solidFill>
                <a:schemeClr val="accent5"/>
              </a:solidFill>
              <a:ln w="19050">
                <a:solidFill>
                  <a:schemeClr val="bg1"/>
                </a:solidFill>
              </a:ln>
            </c:spPr>
          </c:dPt>
          <c:dPt>
            <c:idx val="2"/>
            <c:bubble3D val="0"/>
            <c:spPr>
              <a:solidFill>
                <a:schemeClr val="accent4"/>
              </a:solidFill>
              <a:ln w="19050">
                <a:solidFill>
                  <a:schemeClr val="bg1"/>
                </a:solidFill>
              </a:ln>
            </c:spPr>
          </c:dPt>
          <c:dPt>
            <c:idx val="3"/>
            <c:bubble3D val="0"/>
            <c:spPr>
              <a:solidFill>
                <a:srgbClr val="A7C74A"/>
              </a:solidFill>
              <a:ln w="19050">
                <a:solidFill>
                  <a:schemeClr val="bg1"/>
                </a:solidFill>
              </a:ln>
            </c:spPr>
          </c:dPt>
          <c:dPt>
            <c:idx val="4"/>
            <c:bubble3D val="0"/>
            <c:spPr>
              <a:solidFill>
                <a:srgbClr val="F5A623"/>
              </a:solidFill>
              <a:ln w="19050">
                <a:solidFill>
                  <a:schemeClr val="bg1"/>
                </a:solidFill>
              </a:ln>
            </c:spPr>
          </c:dPt>
          <c:dPt>
            <c:idx val="5"/>
            <c:bubble3D val="0"/>
            <c:spPr>
              <a:solidFill>
                <a:srgbClr val="8E6FC9"/>
              </a:solidFill>
              <a:ln w="19050">
                <a:solidFill>
                  <a:schemeClr val="bg1"/>
                </a:solidFill>
              </a:ln>
            </c:spPr>
          </c:dPt>
          <c:dPt>
            <c:idx val="6"/>
            <c:bubble3D val="0"/>
            <c:spPr>
              <a:solidFill>
                <a:srgbClr val="2C3E6B"/>
              </a:solidFill>
              <a:ln w="19050">
                <a:solidFill>
                  <a:schemeClr val="bg1"/>
                </a:solidFill>
              </a:ln>
            </c:spPr>
          </c:dPt>
          <c:dPt>
            <c:idx val="7"/>
            <c:bubble3D val="0"/>
            <c:spPr>
              <a:noFill/>
              <a:ln>
                <a:noFill/>
              </a:ln>
            </c:spPr>
          </c:dPt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layout>
                <c:manualLayout>
                  <c:x val="0"/>
                  <c:y val="0.4375"/>
                </c:manualLayout>
              </c:layout>
              <c:tx>
                <c:rich>
                  <a:bodyPr wrap="none" lIns="0" tIns="0" rIns="0" bIns="0" anchor="ctr"/>
                  <a:lstStyle/>
                  <a:p>
                    <a:fld id="{E57686D2-17AB-4B70-8D85-78CA0FFE44FF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Sheet1!$C$2:$C$9</c:f>
              <c:strCache>
                <c:ptCount val="8"/>
                <c:pt idx="0">
                  <c:v>Data Science  71 (55%)</c:v>
                </c:pt>
                <c:pt idx="1">
                  <c:v>Аналитика  27 (21%)</c:v>
                </c:pt>
                <c:pt idx="2">
                  <c:v>Управление  9 (7%)</c:v>
                </c:pt>
                <c:pt idx="3">
                  <c:v>Разработка  11 (9%)</c:v>
                </c:pt>
                <c:pt idx="4">
                  <c:v>Методология, CX  6 (5%)</c:v>
                </c:pt>
                <c:pt idx="5">
                  <c:v>Support  3 (2%)</c:v>
                </c:pt>
                <c:pt idx="6">
                  <c:v>QA  2 (2%)</c:v>
                </c:pt>
                <c:pt idx="7">
                  <c:v>Служебная строка (подпись в центре)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71</c:v>
                </c:pt>
                <c:pt idx="1">
                  <c:v>27</c:v>
                </c:pt>
                <c:pt idx="2">
                  <c:v>9</c:v>
                </c:pt>
                <c:pt idx="3">
                  <c:v>11</c:v>
                </c:pt>
                <c:pt idx="4">
                  <c:v>6</c:v>
                </c:pt>
                <c:pt idx="5">
                  <c:v>3</c:v>
                </c:pt>
                <c:pt idx="6">
                  <c:v>2</c:v>
                </c:pt>
                <c:pt idx="7">
                  <c:v>0.00129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Sheet1!$D$2:$D$9</c15:f>
                <c15:dlblRangeCache>
                  <c:ptCount val="8"/>
                  <c:pt idx="7">
                    <c:v>131 ПШЕ</c:v>
                  </c:pt>
                </c15:dlblRangeCache>
              </c15:datalabelsRange>
            </c:ext>
          </c:extLst>
        </c:ser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legendEntry>
        <c:idx val="7"/>
        <c:delete val="1"/>
      </c:legendEntry>
      <c:layout>
        <c:manualLayout>
          <c:xMode val="edge"/>
          <c:yMode val="edge"/>
          <c:x val="0.4058"/>
          <c:y val="0.000"/>
          <c:w val="0.5842"/>
          <c:h val="1.000"/>
        </c:manualLayout>
      </c:layout>
      <c:overlay val="0"/>
      <c:spPr>
        <a:noFill/>
        <a:ln>
          <a:noFill/>
        </a:ln>
      </c:spPr>
      <c:txPr>
        <a:bodyPr/>
        <a:lstStyle/>
        <a:p>
          <a:pPr>
            <a:defRPr sz="1000" b="0">
              <a:solidFill>
                <a:schemeClr val="tx1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458"/>
          <c:y val="0"/>
          <c:w val="0.6442"/>
          <c:h val="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Лист1!$N$1</c:f>
              <c:strCache>
                <c:ptCount val="1"/>
                <c:pt idx="0">
                  <c:v>Факт, ПШЕ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</c:spPr>
          <c:invertIfNegative val="0"/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Лист1!$N$2:$N$8</c:f>
              <c:numCache>
                <c:formatCode>General</c:formatCode>
                <c:ptCount val="7"/>
                <c:pt idx="0">
                  <c:v>3</c:v>
                </c:pt>
                <c:pt idx="1">
                  <c:v>20</c:v>
                </c:pt>
                <c:pt idx="2">
                  <c:v>29</c:v>
                </c:pt>
                <c:pt idx="3">
                  <c:v>34</c:v>
                </c:pt>
                <c:pt idx="4">
                  <c:v>7</c:v>
                </c:pt>
                <c:pt idx="5">
                  <c:v>9</c:v>
                </c:pt>
                <c:pt idx="6">
                  <c:v>16</c:v>
                </c:pt>
              </c:numCache>
            </c:numRef>
          </c:val>
        </c:ser>
        <c:ser>
          <c:idx val="1"/>
          <c:order val="1"/>
          <c:tx>
            <c:strRef>
              <c:f>Лист1!$O$1</c:f>
              <c:strCache>
                <c:ptCount val="1"/>
                <c:pt idx="0">
                  <c:v>Остаток до плана, ПШЕ</c:v>
                </c:pt>
              </c:strCache>
            </c:strRef>
          </c:tx>
          <c:spPr>
            <a:solidFill>
              <a:schemeClr val="accent5">
                <a:alpha val="40000"/>
              </a:schemeClr>
            </a:solidFill>
            <a:ln w="9525">
              <a:solidFill>
                <a:schemeClr val="accent6"/>
              </a:solidFill>
              <a:prstDash val="dash"/>
            </a:ln>
          </c:spPr>
          <c:invertIfNegative val="0"/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Лист1!$O$2:$O$8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4</c:v>
                </c:pt>
              </c:numCache>
            </c:numRef>
          </c:val>
        </c:ser>
        <c:ser>
          <c:idx val="2"/>
          <c:order val="2"/>
          <c:tx>
            <c:strRef>
              <c:f>Лист1!$R$1</c:f>
              <c:strCache>
                <c:ptCount val="1"/>
                <c:pt idx="0">
                  <c:v>Отступ (служебный)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Лист1!$R$2:$R$8</c:f>
              <c:numCache>
                <c:formatCode>General</c:formatCode>
                <c:ptCount val="7"/>
                <c:pt idx="0">
                  <c:v>35.480000000000004</c:v>
                </c:pt>
                <c:pt idx="1">
                  <c:v>17.480000000000004</c:v>
                </c:pt>
                <c:pt idx="2">
                  <c:v>7.480000000000004</c:v>
                </c:pt>
                <c:pt idx="3">
                  <c:v>1.480000000000004</c:v>
                </c:pt>
                <c:pt idx="4">
                  <c:v>30.480000000000004</c:v>
                </c:pt>
                <c:pt idx="5">
                  <c:v>27.480000000000004</c:v>
                </c:pt>
                <c:pt idx="6">
                  <c:v>18.480000000000004</c:v>
                </c:pt>
              </c:numCache>
            </c:numRef>
          </c:val>
        </c:ser>
        <c:ser>
          <c:idx val="3"/>
          <c:order val="3"/>
          <c:tx>
            <c:strRef>
              <c:f>Лист1!$S$1</c:f>
              <c:strCache>
                <c:ptCount val="1"/>
                <c:pt idx="0">
                  <c:v>Ширина подписи 1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lIns="0" tIns="0" rIns="0" bIns="0" anchor="ctr"/>
                  <a:lstStyle/>
                  <a:p>
                    <a:fld id="{1B42A5B2-A3C5-4B97-A299-7282A0BC7F45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1"/>
              <c:tx>
                <c:rich>
                  <a:bodyPr wrap="none" lIns="0" tIns="0" rIns="0" bIns="0" anchor="ctr"/>
                  <a:lstStyle/>
                  <a:p>
                    <a:fld id="{543853D3-BD97-4AD1-BB99-A5429F47292C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2"/>
              <c:tx>
                <c:rich>
                  <a:bodyPr wrap="none" lIns="0" tIns="0" rIns="0" bIns="0" anchor="ctr"/>
                  <a:lstStyle/>
                  <a:p>
                    <a:fld id="{1FB6CB5F-6349-4CB2-A1C1-8FBBE7175E5E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3"/>
              <c:tx>
                <c:rich>
                  <a:bodyPr wrap="none" lIns="0" tIns="0" rIns="0" bIns="0" anchor="ctr"/>
                  <a:lstStyle/>
                  <a:p>
                    <a:fld id="{C985B3A8-7182-4C66-93D2-C7BAD2EAA9AA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4"/>
              <c:tx>
                <c:rich>
                  <a:bodyPr wrap="none" lIns="0" tIns="0" rIns="0" bIns="0" anchor="ctr"/>
                  <a:lstStyle/>
                  <a:p>
                    <a:fld id="{3E02252C-2F33-427A-AD85-42176D05F6F9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5"/>
              <c:tx>
                <c:rich>
                  <a:bodyPr wrap="none" lIns="0" tIns="0" rIns="0" bIns="0" anchor="ctr"/>
                  <a:lstStyle/>
                  <a:p>
                    <a:fld id="{C8235472-65CB-469D-94E4-1BC4DF2EAA44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6"/>
              <c:tx>
                <c:rich>
                  <a:bodyPr wrap="none" lIns="0" tIns="0" rIns="0" bIns="0" anchor="ctr"/>
                  <a:lstStyle/>
                  <a:p>
                    <a:fld id="{37D2D1EA-DFA3-488F-A2E9-EC6E95ECE65B}" type="CELLRANGE">
                      <a:rPr lang="ru-RU" sz="1050" b="1">
                        <a:solidFill>
                          <a:schemeClr val="accent3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txPr>
              <a:bodyPr wrap="none" lIns="0" tIns="0" rIns="0" bIns="0" anchor="ctr"/>
              <a:lstStyle/>
              <a:p>
                <a:pPr>
                  <a:defRPr sz="1050" b="1">
                    <a:solidFill>
                      <a:schemeClr val="accent3"/>
                    </a:solidFill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Лист1!$S$2:$S$8</c:f>
              <c:numCache>
                <c:formatCode>General</c:formatCode>
                <c:ptCount val="7"/>
                <c:pt idx="0">
                  <c:v>4.4399999999999995</c:v>
                </c:pt>
                <c:pt idx="1">
                  <c:v>4.4399999999999995</c:v>
                </c:pt>
                <c:pt idx="2">
                  <c:v>4.4399999999999995</c:v>
                </c:pt>
                <c:pt idx="3">
                  <c:v>4.4399999999999995</c:v>
                </c:pt>
                <c:pt idx="4">
                  <c:v>4.4399999999999995</c:v>
                </c:pt>
                <c:pt idx="5">
                  <c:v>4.4399999999999995</c:v>
                </c:pt>
                <c:pt idx="6">
                  <c:v>4.4399999999999995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Лист1!$T$2:$T$8</c15:f>
                <c15:dlblRangeCache>
                  <c:ptCount val="7"/>
                  <c:pt idx="0">
                    <c:v>3</c:v>
                  </c:pt>
                  <c:pt idx="1">
                    <c:v>20</c:v>
                  </c:pt>
                  <c:pt idx="2">
                    <c:v>29</c:v>
                  </c:pt>
                  <c:pt idx="3">
                    <c:v>34</c:v>
                  </c:pt>
                  <c:pt idx="4">
                    <c:v>7</c:v>
                  </c:pt>
                  <c:pt idx="5">
                    <c:v>9</c:v>
                  </c:pt>
                  <c:pt idx="6">
                    <c:v>16</c:v>
                  </c:pt>
                </c15:dlblRangeCache>
              </c15:datalabelsRange>
            </c:ext>
          </c:extLst>
        </c:ser>
        <c:ser>
          <c:idx val="4"/>
          <c:order val="4"/>
          <c:tx>
            <c:strRef>
              <c:f>Лист1!$U$1</c:f>
              <c:strCache>
                <c:ptCount val="1"/>
                <c:pt idx="0">
                  <c:v>Ширина подписи 2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lIns="0" tIns="0" rIns="0" bIns="0" anchor="ctr"/>
                  <a:lstStyle/>
                  <a:p>
                    <a:fld id="{9806E867-DC6B-4AA1-A15F-FB080E90FF3F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1"/>
              <c:tx>
                <c:rich>
                  <a:bodyPr wrap="none" lIns="0" tIns="0" rIns="0" bIns="0" anchor="ctr"/>
                  <a:lstStyle/>
                  <a:p>
                    <a:fld id="{246B0C11-6C91-414F-A41C-B40131D11843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2"/>
              <c:tx>
                <c:rich>
                  <a:bodyPr wrap="none" lIns="0" tIns="0" rIns="0" bIns="0" anchor="ctr"/>
                  <a:lstStyle/>
                  <a:p>
                    <a:fld id="{6354182C-5259-4229-8C8E-0AB5A2AB1619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3"/>
              <c:tx>
                <c:rich>
                  <a:bodyPr wrap="none" lIns="0" tIns="0" rIns="0" bIns="0" anchor="ctr"/>
                  <a:lstStyle/>
                  <a:p>
                    <a:fld id="{E7622934-B3A0-479E-A4E3-08BF3146FB40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4"/>
              <c:tx>
                <c:rich>
                  <a:bodyPr wrap="none" lIns="0" tIns="0" rIns="0" bIns="0" anchor="ctr"/>
                  <a:lstStyle/>
                  <a:p>
                    <a:fld id="{1EC2C86D-3004-4D21-86EB-F09A4FD3BA8E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5"/>
              <c:tx>
                <c:rich>
                  <a:bodyPr wrap="none" lIns="0" tIns="0" rIns="0" bIns="0" anchor="ctr"/>
                  <a:lstStyle/>
                  <a:p>
                    <a:fld id="{402B9B2C-FEC2-4609-8605-80DD1E81C4F1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6"/>
              <c:tx>
                <c:rich>
                  <a:bodyPr wrap="none" lIns="0" tIns="0" rIns="0" bIns="0" anchor="ctr"/>
                  <a:lstStyle/>
                  <a:p>
                    <a:fld id="{0AB607A4-BBE2-4854-A45F-4F2B4A87EB54}" type="CELLRANGE">
                      <a:rPr lang="ru-RU" sz="1050" b="1">
                        <a:solidFill>
                          <a:srgbClr val="7B879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txPr>
              <a:bodyPr wrap="none" lIns="0" tIns="0" rIns="0" bIns="0" anchor="ctr"/>
              <a:lstStyle/>
              <a:p>
                <a:pPr>
                  <a:defRPr sz="1050" b="1">
                    <a:solidFill>
                      <a:srgbClr val="7B8794"/>
                    </a:solidFill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Лист1!$U$2:$U$8</c:f>
              <c:numCache>
                <c:formatCode>General</c:formatCode>
                <c:ptCount val="7"/>
                <c:pt idx="0">
                  <c:v>6.66</c:v>
                </c:pt>
                <c:pt idx="1">
                  <c:v>6.66</c:v>
                </c:pt>
                <c:pt idx="2">
                  <c:v>6.66</c:v>
                </c:pt>
                <c:pt idx="3">
                  <c:v>6.66</c:v>
                </c:pt>
                <c:pt idx="4">
                  <c:v>6.66</c:v>
                </c:pt>
                <c:pt idx="5">
                  <c:v>6.66</c:v>
                </c:pt>
                <c:pt idx="6">
                  <c:v>6.66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Лист1!$V$2:$V$8</c15:f>
                <c15:dlblRangeCache>
                  <c:ptCount val="7"/>
                  <c:pt idx="0">
                    <c:v>| 3</c:v>
                  </c:pt>
                  <c:pt idx="1">
                    <c:v>| 21</c:v>
                  </c:pt>
                  <c:pt idx="2">
                    <c:v>| 31</c:v>
                  </c:pt>
                  <c:pt idx="3">
                    <c:v>| 37</c:v>
                  </c:pt>
                  <c:pt idx="4">
                    <c:v>| 8</c:v>
                  </c:pt>
                  <c:pt idx="5">
                    <c:v>| 11</c:v>
                  </c:pt>
                  <c:pt idx="6">
                    <c:v>| 20</c:v>
                  </c:pt>
                </c15:dlblRangeCache>
              </c15:datalabelsRange>
            </c:ext>
          </c:extLst>
        </c:ser>
        <c:ser>
          <c:idx val="5"/>
          <c:order val="5"/>
          <c:tx>
            <c:strRef>
              <c:f>Лист1!$W$1</c:f>
              <c:strCache>
                <c:ptCount val="1"/>
                <c:pt idx="0">
                  <c:v>Ширина подписи 3 (от 90%)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lIns="0" tIns="0" rIns="0" bIns="0" anchor="ctr"/>
                  <a:lstStyle/>
                  <a:p>
                    <a:fld id="{188F8680-45A1-497E-99DC-55FA2B275D20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1"/>
              <c:tx>
                <c:rich>
                  <a:bodyPr wrap="none" lIns="0" tIns="0" rIns="0" bIns="0" anchor="ctr"/>
                  <a:lstStyle/>
                  <a:p>
                    <a:fld id="{12AF55C1-6133-4E9C-946D-888BFF6AA3C5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2"/>
              <c:tx>
                <c:rich>
                  <a:bodyPr wrap="none" lIns="0" tIns="0" rIns="0" bIns="0" anchor="ctr"/>
                  <a:lstStyle/>
                  <a:p>
                    <a:fld id="{C54CCB43-3961-45D8-A2E9-633B66906B2B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3"/>
              <c:tx>
                <c:rich>
                  <a:bodyPr wrap="none" lIns="0" tIns="0" rIns="0" bIns="0" anchor="ctr"/>
                  <a:lstStyle/>
                  <a:p>
                    <a:fld id="{CD23A225-38D4-42EA-AF66-FE1C34E3079C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4"/>
              <c:tx>
                <c:rich>
                  <a:bodyPr wrap="none" lIns="0" tIns="0" rIns="0" bIns="0" anchor="ctr"/>
                  <a:lstStyle/>
                  <a:p>
                    <a:fld id="{E18F13CA-5A86-47AB-A0CC-902C2421432A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5"/>
              <c:tx>
                <c:rich>
                  <a:bodyPr wrap="none" lIns="0" tIns="0" rIns="0" bIns="0" anchor="ctr"/>
                  <a:lstStyle/>
                  <a:p>
                    <a:fld id="{8248C5B8-FAB5-485A-93A3-52526C0EE8BA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6"/>
              <c:tx>
                <c:rich>
                  <a:bodyPr wrap="none" lIns="0" tIns="0" rIns="0" bIns="0" anchor="ctr"/>
                  <a:lstStyle/>
                  <a:p>
                    <a:fld id="{BD2610B9-AB17-44F1-8DE5-237975F32050}" type="CELLRANGE">
                      <a:rPr lang="ru-RU" sz="1050" b="1">
                        <a:solidFill>
                          <a:schemeClr val="accent4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txPr>
              <a:bodyPr wrap="none" lIns="0" tIns="0" rIns="0" bIns="0" anchor="ctr"/>
              <a:lstStyle/>
              <a:p>
                <a:pPr>
                  <a:defRPr sz="1050" b="1">
                    <a:solidFill>
                      <a:schemeClr val="accent4"/>
                    </a:solidFill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Лист1!$W$2:$W$8</c:f>
              <c:numCache>
                <c:formatCode>General</c:formatCode>
                <c:ptCount val="7"/>
                <c:pt idx="0">
                  <c:v>11.84</c:v>
                </c:pt>
                <c:pt idx="1">
                  <c:v>11.84</c:v>
                </c:pt>
                <c:pt idx="2">
                  <c:v>11.84</c:v>
                </c:pt>
                <c:pt idx="3">
                  <c:v>11.84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Лист1!$X$2:$X$8</c15:f>
                <c15:dlblRangeCache>
                  <c:ptCount val="7"/>
                  <c:pt idx="0">
                    <c:v>| 100%</c:v>
                  </c:pt>
                  <c:pt idx="1">
                    <c:v>| 95,2%</c:v>
                  </c:pt>
                  <c:pt idx="2">
                    <c:v>| 93,5%</c:v>
                  </c:pt>
                  <c:pt idx="3">
                    <c:v>| 91,9%</c:v>
                  </c:pt>
                  <c:pt idx="4">
                    <c:v> </c:v>
                  </c:pt>
                  <c:pt idx="5">
                    <c:v> </c:v>
                  </c:pt>
                  <c:pt idx="6">
                    <c:v> </c:v>
                  </c:pt>
                </c15:dlblRangeCache>
              </c15:datalabelsRange>
            </c:ext>
          </c:extLst>
        </c:ser>
        <c:ser>
          <c:idx val="6"/>
          <c:order val="6"/>
          <c:tx>
            <c:strRef>
              <c:f>Лист1!$Y$1</c:f>
              <c:strCache>
                <c:ptCount val="1"/>
                <c:pt idx="0">
                  <c:v>Ширина подписи 3 (ниже 90%)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 wrap="none" lIns="0" tIns="0" rIns="0" bIns="0" anchor="ctr"/>
                  <a:lstStyle/>
                  <a:p>
                    <a:fld id="{18DFCEBA-6F21-4945-A276-B7FC8C00D260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1"/>
              <c:tx>
                <c:rich>
                  <a:bodyPr wrap="none" lIns="0" tIns="0" rIns="0" bIns="0" anchor="ctr"/>
                  <a:lstStyle/>
                  <a:p>
                    <a:fld id="{6501EDA4-051B-4E2C-84E2-7EADB36F6229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2"/>
              <c:tx>
                <c:rich>
                  <a:bodyPr wrap="none" lIns="0" tIns="0" rIns="0" bIns="0" anchor="ctr"/>
                  <a:lstStyle/>
                  <a:p>
                    <a:fld id="{BC42367A-D7E1-4341-9079-1B9A1E70812D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3"/>
              <c:tx>
                <c:rich>
                  <a:bodyPr wrap="none" lIns="0" tIns="0" rIns="0" bIns="0" anchor="ctr"/>
                  <a:lstStyle/>
                  <a:p>
                    <a:fld id="{2D241027-59A4-420F-B619-6903FD47A360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4"/>
              <c:tx>
                <c:rich>
                  <a:bodyPr wrap="none" lIns="0" tIns="0" rIns="0" bIns="0" anchor="ctr"/>
                  <a:lstStyle/>
                  <a:p>
                    <a:fld id="{8820F9C5-F5D0-4C52-89F6-DAEE9C2CC90F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5"/>
              <c:tx>
                <c:rich>
                  <a:bodyPr wrap="none" lIns="0" tIns="0" rIns="0" bIns="0" anchor="ctr"/>
                  <a:lstStyle/>
                  <a:p>
                    <a:fld id="{EAEA9291-1B0C-403B-A232-CAA41427FBEE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dLbl>
              <c:idx val="6"/>
              <c:tx>
                <c:rich>
                  <a:bodyPr wrap="none" lIns="0" tIns="0" rIns="0" bIns="0" anchor="ctr"/>
                  <a:lstStyle/>
                  <a:p>
                    <a:fld id="{989DCA6B-76D2-4B5A-98AE-957C29C14955}" type="CELLRANGE">
                      <a:rPr lang="ru-RU" sz="1050" b="1">
                        <a:solidFill>
                          <a:srgbClr val="B76E00"/>
                        </a:solidFill>
                      </a:rPr>
                      <a:pPr/>
                      <a:t>[CELLRANGE]</a:t>
                    </a:fld>
                    <a:endParaRPr lang="ru-RU"/>
                  </a:p>
                </c:rich>
              </c:tx>
              <c:spPr>
                <a:noFill/>
                <a:ln>
                  <a:noFill/>
                </a:ln>
              </c:sp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</c:extLst>
            </c:dLbl>
            <c:spPr>
              <a:noFill/>
              <a:ln>
                <a:noFill/>
              </a:ln>
            </c:spPr>
            <c:txPr>
              <a:bodyPr wrap="none" lIns="0" tIns="0" rIns="0" bIns="0" anchor="ctr"/>
              <a:lstStyle/>
              <a:p>
                <a:pPr>
                  <a:defRPr sz="1050" b="1">
                    <a:solidFill>
                      <a:srgbClr val="B76E00"/>
                    </a:solidFill>
                  </a:defRPr>
                </a:pPr>
                <a:endParaRPr lang="ru-RU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DataLabelsRange val="1"/>
                <c15:showLeaderLines val="0"/>
              </c:ext>
            </c:extLst>
          </c:dLbls>
          <c:cat>
            <c:strRef>
              <c:f>Лист1!$M$2:$M$8</c:f>
              <c:strCache>
                <c:ptCount val="7"/>
                <c:pt idx="0">
                  <c:v>Правовая обвязка</c:v>
                </c:pt>
                <c:pt idx="1">
                  <c:v>Агент ЦД</c:v>
                </c:pt>
                <c:pt idx="2">
                  <c:v>Память и контекст</c:v>
                </c:pt>
                <c:pt idx="3">
                  <c:v>Foundation Model</c:v>
                </c:pt>
                <c:pt idx="4">
                  <c:v>Бизнес-тестирование</c:v>
                </c:pt>
                <c:pt idx="5">
                  <c:v>Мотивационный профиль</c:v>
                </c:pt>
                <c:pt idx="6">
                  <c:v>Поставка данных</c:v>
                </c:pt>
              </c:strCache>
            </c:strRef>
          </c:cat>
          <c:val>
            <c:numRef>
              <c:f>Лист1!$Y$2:$Y$8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11.84</c:v>
                </c:pt>
                <c:pt idx="5">
                  <c:v>11.84</c:v>
                </c:pt>
                <c:pt idx="6">
                  <c:v>11.84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Лист1!$Z$2:$Z$8</c15:f>
                <c15:dlblRangeCache>
                  <c:ptCount val="7"/>
                  <c:pt idx="0">
                    <c:v> </c:v>
                  </c:pt>
                  <c:pt idx="1">
                    <c:v> </c:v>
                  </c:pt>
                  <c:pt idx="2">
                    <c:v> </c:v>
                  </c:pt>
                  <c:pt idx="3">
                    <c:v> </c:v>
                  </c:pt>
                  <c:pt idx="4">
                    <c:v>| 87,5%</c:v>
                  </c:pt>
                  <c:pt idx="5">
                    <c:v>| 81,8%</c:v>
                  </c:pt>
                  <c:pt idx="6">
                    <c:v>| 80%</c:v>
                  </c:pt>
                </c15:dlblRangeCache>
              </c15:datalabelsRang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overlap val="100"/>
        <c:axId val="1009633471"/>
        <c:axId val="948074495"/>
      </c:barChart>
      <c:catAx>
        <c:axId val="1009633471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>
            <a:solidFill>
              <a:srgbClr val="DCE5E9"/>
            </a:solidFill>
          </a:ln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 xmlns:p="http://schemas.openxmlformats.org/presentationml/2006/main"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8074495"/>
        <c:crosses val="autoZero"/>
        <c:auto val="1"/>
        <c:lblAlgn val="ctr"/>
        <c:lblOffset val="100"/>
        <c:tickLblSkip val="1"/>
        <c:noMultiLvlLbl val="0"/>
      </c:catAx>
      <c:valAx>
        <c:axId val="948074495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096334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900"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1609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льзовательский макет">
    <p:bg>
      <p:bgPr>
        <a:blipFill dpi="0" rotWithShape="1">
          <a:blip r:embed="rId2">
            <a:alphaModFix amt="9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1247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blipFill dpi="0" rotWithShape="1">
          <a:blip r:embed="rId2">
            <a:alphaModFix amt="92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329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bg>
      <p:bgPr>
        <a:solidFill>
          <a:srgbClr val="F8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6E787-6118-CB30-1860-80B2DDBC2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880"/>
            <a:ext cx="11277570" cy="54864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>
              <a:lnSpc>
                <a:spcPct val="85000"/>
              </a:lnSpc>
              <a:defRPr sz="2933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FD5C01-A8EF-81DE-BED5-684EEF03ABDB}"/>
              </a:ext>
            </a:extLst>
          </p:cNvPr>
          <p:cNvSpPr/>
          <p:nvPr userDrawn="1"/>
        </p:nvSpPr>
        <p:spPr>
          <a:xfrm>
            <a:off x="11287125" y="6561139"/>
            <a:ext cx="904875" cy="296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/>
          <a:lstStyle/>
          <a:p>
            <a:pPr algn="ctr"/>
            <a:fld id="{E5BEBB3C-960C-4E0B-A5BA-796AFB15491B}" type="slidenum">
              <a:rPr lang="ru-RU" sz="1088" smtClean="0">
                <a:solidFill>
                  <a:schemeClr val="tx2"/>
                </a:solidFill>
                <a:latin typeface="+mn-lt"/>
              </a:rPr>
              <a:t>‹#›</a:t>
            </a:fld>
            <a:endParaRPr lang="en-US" sz="1088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361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5">
          <p15:clr>
            <a:srgbClr val="FBAE40"/>
          </p15:clr>
        </p15:guide>
        <p15:guide id="2" pos="272">
          <p15:clr>
            <a:srgbClr val="FBAE40"/>
          </p15:clr>
        </p15:guide>
        <p15:guide id="3" pos="5488">
          <p15:clr>
            <a:srgbClr val="FBAE40"/>
          </p15:clr>
        </p15:guide>
        <p15:guide id="4" pos="136">
          <p15:clr>
            <a:srgbClr val="FBAE40"/>
          </p15:clr>
        </p15:guide>
        <p15:guide id="5" pos="5624">
          <p15:clr>
            <a:srgbClr val="FBAE40"/>
          </p15:clr>
        </p15:guide>
        <p15:guide id="7" orient="horz" pos="3117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687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726886" rtl="0" eaLnBrk="1" latinLnBrk="0" hangingPunct="1">
        <a:lnSpc>
          <a:spcPct val="90000"/>
        </a:lnSpc>
        <a:spcBef>
          <a:spcPct val="0"/>
        </a:spcBef>
        <a:buNone/>
        <a:defRPr sz="34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1722" indent="-181722" algn="l" defTabSz="726886" rtl="0" eaLnBrk="1" latinLnBrk="0" hangingPunct="1">
        <a:lnSpc>
          <a:spcPct val="90000"/>
        </a:lnSpc>
        <a:spcBef>
          <a:spcPts val="795"/>
        </a:spcBef>
        <a:buFont typeface="Arial" panose="020B0604020202020204" pitchFamily="34" charset="0"/>
        <a:buChar char="•"/>
        <a:defRPr sz="2227" kern="1200">
          <a:solidFill>
            <a:schemeClr val="tx1"/>
          </a:solidFill>
          <a:latin typeface="+mn-lt"/>
          <a:ea typeface="+mn-ea"/>
          <a:cs typeface="+mn-cs"/>
        </a:defRPr>
      </a:lvl1pPr>
      <a:lvl2pPr marL="545165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908" kern="1200">
          <a:solidFill>
            <a:schemeClr val="tx1"/>
          </a:solidFill>
          <a:latin typeface="+mn-lt"/>
          <a:ea typeface="+mn-ea"/>
          <a:cs typeface="+mn-cs"/>
        </a:defRPr>
      </a:lvl2pPr>
      <a:lvl3pPr marL="908608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589" kern="1200">
          <a:solidFill>
            <a:schemeClr val="tx1"/>
          </a:solidFill>
          <a:latin typeface="+mn-lt"/>
          <a:ea typeface="+mn-ea"/>
          <a:cs typeface="+mn-cs"/>
        </a:defRPr>
      </a:lvl3pPr>
      <a:lvl4pPr marL="1272051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4pPr>
      <a:lvl5pPr marL="1635495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5pPr>
      <a:lvl6pPr marL="1998938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6pPr>
      <a:lvl7pPr marL="2362381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7pPr>
      <a:lvl8pPr marL="2725824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8pPr>
      <a:lvl9pPr marL="3089268" indent="-181722" algn="l" defTabSz="726886" rtl="0" eaLnBrk="1" latinLnBrk="0" hangingPunct="1">
        <a:lnSpc>
          <a:spcPct val="90000"/>
        </a:lnSpc>
        <a:spcBef>
          <a:spcPts val="397"/>
        </a:spcBef>
        <a:buFont typeface="Arial" panose="020B0604020202020204" pitchFamily="34" charset="0"/>
        <a:buChar char="•"/>
        <a:defRPr sz="143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1pPr>
      <a:lvl2pPr marL="363443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2pPr>
      <a:lvl3pPr marL="726886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3pPr>
      <a:lvl4pPr marL="1090330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4pPr>
      <a:lvl5pPr marL="1453773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5pPr>
      <a:lvl6pPr marL="1817216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6pPr>
      <a:lvl7pPr marL="2180659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7pPr>
      <a:lvl8pPr marL="2544103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8pPr>
      <a:lvl9pPr marL="2907546" algn="l" defTabSz="726886" rtl="0" eaLnBrk="1" latinLnBrk="0" hangingPunct="1">
        <a:defRPr sz="143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4FEAD9-1103-01BE-0374-74E9413DC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">
            <a:extLst>
              <a:ext uri="{FF2B5EF4-FFF2-40B4-BE49-F238E27FC236}">
                <a16:creationId xmlns:a16="http://schemas.microsoft.com/office/drawing/2014/main" id="{1339D3F8-B2C3-3099-FDF8-24F64A636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 программы Цифровой двойник</a:t>
            </a:r>
          </a:p>
        </p:txBody>
      </p:sp>
      <p:sp>
        <p:nvSpPr>
          <p:cNvPr id="106" name="Таблица: подложка">
            <a:extLst>
              <a:ext uri="{FF2B5EF4-FFF2-40B4-BE49-F238E27FC236}">
                <a16:creationId xmlns:a16="http://schemas.microsoft.com/office/drawing/2014/main" id="{7B7A478F-545C-5523-575D-EDF2FBAA26B7}"/>
              </a:ext>
            </a:extLst>
          </p:cNvPr>
          <p:cNvSpPr/>
          <p:nvPr/>
        </p:nvSpPr>
        <p:spPr bwMode="auto">
          <a:xfrm>
            <a:off x="457200" y="3163824"/>
            <a:ext cx="11277570" cy="3264408"/>
          </a:xfrm>
          <a:prstGeom prst="roundRect">
            <a:avLst>
              <a:gd name="adj" fmla="val 2600"/>
            </a:avLst>
          </a:prstGeom>
          <a:solidFill>
            <a:schemeClr val="bg1"/>
          </a:solidFill>
          <a:ln w="9525">
            <a:solidFill>
              <a:srgbClr val="DCE5E9"/>
            </a:solidFill>
          </a:ln>
          <a:effectLst>
            <a:outerShdw blurRad="63500" dist="12700" dir="5400000" algn="t" rotWithShape="0">
              <a:srgbClr val="262F36">
                <a:alpha val="9000"/>
              </a:srgbClr>
            </a:outerShdw>
          </a:effectLst>
        </p:spPr>
        <p:txBody>
          <a:bodyPr wrap="square" lIns="240000" tIns="24000" bIns="0" anchor="ctr">
            <a:noAutofit/>
          </a:bodyPr>
          <a:lstStyle/>
          <a:p>
            <a:pPr defTabSz="477183">
              <a:lnSpc>
                <a:spcPct val="90000"/>
              </a:lnSpc>
              <a:defRPr/>
            </a:pPr>
            <a:endParaRPr lang="ru-RU" sz="1867" b="1" dirty="0">
              <a:solidFill>
                <a:srgbClr val="32ACA8"/>
              </a:solidFill>
              <a:latin typeface="+mj-lt"/>
              <a:cs typeface="SB Sans Display"/>
            </a:endParaRPr>
          </a:p>
        </p:txBody>
      </p:sp>
      <p:graphicFrame>
        <p:nvGraphicFramePr>
          <p:cNvPr id="99" name="Таблица: компоненты ЦД">
            <a:extLst>
              <a:ext uri="{FF2B5EF4-FFF2-40B4-BE49-F238E27FC236}">
                <a16:creationId xmlns:a16="http://schemas.microsoft.com/office/drawing/2014/main" id="{E999922B-A399-8391-B7D1-D67F818D8B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044524"/>
              </p:ext>
            </p:extLst>
          </p:nvPr>
        </p:nvGraphicFramePr>
        <p:xfrm>
          <a:off x="516773" y="3209544"/>
          <a:ext cx="11158423" cy="315468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5553431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99459520"/>
                    </a:ext>
                  </a:extLst>
                </a:gridCol>
                <a:gridCol w="5751576">
                  <a:extLst>
                    <a:ext uri="{9D8B030D-6E8A-4147-A177-3AD203B41FA5}">
                      <a16:colId xmlns:a16="http://schemas.microsoft.com/office/drawing/2014/main" val="3417525183"/>
                    </a:ext>
                  </a:extLst>
                </a:gridCol>
                <a:gridCol w="651967">
                  <a:extLst>
                    <a:ext uri="{9D8B030D-6E8A-4147-A177-3AD203B41FA5}">
                      <a16:colId xmlns:a16="http://schemas.microsoft.com/office/drawing/2014/main" val="2462175375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50" b="1" i="0" u="none" strike="noStrike" dirty="0">
                          <a:solidFill>
                            <a:srgbClr val="6B7785"/>
                          </a:solidFill>
                          <a:effectLst/>
                        </a:rPr>
                        <a:t>КОМПОНЕНТЫ ЦД</a:t>
                      </a:r>
                    </a:p>
                    <a:p>
                      <a:pPr algn="l" fontAlgn="ctr">
                        <a:buNone/>
                      </a:pPr>
                      <a:r>
                        <a:rPr lang="ru-RU" sz="850" b="1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КОМАНДА</a:t>
                      </a:r>
                      <a:endParaRPr lang="ru-RU" sz="850" b="1" i="0" u="none" strike="noStrike" dirty="0">
                        <a:solidFill>
                          <a:srgbClr val="6B7785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50" b="1" i="0" u="none" strike="noStrike" dirty="0">
                          <a:solidFill>
                            <a:srgbClr val="6B7785"/>
                          </a:solidFill>
                          <a:effectLst/>
                        </a:rPr>
                        <a:t>НАПРАВЛЕНИЯ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850" b="1" i="0" u="none" strike="noStrike" dirty="0">
                          <a:solidFill>
                            <a:srgbClr val="6B7785"/>
                          </a:solidFill>
                          <a:effectLst/>
                        </a:rPr>
                        <a:t>ЦЕЛЬ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850" b="1" i="0" u="none" strike="noStrike" dirty="0">
                          <a:solidFill>
                            <a:srgbClr val="6B7785"/>
                          </a:solidFill>
                          <a:effectLst/>
                        </a:rPr>
                        <a:t>ПШЕ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0412726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Агент ЦД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dirty="0" err="1">
                          <a:solidFill>
                            <a:schemeClr val="accent3"/>
                          </a:solidFill>
                          <a:effectLst/>
                        </a:rPr>
                        <a:t>SberProfile</a:t>
                      </a:r>
                      <a:endParaRPr lang="ru-RU" sz="900" b="0" i="0" u="none" strike="noStrike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1" fontAlgn="ctr" latinLnBrk="0" hangingPunct="1">
                        <a:buNone/>
                      </a:pPr>
                      <a:endParaRPr lang="ru-RU" sz="900" b="0" i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Создать агента ЦД , как единую точку доступа к профилю клиента (</a:t>
                      </a:r>
                      <a:r>
                        <a:rPr lang="en" sz="9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core </a:t>
                      </a:r>
                      <a:r>
                        <a:rPr lang="ru-RU" sz="900" b="0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данные, витрины, память, проактивный профиль) для персонализированного взаимодействия с клиентом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714454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Память и контекст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SberProfile</a:t>
                      </a:r>
                      <a:endParaRPr lang="ru-RU" sz="900" b="0" i="0" u="none" strike="noStrike" kern="12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1" fontAlgn="ctr" latinLnBrk="0" hangingPunct="1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Горячий кэш, Память, </a:t>
                      </a:r>
                      <a:r>
                        <a:rPr lang="en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FS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, Клиентское окружение, оферта, проактивный профиль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Реализовать Память по клиентам </a:t>
                      </a:r>
                      <a:r>
                        <a:rPr lang="en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B2C 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с учетом истории контекста из диалогов. Обеспечить </a:t>
                      </a:r>
                      <a:r>
                        <a:rPr lang="en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Governance 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получаемых данных. Сформировать набор бенчмарков для оценки работы Памяти. 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31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99322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Foundation Model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SberNBA</a:t>
                      </a:r>
                      <a:r>
                        <a:rPr lang="en-US" sz="900" b="0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, </a:t>
                      </a:r>
                      <a:r>
                        <a:rPr lang="ru-RU" sz="900" b="0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Support, </a:t>
                      </a:r>
                      <a:r>
                        <a:rPr lang="en-US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AmazMe</a:t>
                      </a:r>
                      <a:endParaRPr lang="ru-RU" sz="900" b="0" i="0" u="none" strike="noStrike" kern="12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1" fontAlgn="ctr" latinLnBrk="0" hangingPunct="1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Разработка моделей, </a:t>
                      </a: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R&amp;D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core FM, R&amp;D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траекторий, инфра, сопровождение </a:t>
                      </a:r>
                      <a:r>
                        <a:rPr lang="en-US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FM</a:t>
                      </a:r>
                      <a:endParaRPr lang="ru-RU" sz="900" b="0" i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Развить </a:t>
                      </a:r>
                      <a:r>
                        <a:rPr lang="en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FM 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как базовую модель для персонализированных сценариев и долгосрочного взаимодействия с клиентом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37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4975145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Мотивационный профиль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SberNBA</a:t>
                      </a:r>
                      <a:r>
                        <a:rPr lang="en-US" sz="900" b="0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, </a:t>
                      </a:r>
                      <a:r>
                        <a:rPr lang="ru-RU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ЛНиПЧ</a:t>
                      </a:r>
                      <a:endParaRPr lang="ru-RU" sz="900" b="0" i="0" u="none" strike="noStrike" kern="12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eaLnBrk="1" fontAlgn="ctr" latinLnBrk="0" hangingPunct="1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Разработка методологии определения мотивов на основе результатов экспериментов</a:t>
                      </a:r>
                    </a:p>
                    <a:p>
                      <a:pPr algn="l" rtl="0" eaLnBrk="1" fontAlgn="ctr" latinLnBrk="0" hangingPunct="1">
                        <a:buNone/>
                      </a:pPr>
                      <a:endParaRPr lang="ru-RU" sz="900" b="0" i="0" u="none" strike="noStrike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Создать комплексную систему психологического профилирования клиентов для персонализации взаимодействия на основе мотивов и валидных </a:t>
                      </a:r>
                      <a:r>
                        <a:rPr lang="ru-RU" sz="900" b="0" i="0" u="none" strike="noStrike" kern="1200" dirty="0" err="1">
                          <a:solidFill>
                            <a:schemeClr val="tx1"/>
                          </a:solidFill>
                          <a:effectLst/>
                        </a:rPr>
                        <a:t>психопараметров</a:t>
                      </a: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11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8490243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Поставка данных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CDO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Обеспечение данными ЦД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dirty="0" sz="900" b="0" i="0">
                        <a:solidFill>
                          <a:schemeClr val="tx1"/>
                        </a:solidFill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34338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Процесс и правовая обвязка</a:t>
                      </a:r>
                      <a:br>
                        <a:rPr lang="ru-RU" sz="9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>
                          <a:solidFill>
                            <a:schemeClr val="accent3"/>
                          </a:solidFill>
                          <a:effectLst/>
                        </a:rPr>
                        <a:t>DPO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Обеспечение правовой возможности безопасного использования ЦД во всех бизнес-сценариях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dirty="0" sz="900" b="0" i="0">
                        <a:solidFill>
                          <a:schemeClr val="tx1"/>
                        </a:solidFill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366225"/>
                  </a:ext>
                </a:extLst>
              </a:tr>
              <a:tr h="34061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1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Бизнес-тестирование</a:t>
                      </a:r>
                      <a:br>
                        <a:rPr lang="ru-RU" sz="900" b="1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ru-RU" sz="900" b="0" i="0" u="none" strike="noStrike" kern="1200" dirty="0" err="1">
                          <a:solidFill>
                            <a:schemeClr val="accent3"/>
                          </a:solidFill>
                          <a:effectLst/>
                        </a:rPr>
                        <a:t>SberCampaingning</a:t>
                      </a:r>
                      <a:endParaRPr lang="ru-RU" sz="900" b="0" i="0" u="none" strike="noStrike" kern="12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900" b="0" i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Оперативный запуск пилотов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dirty="0" sz="900" b="0" i="0">
                        <a:solidFill>
                          <a:schemeClr val="tx1"/>
                        </a:solidFill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ru-RU" sz="1000" b="1" i="0" u="none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 cap="flat" cmpd="sng" algn="ctr">
                      <a:solidFill>
                        <a:srgbClr val="DCE5E9"/>
                      </a:solidFill>
                      <a:prstDash val="solid"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907438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ru-RU" sz="1000" b="1" i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ИТОГО:</a:t>
                      </a:r>
                    </a:p>
                  </a:txBody>
                  <a:tcPr anchor="ctr" marL="91440" marR="91440" marT="27432" marB="27432">
                    <a:lnL w="0">
                      <a:noFill/>
                    </a:lnL>
                    <a:lnR w="6350" cap="flat" cmpd="sng" algn="ctr">
                      <a:solidFill>
                        <a:srgbClr val="DCE5E9"/>
                      </a:solidFill>
                      <a:prstDash val="solid"/>
                    </a:lnR>
                    <a:lnT w="15875" cap="flat" cmpd="sng" algn="ctr">
                      <a:solidFill>
                        <a:schemeClr val="accent3"/>
                      </a:solidFill>
                      <a:prstDash val="solid"/>
                    </a:lnT>
                    <a:lnB w="0">
                      <a:noFill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l" rtl="0" eaLnBrk="1" fontAlgn="ctr" latinLnBrk="0" hangingPunct="1">
                        <a:buNone/>
                      </a:pPr>
                      <a:endParaRPr lang="ru-RU" sz="900" b="1" i="0" u="none" strike="noStrike" kern="1200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chemeClr val="accent3"/>
                      </a:solidFill>
                      <a:prstDash val="solid"/>
                    </a:lnT>
                    <a:lnB w="0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ru-RU" sz="900" b="1" i="0" u="none" strike="noStrike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chemeClr val="accent3"/>
                      </a:solidFill>
                      <a:prstDash val="soli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ru-RU" sz="1050" b="1" i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1</a:t>
                      </a:r>
                      <a:r>
                        <a:rPr lang="en-US" sz="1050" b="1" i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31</a:t>
                      </a:r>
                      <a:endParaRPr lang="ru-RU" sz="1050" b="1" i="0" u="none" strike="noStrike" dirty="0">
                        <a:solidFill>
                          <a:schemeClr val="accent3"/>
                        </a:solidFill>
                        <a:effectLst/>
                      </a:endParaRPr>
                    </a:p>
                  </a:txBody>
                  <a:tcPr anchor="ctr" marL="91440" marR="91440" marT="27432" marB="27432">
                    <a:lnL w="0">
                      <a:noFill/>
                    </a:lnL>
                    <a:lnR w="0">
                      <a:noFill/>
                    </a:lnR>
                    <a:lnT w="15875" cap="flat" cmpd="sng" algn="ctr">
                      <a:solidFill>
                        <a:schemeClr val="accent3"/>
                      </a:solidFill>
                      <a:prstDash val="solid"/>
                    </a:lnT>
                    <a:lnB w="0">
                      <a:noFill/>
                    </a:lnB>
                    <a:solidFill>
                      <a:srgbClr val="E9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41873"/>
                  </a:ext>
                </a:extLst>
              </a:tr>
            </a:tbl>
          </a:graphicData>
        </a:graphic>
      </p:graphicFrame>
      <p:grpSp>
        <p:nvGrpSpPr>
          <p:cNvPr id="128" name="Summary"/>
          <p:cNvGrpSpPr/>
          <p:nvPr/>
        </p:nvGrpSpPr>
        <p:grpSpPr>
          <a:xfrm>
            <a:off x="457200" y="841248"/>
            <a:ext cx="8397210" cy="420624"/>
            <a:chOff x="457200" y="841248"/>
            <a:chExt cx="8397210" cy="420624"/>
          </a:xfrm>
        </p:grpSpPr>
        <p:sp>
          <p:nvSpPr>
            <p:cNvPr id="3" name="Summary: фон">
              <a:extLst>
                <a:ext uri="{FF2B5EF4-FFF2-40B4-BE49-F238E27FC236}">
                  <a16:creationId xmlns:a16="http://schemas.microsoft.com/office/drawing/2014/main" id="{712B87A3-5F1A-467A-9518-468CD7552B91}"/>
                </a:ext>
              </a:extLst>
            </p:cNvPr>
            <p:cNvSpPr/>
            <p:nvPr/>
          </p:nvSpPr>
          <p:spPr bwMode="auto">
            <a:xfrm>
              <a:off x="457200" y="841248"/>
              <a:ext cx="8397210" cy="420624"/>
            </a:xfrm>
            <a:prstGeom prst="roundRect">
              <a:avLst>
                <a:gd name="adj" fmla="val 22000"/>
              </a:avLst>
            </a:prstGeom>
            <a:solidFill>
              <a:schemeClr val="bg1"/>
            </a:solidFill>
            <a:ln w="9525">
              <a:solidFill>
                <a:srgbClr val="DCE5E9"/>
              </a:solidFill>
            </a:ln>
            <a:effectLst>
              <a:outerShdw blurRad="63500" dist="12700" dir="5400000" algn="t" rotWithShape="0">
                <a:srgbClr val="262F36">
                  <a:alpha val="9000"/>
                </a:srgbClr>
              </a:outerShdw>
            </a:effectLst>
          </p:spPr>
          <p:txBody>
            <a:bodyPr wrap="square" lIns="240000" tIns="24000" bIns="0" anchor="ctr">
              <a:noAutofit/>
            </a:bodyPr>
            <a:lstStyle/>
            <a:p>
              <a:pPr defTabSz="477183">
                <a:lnSpc>
                  <a:spcPct val="90000"/>
                </a:lnSpc>
                <a:defRPr/>
              </a:pPr>
              <a:endParaRPr lang="ru-RU" sz="1867" b="1" dirty="0">
                <a:solidFill>
                  <a:srgbClr val="32ACA8"/>
                </a:solidFill>
                <a:latin typeface="+mj-lt"/>
                <a:cs typeface="SB Sans Display"/>
              </a:endParaRPr>
            </a:p>
          </p:txBody>
        </p:sp>
        <p:sp>
          <p:nvSpPr>
            <p:cNvPr id="12" name="Summary: подпись">
              <a:extLst>
                <a:ext uri="{FF2B5EF4-FFF2-40B4-BE49-F238E27FC236}">
                  <a16:creationId xmlns:a16="http://schemas.microsoft.com/office/drawing/2014/main" id="{7682BF1D-0994-6124-B121-F51CE1361E41}"/>
                </a:ext>
              </a:extLst>
            </p:cNvPr>
            <p:cNvSpPr/>
            <p:nvPr/>
          </p:nvSpPr>
          <p:spPr>
            <a:xfrm>
              <a:off x="621792" y="841248"/>
              <a:ext cx="914400" cy="420624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defTabSz="477183"/>
              <a:r>
                <a:rPr lang="en-US" sz="1200" b="1" dirty="0" i="0">
                  <a:solidFill>
                    <a:schemeClr val="accent6"/>
                  </a:solidFill>
                </a:rPr>
                <a:t>Summary</a:t>
              </a:r>
              <a:endParaRPr lang="ru-RU" sz="1200" b="1" dirty="0" i="0">
                <a:solidFill>
                  <a:schemeClr val="accent6"/>
                </a:solidFill>
              </a:endParaRPr>
            </a:p>
          </p:txBody>
        </p:sp>
        <p:cxnSp>
          <p:nvCxnSpPr>
            <p:cNvPr id="27" name="Summary: разделитель">
              <a:extLst>
                <a:ext uri="{FF2B5EF4-FFF2-40B4-BE49-F238E27FC236}">
                  <a16:creationId xmlns:a16="http://schemas.microsoft.com/office/drawing/2014/main" id="{64E607FC-9671-9FBD-42ED-2F7285FAA286}"/>
                </a:ext>
              </a:extLst>
            </p:cNvPr>
            <p:cNvCxnSpPr>
              <a:cxnSpLocks/>
            </p:cNvCxnSpPr>
            <p:nvPr/>
          </p:nvCxnSpPr>
          <p:spPr>
            <a:xfrm>
              <a:off x="1627632" y="950976"/>
              <a:ext cx="0" cy="201168"/>
            </a:xfrm>
            <a:prstGeom prst="line">
              <a:avLst/>
            </a:prstGeom>
            <a:ln w="9525" cap="rnd">
              <a:gradFill flip="none" rotWithShape="1">
                <a:gsLst>
                  <a:gs pos="1000">
                    <a:srgbClr val="095C52">
                      <a:alpha val="0"/>
                    </a:srgbClr>
                  </a:gs>
                  <a:gs pos="14000">
                    <a:srgbClr val="095C52"/>
                  </a:gs>
                  <a:gs pos="97000">
                    <a:srgbClr val="3FAD9B">
                      <a:alpha val="0"/>
                    </a:srgbClr>
                  </a:gs>
                  <a:gs pos="84000">
                    <a:srgbClr val="3FAD9B"/>
                  </a:gs>
                </a:gsLst>
                <a:lin ang="5400000" scaled="1"/>
                <a:tileRect/>
              </a:gra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Summary: поле для текста">
              <a:extLst>
                <a:ext uri="{FF2B5EF4-FFF2-40B4-BE49-F238E27FC236}">
                  <a16:creationId xmlns:a16="http://schemas.microsoft.com/office/drawing/2014/main" id="{0B814F4B-31D1-168B-3990-28769AD28EBE}"/>
                </a:ext>
              </a:extLst>
            </p:cNvPr>
            <p:cNvSpPr/>
            <p:nvPr/>
          </p:nvSpPr>
          <p:spPr>
            <a:xfrm>
              <a:off x="1755648" y="841248"/>
              <a:ext cx="6961602" cy="420624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defTabSz="477183"/>
              <a:endParaRPr lang="ru-RU" sz="1200" b="1" dirty="0" i="0">
                <a:solidFill>
                  <a:schemeClr val="tx1"/>
                </a:solidFill>
              </a:endParaRPr>
            </a:p>
          </p:txBody>
        </p:sp>
      </p:grpSp>
      <p:sp>
        <p:nvSpPr>
          <p:cNvPr id="4" name="Метка: Приложение">
            <a:extLst>
              <a:ext uri="{FF2B5EF4-FFF2-40B4-BE49-F238E27FC236}">
                <a16:creationId xmlns:a16="http://schemas.microsoft.com/office/drawing/2014/main" id="{63F2F6C8-37F0-66C5-F1B1-21514F66B220}"/>
              </a:ext>
            </a:extLst>
          </p:cNvPr>
          <p:cNvSpPr/>
          <p:nvPr/>
        </p:nvSpPr>
        <p:spPr>
          <a:xfrm>
            <a:off x="10134570" y="301752"/>
            <a:ext cx="160020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6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 anchorCtr="0">
            <a:noAutofit/>
          </a:bodyPr>
          <a:lstStyle/>
          <a:p>
            <a:pPr algn="ctr" fontAlgn="base">
              <a:lnSpc>
                <a:spcPct val="95000"/>
              </a:lnSpc>
              <a:spcBef>
                <a:spcPct val="0"/>
              </a:spcBef>
              <a:spcAft>
                <a:spcPts val="800"/>
              </a:spcAft>
            </a:pPr>
            <a:r>
              <a:rPr lang="ru-RU" sz="1200" i="0" kern="0" spc="-67" dirty="0" b="1">
                <a:solidFill>
                  <a:schemeClr val="accent6"/>
                </a:solidFill>
              </a:rPr>
              <a:t>Приложение</a:t>
            </a:r>
          </a:p>
        </p:txBody>
      </p:sp>
      <p:grpSp>
        <p:nvGrpSpPr>
          <p:cNvPr id="129" name="KPI: Всего на программе"/>
          <p:cNvGrpSpPr/>
          <p:nvPr/>
        </p:nvGrpSpPr>
        <p:grpSpPr>
          <a:xfrm>
            <a:off x="8991570" y="841248"/>
            <a:ext cx="2743200" cy="420624"/>
            <a:chOff x="8991570" y="841248"/>
            <a:chExt cx="2743200" cy="420624"/>
          </a:xfrm>
        </p:grpSpPr>
        <p:sp>
          <p:nvSpPr>
            <p:cNvPr id="124" name="Плашка: 131 ПШЕ"/>
            <p:cNvSpPr/>
            <p:nvPr/>
          </p:nvSpPr>
          <p:spPr>
            <a:xfrm>
              <a:off x="8991570" y="841248"/>
              <a:ext cx="2743200" cy="420624"/>
            </a:xfrm>
            <a:prstGeom prst="roundRect">
              <a:avLst>
                <a:gd name="adj" fmla="val 5500"/>
              </a:avLst>
            </a:prstGeom>
            <a:solidFill>
              <a:schemeClr val="bg1"/>
            </a:solidFill>
            <a:ln w="9525">
              <a:solidFill>
                <a:srgbClr val="DCE5E9"/>
              </a:solidFill>
            </a:ln>
            <a:effectLst>
              <a:outerShdw blurRad="63500" dist="12700" dir="5400000" algn="t" rotWithShape="0">
                <a:srgbClr val="262F36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KPI: значение">
              <a:extLst>
                <a:ext uri="{FF2B5EF4-FFF2-40B4-BE49-F238E27FC236}">
                  <a16:creationId xmlns:a16="http://schemas.microsoft.com/office/drawing/2014/main" id="{DE118B1B-291B-23A4-513C-FE2C8665AA2B}"/>
                </a:ext>
              </a:extLst>
            </p:cNvPr>
            <p:cNvSpPr/>
            <p:nvPr/>
          </p:nvSpPr>
          <p:spPr>
            <a:xfrm>
              <a:off x="9156162" y="841248"/>
              <a:ext cx="1097280" cy="420624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defTabSz="477183">
                <a:defRPr/>
              </a:pPr>
              <a:r>
                <a:rPr lang="en-US" sz="2200" b="1" dirty="0" i="0">
                  <a:solidFill>
                    <a:schemeClr val="accent4"/>
                  </a:solidFill>
                </a:rPr>
                <a:t>131</a:t>
              </a:r>
              <a:r>
                <a:rPr lang="ru-RU" sz="2200" b="1" dirty="0" i="0">
                  <a:solidFill>
                    <a:schemeClr val="accent4"/>
                  </a:solidFill>
                </a:rPr>
                <a:t> </a:t>
              </a:r>
              <a:r>
                <a:rPr lang="en-US" sz="1100" b="1" dirty="0" i="0">
                  <a:solidFill>
                    <a:schemeClr val="tx1"/>
                  </a:solidFill>
                </a:rPr>
                <a:t>ПШЕ</a:t>
              </a:r>
            </a:p>
          </p:txBody>
        </p:sp>
        <p:sp>
          <p:nvSpPr>
            <p:cNvPr id="9" name="KPI: подпись">
              <a:extLst>
                <a:ext uri="{FF2B5EF4-FFF2-40B4-BE49-F238E27FC236}">
                  <a16:creationId xmlns:a16="http://schemas.microsoft.com/office/drawing/2014/main" id="{C0F5063F-5A67-4228-0732-09EEFCE61FA8}"/>
                </a:ext>
              </a:extLst>
            </p:cNvPr>
            <p:cNvSpPr/>
            <p:nvPr/>
          </p:nvSpPr>
          <p:spPr>
            <a:xfrm>
              <a:off x="10290018" y="841248"/>
              <a:ext cx="1371600" cy="420624"/>
            </a:xfrm>
            <a:prstGeom prst="rect">
              <a:avLst/>
            </a:prstGeom>
            <a:noFill/>
            <a:ln/>
          </p:spPr>
          <p:txBody>
            <a:bodyPr wrap="none" rtlCol="0" anchor="ctr" lIns="0" tIns="0" rIns="0" bIns="0">
              <a:noAutofit/>
            </a:bodyPr>
            <a:lstStyle/>
            <a:p>
              <a:pPr algn="l">
                <a:defRPr/>
              </a:pPr>
              <a:r>
                <a:rPr lang="en-US" sz="1000" dirty="0" err="1" b="0" i="0">
                  <a:solidFill>
                    <a:srgbClr val="6B7785"/>
                  </a:solidFill>
                </a:rPr>
                <a:t>Всего</a:t>
              </a:r>
              <a:r>
                <a:rPr lang="en-US" sz="1000" dirty="0" b="0" i="0">
                  <a:solidFill>
                    <a:srgbClr val="6B7785"/>
                  </a:solidFill>
                </a:rPr>
                <a:t> </a:t>
              </a:r>
              <a:r>
                <a:rPr lang="ru-RU" sz="1000" dirty="0" b="0" i="0">
                  <a:solidFill>
                    <a:srgbClr val="6B7785"/>
                  </a:solidFill>
                </a:rPr>
                <a:t>на</a:t>
              </a:r>
              <a:r>
                <a:rPr lang="en-US" sz="1000" dirty="0" b="0" i="0">
                  <a:solidFill>
                    <a:srgbClr val="6B7785"/>
                  </a:solidFill>
                </a:rPr>
                <a:t> программе</a:t>
              </a:r>
              <a:endParaRPr lang="en-US" sz="1000" dirty="0" b="0" i="0">
                <a:solidFill>
                  <a:srgbClr val="6B7785"/>
                </a:solidFill>
              </a:endParaRPr>
            </a:p>
          </p:txBody>
        </p:sp>
      </p:grpSp>
      <p:grpSp>
        <p:nvGrpSpPr>
          <p:cNvPr id="130" name="График: Укомплектованность"/>
          <p:cNvGrpSpPr/>
          <p:nvPr/>
        </p:nvGrpSpPr>
        <p:grpSpPr>
          <a:xfrm>
            <a:off x="457200" y="1389888"/>
            <a:ext cx="2971800" cy="1645920"/>
            <a:chOff x="457200" y="1389888"/>
            <a:chExt cx="2971800" cy="1645920"/>
          </a:xfrm>
        </p:grpSpPr>
        <p:sp>
          <p:nvSpPr>
            <p:cNvPr id="125" name="Карточка: Укомплектованность"/>
            <p:cNvSpPr/>
            <p:nvPr/>
          </p:nvSpPr>
          <p:spPr>
            <a:xfrm>
              <a:off x="457200" y="1389888"/>
              <a:ext cx="2971800" cy="1645920"/>
            </a:xfrm>
            <a:prstGeom prst="roundRect">
              <a:avLst>
                <a:gd name="adj" fmla="val 5500"/>
              </a:avLst>
            </a:prstGeom>
            <a:solidFill>
              <a:schemeClr val="bg1"/>
            </a:solidFill>
            <a:ln w="9525">
              <a:solidFill>
                <a:srgbClr val="DCE5E9"/>
              </a:solidFill>
            </a:ln>
            <a:effectLst>
              <a:outerShdw blurRad="63500" dist="12700" dir="5400000" algn="t" rotWithShape="0">
                <a:srgbClr val="262F36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Заголовок: Укомплектованность">
              <a:extLst>
                <a:ext uri="{FF2B5EF4-FFF2-40B4-BE49-F238E27FC236}">
                  <a16:creationId xmlns:a16="http://schemas.microsoft.com/office/drawing/2014/main" id="{9876A19B-E7F5-CA68-F559-678A05E06188}"/>
                </a:ext>
              </a:extLst>
            </p:cNvPr>
            <p:cNvSpPr/>
            <p:nvPr/>
          </p:nvSpPr>
          <p:spPr>
            <a:xfrm>
              <a:off x="594360" y="1481328"/>
              <a:ext cx="2697480" cy="256032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algn="l">
                <a:defRPr/>
              </a:pPr>
              <a:r>
                <a:rPr lang="en-US" sz="1050" b="1" dirty="0" i="0">
                  <a:solidFill>
                    <a:schemeClr val="tx1"/>
                  </a:solidFill>
                </a:rPr>
                <a:t>УКОМПЛЕКТОВАННОСТЬ ПРОГРАММЫ</a:t>
              </a:r>
              <a:endParaRPr lang="en-US" sz="1050" dirty="0" b="1" i="0">
                <a:solidFill>
                  <a:schemeClr val="tx1"/>
                </a:solidFill>
              </a:endParaRPr>
            </a:p>
          </p:txBody>
        </p:sp>
        <p:graphicFrame>
          <p:nvGraphicFramePr>
            <p:cNvPr id="11" name="График: Укомплектованность (кольцо)" descr="Кольцевая диаграмма: занято 117 ПШЕ, дефицит 14 ПШЕ">
              <a:extLst>
                <a:ext uri="{FF2B5EF4-FFF2-40B4-BE49-F238E27FC236}">
                  <a16:creationId xmlns:a16="http://schemas.microsoft.com/office/drawing/2014/main" id="{FA90B5A5-0E01-F817-EAA0-2B543F04DA1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97749300"/>
                </p:ext>
              </p:extLst>
            </p:nvPr>
          </p:nvGraphicFramePr>
          <p:xfrm>
            <a:off x="548640" y="1810512"/>
            <a:ext cx="2788920" cy="109728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</p:grpSp>
      <p:grpSp>
        <p:nvGrpSpPr>
          <p:cNvPr id="131" name="График: Структура компетенций"/>
          <p:cNvGrpSpPr/>
          <p:nvPr/>
        </p:nvGrpSpPr>
        <p:grpSpPr>
          <a:xfrm>
            <a:off x="3566160" y="1389888"/>
            <a:ext cx="3337560" cy="1645920"/>
            <a:chOff x="3566160" y="1389888"/>
            <a:chExt cx="3337560" cy="1645920"/>
          </a:xfrm>
        </p:grpSpPr>
        <p:sp>
          <p:nvSpPr>
            <p:cNvPr id="126" name="Карточка: Структура компетенций"/>
            <p:cNvSpPr/>
            <p:nvPr/>
          </p:nvSpPr>
          <p:spPr>
            <a:xfrm>
              <a:off x="3566160" y="1389888"/>
              <a:ext cx="3337560" cy="1645920"/>
            </a:xfrm>
            <a:prstGeom prst="roundRect">
              <a:avLst>
                <a:gd name="adj" fmla="val 5500"/>
              </a:avLst>
            </a:prstGeom>
            <a:solidFill>
              <a:schemeClr val="bg1"/>
            </a:solidFill>
            <a:ln w="9525">
              <a:solidFill>
                <a:srgbClr val="DCE5E9"/>
              </a:solidFill>
            </a:ln>
            <a:effectLst>
              <a:outerShdw blurRad="63500" dist="12700" dir="5400000" algn="t" rotWithShape="0">
                <a:srgbClr val="262F36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Заголовок: Структура компетенций">
              <a:extLst>
                <a:ext uri="{FF2B5EF4-FFF2-40B4-BE49-F238E27FC236}">
                  <a16:creationId xmlns:a16="http://schemas.microsoft.com/office/drawing/2014/main" id="{69D60A6E-DCD4-417F-DD79-96BA06E8FB81}"/>
                </a:ext>
              </a:extLst>
            </p:cNvPr>
            <p:cNvSpPr/>
            <p:nvPr/>
          </p:nvSpPr>
          <p:spPr>
            <a:xfrm>
              <a:off x="3703320" y="1481328"/>
              <a:ext cx="3063240" cy="256032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algn="l">
                <a:defRPr/>
              </a:pPr>
              <a:r>
                <a:rPr lang="en-US" sz="1050" b="1" dirty="0" i="0">
                  <a:solidFill>
                    <a:schemeClr val="tx1"/>
                  </a:solidFill>
                </a:rPr>
                <a:t>СТРУКТУРА КОМПЕТЕНЦИЙ (ПШЕ)</a:t>
              </a:r>
            </a:p>
          </p:txBody>
        </p:sp>
        <p:graphicFrame>
          <p:nvGraphicFramePr>
            <p:cNvPr id="16" name="График: Структура компетенций (кольцо)" descr="Кольцевая диаграмма: структура компетенций по направлениям, ПШЕ">
              <a:extLst>
                <a:ext uri="{FF2B5EF4-FFF2-40B4-BE49-F238E27FC236}">
                  <a16:creationId xmlns:a16="http://schemas.microsoft.com/office/drawing/2014/main" id="{176A0D9F-A88D-6A3F-3001-77B5EE47838C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48254302"/>
                </p:ext>
              </p:extLst>
            </p:nvPr>
          </p:nvGraphicFramePr>
          <p:xfrm>
            <a:off x="3657600" y="1810512"/>
            <a:ext cx="3154680" cy="1097280"/>
          </p:xfrm>
          <a:graphic>
            <a:graphicData uri="http://schemas.openxmlformats.org/drawingml/2006/chart">
              <c:chart xmlns:c="http://schemas.openxmlformats.org/drawingml/2006/chart" r:id="rId3"/>
            </a:graphicData>
          </a:graphic>
        </p:graphicFrame>
      </p:grpSp>
      <p:grpSp>
        <p:nvGrpSpPr>
          <p:cNvPr id="132" name="График: Обеспеченность компонентов"/>
          <p:cNvGrpSpPr/>
          <p:nvPr/>
        </p:nvGrpSpPr>
        <p:grpSpPr>
          <a:xfrm>
            <a:off x="7040880" y="1389888"/>
            <a:ext cx="4693890" cy="1645920"/>
            <a:chOff x="7040880" y="1389888"/>
            <a:chExt cx="4693890" cy="1645920"/>
          </a:xfrm>
        </p:grpSpPr>
        <p:sp>
          <p:nvSpPr>
            <p:cNvPr id="127" name="Карточка: Обеспеченность компонентов"/>
            <p:cNvSpPr/>
            <p:nvPr/>
          </p:nvSpPr>
          <p:spPr>
            <a:xfrm>
              <a:off x="7040880" y="1389888"/>
              <a:ext cx="4693890" cy="1645920"/>
            </a:xfrm>
            <a:prstGeom prst="roundRect">
              <a:avLst>
                <a:gd name="adj" fmla="val 5500"/>
              </a:avLst>
            </a:prstGeom>
            <a:solidFill>
              <a:schemeClr val="bg1"/>
            </a:solidFill>
            <a:ln w="9525">
              <a:solidFill>
                <a:srgbClr val="DCE5E9"/>
              </a:solidFill>
            </a:ln>
            <a:effectLst>
              <a:outerShdw blurRad="63500" dist="12700" dir="5400000" algn="t" rotWithShape="0">
                <a:srgbClr val="262F36">
                  <a:alpha val="9000"/>
                </a:srgbClr>
              </a:outerShdw>
            </a:effectLst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Заголовок: Обеспеченность компонентов">
              <a:extLst>
                <a:ext uri="{FF2B5EF4-FFF2-40B4-BE49-F238E27FC236}">
                  <a16:creationId xmlns:a16="http://schemas.microsoft.com/office/drawing/2014/main" id="{751BD7B4-D722-DCC2-54C2-77F06F85089D}"/>
                </a:ext>
              </a:extLst>
            </p:cNvPr>
            <p:cNvSpPr/>
            <p:nvPr/>
          </p:nvSpPr>
          <p:spPr>
            <a:xfrm>
              <a:off x="7178040" y="1481328"/>
              <a:ext cx="4419570" cy="256032"/>
            </a:xfrm>
            <a:prstGeom prst="rect">
              <a:avLst/>
            </a:prstGeom>
            <a:noFill/>
            <a:ln/>
          </p:spPr>
          <p:txBody>
            <a:bodyPr wrap="square" rtlCol="0" anchor="ctr" lIns="0" tIns="0" rIns="0" bIns="0">
              <a:noAutofit/>
            </a:bodyPr>
            <a:lstStyle/>
            <a:p>
              <a:pPr algn="l">
                <a:defRPr/>
              </a:pPr>
              <a:r>
                <a:rPr lang="en-US" sz="1050" b="1" dirty="0" i="0">
                  <a:solidFill>
                    <a:schemeClr val="tx1"/>
                  </a:solidFill>
                </a:rPr>
                <a:t>ОБЕСПЕЧЕННОСТЬ КОМПОНЕНТОВ</a:t>
              </a:r>
            </a:p>
          </p:txBody>
        </p:sp>
        <p:graphicFrame>
          <p:nvGraphicFramePr>
            <p:cNvPr id="39" name="График: Обеспеченность компонентов (столбцы)" descr="Столбчатая диаграмма: факт и план по компонентам, ПШЕ">
              <a:extLst>
                <a:ext uri="{FF2B5EF4-FFF2-40B4-BE49-F238E27FC236}">
                  <a16:creationId xmlns:a16="http://schemas.microsoft.com/office/drawing/2014/main" id="{A474DDE8-235F-972D-3CAA-3B55BAF58251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460110523"/>
                </p:ext>
              </p:extLst>
            </p:nvPr>
          </p:nvGraphicFramePr>
          <p:xfrm>
            <a:off x="7114032" y="1792224"/>
            <a:ext cx="4547586" cy="1152144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29523264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PMO 26">
      <a:dk1>
        <a:srgbClr val="262F36"/>
      </a:dk1>
      <a:lt1>
        <a:srgbClr val="FFFFFF"/>
      </a:lt1>
      <a:dk2>
        <a:srgbClr val="000000"/>
      </a:dk2>
      <a:lt2>
        <a:srgbClr val="F8FBFC"/>
      </a:lt2>
      <a:accent1>
        <a:srgbClr val="4FFE01"/>
      </a:accent1>
      <a:accent2>
        <a:srgbClr val="28D180"/>
      </a:accent2>
      <a:accent3>
        <a:srgbClr val="3FAD9B"/>
      </a:accent3>
      <a:accent4>
        <a:srgbClr val="0F9C58"/>
      </a:accent4>
      <a:accent5>
        <a:srgbClr val="15BAC0"/>
      </a:accent5>
      <a:accent6>
        <a:srgbClr val="008191"/>
      </a:accent6>
      <a:hlink>
        <a:srgbClr val="333F48"/>
      </a:hlink>
      <a:folHlink>
        <a:srgbClr val="333F48"/>
      </a:folHlink>
    </a:clrScheme>
    <a:fontScheme name="2gis">
      <a:majorFont>
        <a:latin typeface="SB Sans Display Semibold"/>
        <a:ea typeface=""/>
        <a:cs typeface=""/>
      </a:majorFont>
      <a:minorFont>
        <a:latin typeface="SB Sans Display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noFill/>
        </a:ln>
        <a:effectLst/>
      </a:spPr>
      <a:bodyPr wrap="square" lIns="0" tIns="0" rIns="0" bIns="0" rtlCol="0" anchor="ctr" anchorCtr="0">
        <a:sp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ts val="600"/>
          </a:spcAft>
          <a:buClrTx/>
          <a:buSzTx/>
          <a:buFontTx/>
          <a:buNone/>
          <a:tabLst/>
          <a:defRPr sz="1600" kern="0" spc="-50" dirty="0" smtClean="0">
            <a:solidFill>
              <a:schemeClr val="tx1"/>
            </a:solidFill>
            <a:latin typeface="SB Sans Display" panose="020B0503040504020204" pitchFamily="34" charset="0"/>
            <a:cs typeface="SB Sans Display" panose="020B0503040504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  <a:lumOff val="50000"/>
              <a:alpha val="85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3178</TotalTime>
  <Words>369</Words>
  <Application>Microsoft Macintosh PowerPoint</Application>
  <PresentationFormat>Широкоэкранный</PresentationFormat>
  <Paragraphs>115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Aptos</vt:lpstr>
      <vt:lpstr>Arial</vt:lpstr>
      <vt:lpstr>SB Sans Display</vt:lpstr>
      <vt:lpstr>SB Sans Display Light</vt:lpstr>
      <vt:lpstr>SB Sans Display Semibold</vt:lpstr>
      <vt:lpstr>Специальное оформление</vt:lpstr>
      <vt:lpstr>Ресурсы программы Цифровой двойник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2</cp:revision>
  <dcterms:created xsi:type="dcterms:W3CDTF">2026-08-28T15:54:20Z</dcterms:created>
  <dcterms:modified xsi:type="dcterms:W3CDTF">2026-10-07T16:13:32Z</dcterms:modified>
</cp:coreProperties>
</file>