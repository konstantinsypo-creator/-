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  <p:sldMasterId id="2147483666" r:id="rId2"/>
  </p:sldMasterIdLst>
  <p:notesMasterIdLst>
    <p:notesMasterId r:id="rId12"/>
  </p:notesMasterIdLst>
  <p:sldIdLst>
    <p:sldId id="261" r:id="rId3"/>
    <p:sldId id="257" r:id="rId4"/>
    <p:sldId id="265" r:id="rId5"/>
    <p:sldId id="324" r:id="rId6"/>
    <p:sldId id="264" r:id="rId7"/>
    <p:sldId id="256" r:id="rId8"/>
    <p:sldId id="298" r:id="rId9"/>
    <p:sldId id="306" r:id="rId10"/>
    <p:sldId id="31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B297B20-6D5A-D344-A296-506FFAB1CB60}">
          <p14:sldIdLst>
            <p14:sldId id="261"/>
            <p14:sldId id="257"/>
            <p14:sldId id="265"/>
            <p14:sldId id="324"/>
            <p14:sldId id="264"/>
            <p14:sldId id="256"/>
          </p14:sldIdLst>
        </p14:section>
        <p14:section name="Раздел без заголовка" id="{A3D1379C-7EC2-AD41-A66D-09A249BE277D}">
          <p14:sldIdLst>
            <p14:sldId id="298"/>
            <p14:sldId id="306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36"/>
    <p:restoredTop sz="95940"/>
  </p:normalViewPr>
  <p:slideViewPr>
    <p:cSldViewPr snapToGrid="0">
      <p:cViewPr varScale="1">
        <p:scale>
          <a:sx n="75" d="100"/>
          <a:sy n="75" d="100"/>
        </p:scale>
        <p:origin x="176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B3473-27DD-3F45-BE5A-2BC36CB0733D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356AB-37E9-F64B-B41C-3F6234C3FF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945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21.18%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goal_short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24.46%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vehicle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3.82%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0.66%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2.09%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2.82%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purchases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32.91%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places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0.76%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1.63%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preferences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1.95%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0.19%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realty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1.59%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3.22%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0.80%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forget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0.06%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0.17%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beliefs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0.17%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education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0.44%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travel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0.09%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goal_long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0.19%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leisure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0.59%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physiology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0.22%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8356AB-37E9-F64B-B41C-3F6234C3FFC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991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РАМКИ СРАВНЕНИЯ</a:t>
            </a:r>
          </a:p>
          <a:p>
            <a:r>
              <a:rPr dirty="0"/>
              <a:t>«</a:t>
            </a:r>
            <a:r>
              <a:rPr dirty="0" err="1"/>
              <a:t>Близость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сценарию</a:t>
            </a:r>
            <a:r>
              <a:rPr dirty="0"/>
              <a:t>»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близость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знакомству</a:t>
            </a:r>
            <a:r>
              <a:rPr dirty="0"/>
              <a:t>,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котором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</a:t>
            </a:r>
            <a:r>
              <a:rPr dirty="0" err="1"/>
              <a:t>о</a:t>
            </a:r>
            <a:r>
              <a:rPr dirty="0"/>
              <a:t> </a:t>
            </a:r>
            <a:r>
              <a:rPr dirty="0" err="1"/>
              <a:t>человеке</a:t>
            </a:r>
            <a:r>
              <a:rPr dirty="0"/>
              <a:t> </a:t>
            </a:r>
            <a:r>
              <a:rPr dirty="0" err="1"/>
              <a:t>определяют</a:t>
            </a:r>
            <a:r>
              <a:rPr dirty="0"/>
              <a:t> </a:t>
            </a:r>
            <a:r>
              <a:rPr dirty="0" err="1"/>
              <a:t>персональный</a:t>
            </a:r>
            <a:r>
              <a:rPr dirty="0"/>
              <a:t> </a:t>
            </a:r>
            <a:r>
              <a:rPr dirty="0" err="1"/>
              <a:t>первый</a:t>
            </a:r>
            <a:r>
              <a:rPr dirty="0"/>
              <a:t> </a:t>
            </a:r>
            <a:r>
              <a:rPr dirty="0" err="1"/>
              <a:t>опыт</a:t>
            </a:r>
            <a:r>
              <a:rPr dirty="0"/>
              <a:t>. Это </a:t>
            </a:r>
            <a:r>
              <a:rPr dirty="0" err="1"/>
              <a:t>аналитическая</a:t>
            </a:r>
            <a:r>
              <a:rPr dirty="0"/>
              <a:t> </a:t>
            </a: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механики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измерение</a:t>
            </a:r>
            <a:r>
              <a:rPr dirty="0"/>
              <a:t> </a:t>
            </a:r>
            <a:r>
              <a:rPr dirty="0" err="1"/>
              <a:t>удержания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эмоциональной</a:t>
            </a:r>
            <a:r>
              <a:rPr dirty="0"/>
              <a:t> </a:t>
            </a:r>
            <a:r>
              <a:rPr dirty="0" err="1"/>
              <a:t>привязанности</a:t>
            </a:r>
            <a:r>
              <a:rPr dirty="0"/>
              <a:t>. Публичные </a:t>
            </a:r>
            <a:r>
              <a:rPr dirty="0" err="1"/>
              <a:t>источники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доказывают</a:t>
            </a:r>
            <a:r>
              <a:rPr dirty="0"/>
              <a:t> </a:t>
            </a:r>
            <a:r>
              <a:rPr dirty="0" err="1"/>
              <a:t>причинный</a:t>
            </a:r>
            <a:r>
              <a:rPr dirty="0"/>
              <a:t> </a:t>
            </a:r>
            <a:r>
              <a:rPr dirty="0" err="1"/>
              <a:t>эффект</a:t>
            </a:r>
            <a:r>
              <a:rPr dirty="0"/>
              <a:t> </a:t>
            </a:r>
            <a:r>
              <a:rPr dirty="0" err="1"/>
              <a:t>этих</a:t>
            </a:r>
            <a:r>
              <a:rPr dirty="0"/>
              <a:t> </a:t>
            </a:r>
            <a:r>
              <a:rPr dirty="0" err="1"/>
              <a:t>механик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эмоциональную</a:t>
            </a:r>
            <a:r>
              <a:rPr dirty="0"/>
              <a:t> </a:t>
            </a:r>
            <a:r>
              <a:rPr dirty="0" err="1"/>
              <a:t>привязанность</a:t>
            </a:r>
            <a:r>
              <a:rPr dirty="0"/>
              <a:t>. </a:t>
            </a:r>
            <a:r>
              <a:rPr dirty="0" err="1"/>
              <a:t>Настройки</a:t>
            </a:r>
            <a:r>
              <a:rPr dirty="0"/>
              <a:t>, </a:t>
            </a:r>
            <a:r>
              <a:rPr dirty="0" err="1"/>
              <a:t>включение</a:t>
            </a:r>
            <a:r>
              <a:rPr dirty="0"/>
              <a:t> </a:t>
            </a:r>
            <a:r>
              <a:rPr dirty="0" err="1"/>
              <a:t>персонализации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подключение</a:t>
            </a:r>
            <a:r>
              <a:rPr dirty="0"/>
              <a:t> </a:t>
            </a:r>
            <a:r>
              <a:rPr dirty="0" err="1"/>
              <a:t>контекста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трактуются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обязательное</a:t>
            </a:r>
            <a:r>
              <a:rPr dirty="0"/>
              <a:t> </a:t>
            </a:r>
            <a:r>
              <a:rPr dirty="0" err="1"/>
              <a:t>интервью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регистрации</a:t>
            </a:r>
            <a:r>
              <a:rPr dirty="0"/>
              <a:t>. </a:t>
            </a:r>
            <a:r>
              <a:rPr dirty="0" err="1"/>
              <a:t>Интерфейсы</a:t>
            </a:r>
            <a:r>
              <a:rPr dirty="0"/>
              <a:t>, </a:t>
            </a:r>
            <a:r>
              <a:rPr dirty="0" err="1"/>
              <a:t>тарифы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география</a:t>
            </a:r>
            <a:r>
              <a:rPr dirty="0"/>
              <a:t> </a:t>
            </a:r>
            <a:r>
              <a:rPr dirty="0" err="1"/>
              <a:t>доступности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различаться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CLAUDE</a:t>
            </a:r>
          </a:p>
          <a:p>
            <a:r>
              <a:rPr dirty="0" err="1"/>
              <a:t>Опубликованный</a:t>
            </a:r>
            <a:r>
              <a:rPr dirty="0"/>
              <a:t> </a:t>
            </a:r>
            <a:r>
              <a:rPr dirty="0" err="1"/>
              <a:t>разбор</a:t>
            </a:r>
            <a:r>
              <a:rPr dirty="0"/>
              <a:t> </a:t>
            </a:r>
            <a:r>
              <a:rPr dirty="0" err="1"/>
              <a:t>Supademo</a:t>
            </a:r>
            <a:r>
              <a:rPr dirty="0"/>
              <a:t>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шага</a:t>
            </a:r>
            <a:r>
              <a:rPr dirty="0"/>
              <a:t> </a:t>
            </a:r>
            <a:r>
              <a:rPr dirty="0" err="1"/>
              <a:t>персонализации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чатом</a:t>
            </a:r>
            <a:r>
              <a:rPr dirty="0"/>
              <a:t>: </a:t>
            </a:r>
            <a:r>
              <a:rPr dirty="0" err="1"/>
              <a:t>имя</a:t>
            </a:r>
            <a:r>
              <a:rPr dirty="0"/>
              <a:t>, </a:t>
            </a:r>
            <a:r>
              <a:rPr dirty="0" err="1"/>
              <a:t>области</a:t>
            </a:r>
            <a:r>
              <a:rPr dirty="0"/>
              <a:t> </a:t>
            </a:r>
            <a:r>
              <a:rPr dirty="0" err="1"/>
              <a:t>интересов</a:t>
            </a:r>
            <a:r>
              <a:rPr dirty="0"/>
              <a:t>, </a:t>
            </a:r>
            <a:r>
              <a:rPr dirty="0" err="1"/>
              <a:t>предпочитаемый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.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ответов</a:t>
            </a:r>
            <a:r>
              <a:rPr dirty="0"/>
              <a:t> </a:t>
            </a:r>
            <a:r>
              <a:rPr dirty="0" err="1"/>
              <a:t>получается</a:t>
            </a:r>
            <a:r>
              <a:rPr dirty="0"/>
              <a:t> </a:t>
            </a:r>
            <a:r>
              <a:rPr dirty="0" err="1"/>
              <a:t>первый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отправить</a:t>
            </a:r>
            <a:r>
              <a:rPr dirty="0"/>
              <a:t>, </a:t>
            </a:r>
            <a:r>
              <a:rPr dirty="0" err="1"/>
              <a:t>отредактировать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проигнорировать</a:t>
            </a:r>
            <a:r>
              <a:rPr dirty="0"/>
              <a:t>. Это </a:t>
            </a:r>
            <a:r>
              <a:rPr dirty="0" err="1"/>
              <a:t>наблюдение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опубликованного</a:t>
            </a:r>
            <a:r>
              <a:rPr dirty="0"/>
              <a:t> </a:t>
            </a:r>
            <a:r>
              <a:rPr dirty="0" err="1"/>
              <a:t>прохождения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подтверждение</a:t>
            </a:r>
            <a:r>
              <a:rPr dirty="0"/>
              <a:t> </a:t>
            </a:r>
            <a:r>
              <a:rPr dirty="0" err="1"/>
              <a:t>одинакового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онбординга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. </a:t>
            </a:r>
            <a:r>
              <a:rPr dirty="0" err="1"/>
              <a:t>Сохранение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ответов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долговременную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устанавливает</a:t>
            </a:r>
            <a:r>
              <a:rPr dirty="0"/>
              <a:t>.</a:t>
            </a:r>
          </a:p>
          <a:p>
            <a:r>
              <a:rPr dirty="0"/>
              <a:t>https://</a:t>
            </a:r>
            <a:r>
              <a:rPr dirty="0" err="1"/>
              <a:t>supademo.com</a:t>
            </a:r>
            <a:r>
              <a:rPr dirty="0"/>
              <a:t>/user-flow-examples/</a:t>
            </a:r>
            <a:r>
              <a:rPr dirty="0" err="1"/>
              <a:t>claude</a:t>
            </a:r>
            <a:endParaRPr dirty="0"/>
          </a:p>
          <a:p>
            <a:endParaRPr dirty="0"/>
          </a:p>
          <a:p>
            <a:r>
              <a:rPr dirty="0"/>
              <a:t>CHATGPT</a:t>
            </a:r>
          </a:p>
          <a:p>
            <a:r>
              <a:rPr dirty="0"/>
              <a:t>Официальное </a:t>
            </a:r>
            <a:r>
              <a:rPr dirty="0" err="1"/>
              <a:t>руководство</a:t>
            </a:r>
            <a:r>
              <a:rPr dirty="0"/>
              <a:t>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характера</a:t>
            </a:r>
            <a:r>
              <a:rPr dirty="0"/>
              <a:t> </a:t>
            </a:r>
            <a:r>
              <a:rPr dirty="0" err="1"/>
              <a:t>общения</a:t>
            </a:r>
            <a:r>
              <a:rPr dirty="0"/>
              <a:t>, </a:t>
            </a:r>
            <a:r>
              <a:rPr dirty="0" err="1"/>
              <a:t>персональные</a:t>
            </a:r>
            <a:r>
              <a:rPr dirty="0"/>
              <a:t> </a:t>
            </a:r>
            <a:r>
              <a:rPr dirty="0" err="1"/>
              <a:t>инструкции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, </a:t>
            </a:r>
            <a:r>
              <a:rPr dirty="0" err="1"/>
              <a:t>переносящую</a:t>
            </a:r>
            <a:r>
              <a:rPr dirty="0"/>
              <a:t> </a:t>
            </a:r>
            <a:r>
              <a:rPr dirty="0" err="1"/>
              <a:t>полезные</a:t>
            </a:r>
            <a:r>
              <a:rPr dirty="0"/>
              <a:t> </a:t>
            </a:r>
            <a:r>
              <a:rPr dirty="0" err="1"/>
              <a:t>предпочтения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контекст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разговорами</a:t>
            </a:r>
            <a:r>
              <a:rPr dirty="0"/>
              <a:t>. </a:t>
            </a:r>
            <a:r>
              <a:rPr dirty="0" err="1"/>
              <a:t>Обязательное</a:t>
            </a:r>
            <a:r>
              <a:rPr dirty="0"/>
              <a:t> </a:t>
            </a:r>
            <a:r>
              <a:rPr dirty="0" err="1"/>
              <a:t>стартовое</a:t>
            </a:r>
            <a:r>
              <a:rPr dirty="0"/>
              <a:t> </a:t>
            </a:r>
            <a:r>
              <a:rPr dirty="0" err="1"/>
              <a:t>интервью</a:t>
            </a:r>
            <a:r>
              <a:rPr dirty="0"/>
              <a:t> </a:t>
            </a:r>
            <a:r>
              <a:rPr dirty="0" err="1"/>
              <a:t>о</a:t>
            </a:r>
            <a:r>
              <a:rPr dirty="0"/>
              <a:t> </a:t>
            </a:r>
            <a:r>
              <a:rPr dirty="0" err="1"/>
              <a:t>человеке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проверенной</a:t>
            </a:r>
            <a:r>
              <a:rPr dirty="0"/>
              <a:t> </a:t>
            </a:r>
            <a:r>
              <a:rPr dirty="0" err="1"/>
              <a:t>документации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подтверждено</a:t>
            </a:r>
            <a:r>
              <a:rPr dirty="0"/>
              <a:t>.</a:t>
            </a:r>
          </a:p>
          <a:p>
            <a:r>
              <a:rPr dirty="0"/>
              <a:t>https://</a:t>
            </a:r>
            <a:r>
              <a:rPr dirty="0" err="1"/>
              <a:t>learn.chatgpt.com</a:t>
            </a:r>
            <a:r>
              <a:rPr dirty="0"/>
              <a:t>/docs/personalize</a:t>
            </a:r>
          </a:p>
          <a:p>
            <a:r>
              <a:rPr dirty="0"/>
              <a:t>https://</a:t>
            </a:r>
            <a:r>
              <a:rPr dirty="0" err="1"/>
              <a:t>learn.chatgpt.com</a:t>
            </a:r>
            <a:r>
              <a:rPr dirty="0"/>
              <a:t>/docs/customization/memories</a:t>
            </a:r>
          </a:p>
          <a:p>
            <a:endParaRPr dirty="0"/>
          </a:p>
          <a:p>
            <a:r>
              <a:rPr dirty="0"/>
              <a:t>GEMINI</a:t>
            </a:r>
          </a:p>
          <a:p>
            <a:r>
              <a:rPr dirty="0"/>
              <a:t>Официальное </a:t>
            </a:r>
            <a:r>
              <a:rPr dirty="0" err="1"/>
              <a:t>объявление</a:t>
            </a:r>
            <a:r>
              <a:rPr dirty="0"/>
              <a:t> Personal Intelligence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добровольное</a:t>
            </a:r>
            <a:r>
              <a:rPr dirty="0"/>
              <a:t> </a:t>
            </a:r>
            <a:r>
              <a:rPr dirty="0" err="1"/>
              <a:t>подключение</a:t>
            </a:r>
            <a:r>
              <a:rPr dirty="0"/>
              <a:t> </a:t>
            </a:r>
            <a:r>
              <a:rPr dirty="0" err="1"/>
              <a:t>личного</a:t>
            </a:r>
            <a:r>
              <a:rPr dirty="0"/>
              <a:t> </a:t>
            </a:r>
            <a:r>
              <a:rPr dirty="0" err="1"/>
              <a:t>контекста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Google-</a:t>
            </a:r>
            <a:r>
              <a:rPr dirty="0" err="1"/>
              <a:t>приложений</a:t>
            </a:r>
            <a:r>
              <a:rPr dirty="0"/>
              <a:t>. </a:t>
            </a:r>
            <a:r>
              <a:rPr dirty="0" err="1"/>
              <a:t>Отдельная</a:t>
            </a:r>
            <a:r>
              <a:rPr dirty="0"/>
              <a:t> </a:t>
            </a:r>
            <a:r>
              <a:rPr dirty="0" err="1"/>
              <a:t>публикация</a:t>
            </a:r>
            <a:r>
              <a:rPr dirty="0"/>
              <a:t> Google </a:t>
            </a:r>
            <a:r>
              <a:rPr dirty="0" err="1"/>
              <a:t>о</a:t>
            </a:r>
            <a:r>
              <a:rPr dirty="0"/>
              <a:t> </a:t>
            </a:r>
            <a:r>
              <a:rPr dirty="0" err="1"/>
              <a:t>запуске</a:t>
            </a:r>
            <a:r>
              <a:rPr dirty="0"/>
              <a:t> </a:t>
            </a:r>
            <a:r>
              <a:rPr dirty="0" err="1"/>
              <a:t>персонализации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Великобритании</a:t>
            </a:r>
            <a:r>
              <a:rPr dirty="0"/>
              <a:t>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перенос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другого</a:t>
            </a:r>
            <a:r>
              <a:rPr dirty="0"/>
              <a:t> </a:t>
            </a:r>
            <a:r>
              <a:rPr dirty="0" err="1"/>
              <a:t>ассистента</a:t>
            </a:r>
            <a:r>
              <a:rPr dirty="0"/>
              <a:t>: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старого</a:t>
            </a:r>
            <a:r>
              <a:rPr dirty="0"/>
              <a:t> </a:t>
            </a:r>
            <a:r>
              <a:rPr dirty="0" err="1"/>
              <a:t>ассистента</a:t>
            </a:r>
            <a:r>
              <a:rPr dirty="0"/>
              <a:t>, </a:t>
            </a:r>
            <a:r>
              <a:rPr dirty="0" err="1"/>
              <a:t>копирует</a:t>
            </a:r>
            <a:r>
              <a:rPr dirty="0"/>
              <a:t> </a:t>
            </a:r>
            <a:r>
              <a:rPr dirty="0" err="1"/>
              <a:t>сформированное</a:t>
            </a:r>
            <a:r>
              <a:rPr dirty="0"/>
              <a:t> </a:t>
            </a:r>
            <a:r>
              <a:rPr dirty="0" err="1"/>
              <a:t>резюме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вставляет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Gemini. </a:t>
            </a:r>
            <a:r>
              <a:rPr dirty="0" err="1"/>
              <a:t>Переносятся</a:t>
            </a:r>
            <a:r>
              <a:rPr dirty="0"/>
              <a:t> </a:t>
            </a:r>
            <a:r>
              <a:rPr dirty="0" err="1"/>
              <a:t>предпочтения</a:t>
            </a:r>
            <a:r>
              <a:rPr dirty="0"/>
              <a:t>, </a:t>
            </a:r>
            <a:r>
              <a:rPr dirty="0" err="1"/>
              <a:t>интересы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отношениях</a:t>
            </a:r>
            <a:r>
              <a:rPr dirty="0"/>
              <a:t>. </a:t>
            </a:r>
            <a:r>
              <a:rPr dirty="0" err="1"/>
              <a:t>Доступность</a:t>
            </a:r>
            <a:r>
              <a:rPr dirty="0"/>
              <a:t> </a:t>
            </a:r>
            <a:r>
              <a:rPr dirty="0" err="1"/>
              <a:t>функций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региона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 </a:t>
            </a:r>
            <a:r>
              <a:rPr dirty="0" err="1"/>
              <a:t>продукта</a:t>
            </a:r>
            <a:r>
              <a:rPr dirty="0"/>
              <a:t>, </a:t>
            </a:r>
            <a:r>
              <a:rPr dirty="0" err="1"/>
              <a:t>всеобщая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утверждается</a:t>
            </a:r>
            <a:r>
              <a:rPr dirty="0"/>
              <a:t>.</a:t>
            </a:r>
          </a:p>
          <a:p>
            <a:r>
              <a:rPr dirty="0"/>
              <a:t>https://</a:t>
            </a:r>
            <a:r>
              <a:rPr dirty="0" err="1"/>
              <a:t>blog.google</a:t>
            </a:r>
            <a:r>
              <a:rPr dirty="0"/>
              <a:t>/innovation-and-ai/products/</a:t>
            </a:r>
            <a:r>
              <a:rPr dirty="0" err="1"/>
              <a:t>gemini</a:t>
            </a:r>
            <a:r>
              <a:rPr dirty="0"/>
              <a:t>-app/personal-intelligence/</a:t>
            </a:r>
          </a:p>
          <a:p>
            <a:r>
              <a:rPr dirty="0"/>
              <a:t>https://</a:t>
            </a:r>
            <a:r>
              <a:rPr dirty="0" err="1"/>
              <a:t>blog.google</a:t>
            </a:r>
            <a:r>
              <a:rPr dirty="0"/>
              <a:t>/company-news/inside-google/around-the-globe/google-</a:t>
            </a:r>
            <a:r>
              <a:rPr dirty="0" err="1"/>
              <a:t>europe</a:t>
            </a:r>
            <a:r>
              <a:rPr dirty="0"/>
              <a:t>/united-kingdom/</a:t>
            </a:r>
            <a:r>
              <a:rPr dirty="0" err="1"/>
              <a:t>gemini</a:t>
            </a:r>
            <a:r>
              <a:rPr dirty="0"/>
              <a:t>-launches-new-</a:t>
            </a:r>
            <a:r>
              <a:rPr dirty="0" err="1"/>
              <a:t>personalisation</a:t>
            </a:r>
            <a:r>
              <a:rPr dirty="0"/>
              <a:t>-features-in-the-</a:t>
            </a:r>
            <a:r>
              <a:rPr dirty="0" err="1"/>
              <a:t>uk</a:t>
            </a:r>
            <a:r>
              <a:rPr dirty="0"/>
              <a:t>/</a:t>
            </a:r>
          </a:p>
          <a:p>
            <a:endParaRPr dirty="0"/>
          </a:p>
          <a:p>
            <a:r>
              <a:rPr dirty="0"/>
              <a:t>MICROSOFT COPILOT</a:t>
            </a:r>
          </a:p>
          <a:p>
            <a:r>
              <a:rPr dirty="0" err="1"/>
              <a:t>Официальная</a:t>
            </a:r>
            <a:r>
              <a:rPr dirty="0"/>
              <a:t> </a:t>
            </a:r>
            <a:r>
              <a:rPr dirty="0" err="1"/>
              <a:t>справка</a:t>
            </a:r>
            <a:r>
              <a:rPr dirty="0"/>
              <a:t>, </a:t>
            </a:r>
            <a:r>
              <a:rPr dirty="0" err="1"/>
              <a:t>раздел</a:t>
            </a:r>
            <a:r>
              <a:rPr dirty="0"/>
              <a:t> Personalization and memory: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включённой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 Copilot </a:t>
            </a:r>
            <a:r>
              <a:rPr dirty="0" err="1"/>
              <a:t>запоминает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разговоров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, </a:t>
            </a:r>
            <a:r>
              <a:rPr dirty="0" err="1"/>
              <a:t>интересы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цели</a:t>
            </a:r>
            <a:r>
              <a:rPr dirty="0"/>
              <a:t>. </a:t>
            </a:r>
            <a:r>
              <a:rPr dirty="0" err="1"/>
              <a:t>Уведомление</a:t>
            </a:r>
            <a:r>
              <a:rPr dirty="0"/>
              <a:t>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начале</a:t>
            </a:r>
            <a:r>
              <a:rPr dirty="0"/>
              <a:t> </a:t>
            </a:r>
            <a:r>
              <a:rPr dirty="0" err="1"/>
              <a:t>первых</a:t>
            </a:r>
            <a:r>
              <a:rPr dirty="0"/>
              <a:t> </a:t>
            </a:r>
            <a:r>
              <a:rPr dirty="0" err="1"/>
              <a:t>нескольких</a:t>
            </a:r>
            <a:r>
              <a:rPr dirty="0"/>
              <a:t> </a:t>
            </a:r>
            <a:r>
              <a:rPr dirty="0" err="1"/>
              <a:t>разговоров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периодически</a:t>
            </a:r>
            <a:r>
              <a:rPr dirty="0"/>
              <a:t>. Это </a:t>
            </a:r>
            <a:r>
              <a:rPr dirty="0" err="1"/>
              <a:t>постепенный</a:t>
            </a:r>
            <a:r>
              <a:rPr dirty="0"/>
              <a:t> </a:t>
            </a:r>
            <a:r>
              <a:rPr dirty="0" err="1"/>
              <a:t>сбор</a:t>
            </a:r>
            <a:r>
              <a:rPr dirty="0"/>
              <a:t> </a:t>
            </a:r>
            <a:r>
              <a:rPr dirty="0" err="1"/>
              <a:t>контекста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ходу</a:t>
            </a:r>
            <a:r>
              <a:rPr dirty="0"/>
              <a:t> </a:t>
            </a:r>
            <a:r>
              <a:rPr dirty="0" err="1"/>
              <a:t>общения</a:t>
            </a:r>
            <a:r>
              <a:rPr dirty="0"/>
              <a:t>, </a:t>
            </a:r>
            <a:r>
              <a:rPr dirty="0" err="1"/>
              <a:t>специальное</a:t>
            </a:r>
            <a:r>
              <a:rPr dirty="0"/>
              <a:t> </a:t>
            </a:r>
            <a:r>
              <a:rPr dirty="0" err="1"/>
              <a:t>стартовое</a:t>
            </a:r>
            <a:r>
              <a:rPr dirty="0"/>
              <a:t> </a:t>
            </a:r>
            <a:r>
              <a:rPr dirty="0" err="1"/>
              <a:t>интервью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подтверждает</a:t>
            </a:r>
            <a:r>
              <a:rPr dirty="0"/>
              <a:t>.</a:t>
            </a:r>
          </a:p>
          <a:p>
            <a:r>
              <a:rPr dirty="0"/>
              <a:t>https://</a:t>
            </a:r>
            <a:r>
              <a:rPr dirty="0" err="1"/>
              <a:t>support.microsoft.com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-us/</a:t>
            </a:r>
            <a:r>
              <a:rPr dirty="0" err="1"/>
              <a:t>microsoft</a:t>
            </a:r>
            <a:r>
              <a:rPr dirty="0"/>
              <a:t>-copilot/privacy-</a:t>
            </a:r>
            <a:r>
              <a:rPr dirty="0" err="1"/>
              <a:t>faq</a:t>
            </a:r>
            <a:r>
              <a:rPr dirty="0"/>
              <a:t>-for-</a:t>
            </a:r>
            <a:r>
              <a:rPr dirty="0" err="1"/>
              <a:t>microsoft</a:t>
            </a:r>
            <a:r>
              <a:rPr dirty="0"/>
              <a:t>-copilot</a:t>
            </a:r>
          </a:p>
          <a:p>
            <a:endParaRPr dirty="0"/>
          </a:p>
          <a:p>
            <a:r>
              <a:rPr dirty="0"/>
              <a:t>DEEPSEEK</a:t>
            </a:r>
          </a:p>
          <a:p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проверенных</a:t>
            </a:r>
            <a:r>
              <a:rPr dirty="0"/>
              <a:t> </a:t>
            </a:r>
            <a:r>
              <a:rPr dirty="0" err="1"/>
              <a:t>публичных</a:t>
            </a:r>
            <a:r>
              <a:rPr dirty="0"/>
              <a:t> </a:t>
            </a:r>
            <a:r>
              <a:rPr dirty="0" err="1"/>
              <a:t>материалах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найдено</a:t>
            </a:r>
            <a:r>
              <a:rPr dirty="0"/>
              <a:t> </a:t>
            </a:r>
            <a:r>
              <a:rPr dirty="0" err="1"/>
              <a:t>достаточного</a:t>
            </a:r>
            <a:r>
              <a:rPr dirty="0"/>
              <a:t> </a:t>
            </a:r>
            <a:r>
              <a:rPr dirty="0" err="1"/>
              <a:t>подтверждения</a:t>
            </a:r>
            <a:r>
              <a:rPr dirty="0"/>
              <a:t> </a:t>
            </a:r>
            <a:r>
              <a:rPr dirty="0" err="1"/>
              <a:t>специального</a:t>
            </a:r>
            <a:r>
              <a:rPr dirty="0"/>
              <a:t> </a:t>
            </a:r>
            <a:r>
              <a:rPr dirty="0" err="1"/>
              <a:t>сценария</a:t>
            </a:r>
            <a:r>
              <a:rPr dirty="0"/>
              <a:t> </a:t>
            </a:r>
            <a:r>
              <a:rPr dirty="0" err="1"/>
              <a:t>знакомства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вопросами</a:t>
            </a:r>
            <a:r>
              <a:rPr dirty="0"/>
              <a:t> </a:t>
            </a:r>
            <a:r>
              <a:rPr dirty="0" err="1"/>
              <a:t>о</a:t>
            </a:r>
            <a:r>
              <a:rPr dirty="0"/>
              <a:t> </a:t>
            </a:r>
            <a:r>
              <a:rPr dirty="0" err="1"/>
              <a:t>пользователе</a:t>
            </a:r>
            <a:r>
              <a:rPr dirty="0"/>
              <a:t>. Это </a:t>
            </a:r>
            <a:r>
              <a:rPr dirty="0" err="1"/>
              <a:t>ограничение</a:t>
            </a:r>
            <a:r>
              <a:rPr dirty="0"/>
              <a:t> </a:t>
            </a:r>
            <a:r>
              <a:rPr dirty="0" err="1"/>
              <a:t>найденных</a:t>
            </a:r>
            <a:r>
              <a:rPr dirty="0"/>
              <a:t> </a:t>
            </a:r>
            <a:r>
              <a:rPr dirty="0" err="1"/>
              <a:t>свидетельств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доказательство</a:t>
            </a:r>
            <a:r>
              <a:rPr dirty="0"/>
              <a:t> </a:t>
            </a:r>
            <a:r>
              <a:rPr dirty="0" err="1"/>
              <a:t>отсутствия</a:t>
            </a:r>
            <a:r>
              <a:rPr dirty="0"/>
              <a:t> </a:t>
            </a:r>
            <a:r>
              <a:rPr dirty="0" err="1"/>
              <a:t>механики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версиях</a:t>
            </a:r>
            <a:r>
              <a:rPr dirty="0"/>
              <a:t>.</a:t>
            </a:r>
          </a:p>
          <a:p>
            <a:r>
              <a:rPr dirty="0"/>
              <a:t>https://</a:t>
            </a:r>
            <a:r>
              <a:rPr dirty="0" err="1"/>
              <a:t>www.deepseek.com</a:t>
            </a:r>
            <a:r>
              <a:rPr dirty="0"/>
              <a:t>/news/</a:t>
            </a:r>
            <a:r>
              <a:rPr dirty="0" err="1"/>
              <a:t>deepseek</a:t>
            </a:r>
            <a:r>
              <a:rPr dirty="0"/>
              <a:t>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936833-6B9A-0933-05D9-830DCBF2B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572"/>
          <a:stretch>
            <a:fillRect/>
          </a:stretch>
        </p:blipFill>
        <p:spPr>
          <a:xfrm>
            <a:off x="435429" y="285"/>
            <a:ext cx="11756571" cy="685743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90F4D02-6DBE-AE63-9F8B-6AC8BA2CC46A}"/>
              </a:ext>
            </a:extLst>
          </p:cNvPr>
          <p:cNvSpPr/>
          <p:nvPr userDrawn="1"/>
        </p:nvSpPr>
        <p:spPr>
          <a:xfrm>
            <a:off x="0" y="0"/>
            <a:ext cx="10561983" cy="6858000"/>
          </a:xfrm>
          <a:prstGeom prst="rect">
            <a:avLst/>
          </a:prstGeom>
          <a:gradFill>
            <a:gsLst>
              <a:gs pos="20000">
                <a:schemeClr val="bg2"/>
              </a:gs>
              <a:gs pos="72000">
                <a:schemeClr val="bg2">
                  <a:alpha val="0"/>
                </a:schemeClr>
              </a:gs>
            </a:gsLst>
            <a:path path="circle">
              <a:fillToRect t="100000" r="100000"/>
            </a:path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144000" tIns="180000" rIns="36000" bIns="106680" numCol="1" spcCol="1270" rtlCol="0" anchor="ctr" anchorCtr="0">
            <a:noAutofit/>
          </a:bodyPr>
          <a:lstStyle/>
          <a:p>
            <a:pPr algn="l" defTabSz="66675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3248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6E787-6118-CB30-1860-80B2DDBC2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1277570" cy="650138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86E2391-A06D-DA88-65DC-C87B4EE6304D}"/>
              </a:ext>
            </a:extLst>
          </p:cNvPr>
          <p:cNvSpPr/>
          <p:nvPr userDrawn="1"/>
        </p:nvSpPr>
        <p:spPr>
          <a:xfrm>
            <a:off x="11287125" y="6561138"/>
            <a:ext cx="904875" cy="296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/>
            <a:fld id="{E5BEBB3C-960C-4E0B-A5BA-796AFB15491B}" type="slidenum">
              <a:rPr lang="ru-RU" sz="1400" smtClean="0">
                <a:solidFill>
                  <a:schemeClr val="tx2"/>
                </a:solidFill>
                <a:latin typeface="+mn-lt"/>
              </a:rPr>
              <a:t>‹#›</a:t>
            </a:fld>
            <a:endParaRPr lang="en-US" sz="14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2326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orient="horz" pos="41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22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4046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bg1"/>
            </a:gs>
            <a:gs pos="100000">
              <a:srgbClr val="EEF1F5"/>
            </a:gs>
          </a:gsLst>
          <a:lin ang="5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везда: 5 точек 1">
            <a:extLst>
              <a:ext uri="{FF2B5EF4-FFF2-40B4-BE49-F238E27FC236}">
                <a16:creationId xmlns:a16="http://schemas.microsoft.com/office/drawing/2014/main" id="{1C31BB1D-A474-EA22-ED2D-AF5CD81880D4}"/>
              </a:ext>
            </a:extLst>
          </p:cNvPr>
          <p:cNvSpPr/>
          <p:nvPr userDrawn="1"/>
        </p:nvSpPr>
        <p:spPr>
          <a:xfrm>
            <a:off x="-609600" y="-476250"/>
            <a:ext cx="673100" cy="673100"/>
          </a:xfrm>
          <a:prstGeom prst="star5">
            <a:avLst>
              <a:gd name="adj" fmla="val 35311"/>
              <a:gd name="hf" fmla="val 105146"/>
              <a:gd name="vf" fmla="val 110557"/>
            </a:avLst>
          </a:prstGeom>
          <a:solidFill>
            <a:schemeClr val="accent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rtlCol="0" anchor="ctr" anchorCtr="0">
            <a:spAutoFit/>
          </a:bodyPr>
          <a:lstStyle/>
          <a:p>
            <a:pPr algn="l"/>
            <a:endParaRPr lang="en-US" b="1" dirty="0">
              <a:gradFill>
                <a:gsLst>
                  <a:gs pos="1000">
                    <a:srgbClr val="004720"/>
                  </a:gs>
                  <a:gs pos="76000">
                    <a:srgbClr val="005727"/>
                  </a:gs>
                  <a:gs pos="35000">
                    <a:srgbClr val="00873D">
                      <a:lumMod val="97000"/>
                    </a:srgbClr>
                  </a:gs>
                  <a:gs pos="94000">
                    <a:srgbClr val="00B050"/>
                  </a:gs>
                </a:gsLst>
              </a:gradFill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758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2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352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82880" indent="-182880" algn="l">
        <a:lnSpc>
          <a:spcPct val="90000"/>
        </a:lnSpc>
        <a:spcBef>
          <a:spcPts val="800"/>
        </a:spcBef>
        <a:buChar char="•"/>
        <a:defRPr sz="2240">
          <a:solidFill>
            <a:schemeClr val="tx1"/>
          </a:solidFill>
          <a:latin typeface="+mn-lt"/>
          <a:ea typeface="+mn-lt"/>
          <a:cs typeface="+mn-lt"/>
        </a:defRPr>
      </a:lvl1pPr>
      <a:lvl2pPr marL="548640" indent="-182880" algn="l">
        <a:lnSpc>
          <a:spcPct val="90000"/>
        </a:lnSpc>
        <a:spcBef>
          <a:spcPts val="400"/>
        </a:spcBef>
        <a:buChar char="•"/>
        <a:defRPr sz="1920">
          <a:solidFill>
            <a:schemeClr val="tx1"/>
          </a:solidFill>
          <a:latin typeface="+mn-lt"/>
          <a:ea typeface="+mn-lt"/>
          <a:cs typeface="+mn-lt"/>
        </a:defRPr>
      </a:lvl2pPr>
      <a:lvl3pPr marL="914400" indent="-182880" algn="l">
        <a:lnSpc>
          <a:spcPct val="90000"/>
        </a:lnSpc>
        <a:spcBef>
          <a:spcPts val="400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3pPr>
      <a:lvl4pPr marL="128016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4pPr>
      <a:lvl5pPr marL="164592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5pPr>
      <a:lvl6pPr marL="201168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6pPr>
      <a:lvl7pPr marL="237744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7pPr>
      <a:lvl8pPr marL="274320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8pPr>
      <a:lvl9pPr marL="310896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1pPr>
      <a:lvl2pPr marL="36576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2pPr>
      <a:lvl3pPr marL="73152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3pPr>
      <a:lvl4pPr marL="109728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4pPr>
      <a:lvl5pPr marL="146304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5pPr>
      <a:lvl6pPr marL="182880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6pPr>
      <a:lvl7pPr marL="219456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7pPr>
      <a:lvl8pPr marL="256032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8pPr>
      <a:lvl9pPr marL="292608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Relationship Id="rId4" Type="http://schemas.openxmlformats.org/officeDocument/2006/relationships/hyperlink" Target="https://web.meetcleo.com/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www.tolans.com/" TargetMode="External"/><Relationship Id="rId7" Type="http://schemas.openxmlformats.org/officeDocument/2006/relationships/image" Target="../media/image4.jpeg"/><Relationship Id="rId8" Type="http://schemas.openxmlformats.org/officeDocument/2006/relationships/hyperlink" Target="https://replika.com/" TargetMode="External"/><Relationship Id="rId9" Type="http://schemas.openxmlformats.org/officeDocument/2006/relationships/image" Target="../media/image5.png"/><Relationship Id="rId10" Type="http://schemas.openxmlformats.org/officeDocument/2006/relationships/hyperlink" Target="https://www.rosebud.app/" TargetMode="External"/><Relationship Id="rId11" Type="http://schemas.openxmlformats.org/officeDocument/2006/relationships/image" Target="../media/image6.jpeg"/><Relationship Id="rId1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eg"/><Relationship Id="rId4" Type="http://schemas.openxmlformats.org/officeDocument/2006/relationships/image" Target="../media/image9.png"/><Relationship Id="rId5" Type="http://schemas.openxmlformats.org/officeDocument/2006/relationships/image" Target="../media/image10.jpeg"/><Relationship Id="rId6" Type="http://schemas.openxmlformats.org/officeDocument/2006/relationships/image" Target="../media/image11.jpeg"/><Relationship Id="rId7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eg"/><Relationship Id="rId4" Type="http://schemas.openxmlformats.org/officeDocument/2006/relationships/image" Target="../media/image16.jpeg"/><Relationship Id="rId5" Type="http://schemas.openxmlformats.org/officeDocument/2006/relationships/image" Target="../media/image17.jpeg"/><Relationship Id="rId6" Type="http://schemas.openxmlformats.org/officeDocument/2006/relationships/image" Target="../media/image18.jpeg"/><Relationship Id="rId7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03EACBE-3E22-3535-FE38-8E1FC338B83A}"/>
              </a:ext>
            </a:extLst>
          </p:cNvPr>
          <p:cNvSpPr txBox="1">
            <a:spLocks/>
          </p:cNvSpPr>
          <p:nvPr/>
        </p:nvSpPr>
        <p:spPr>
          <a:xfrm>
            <a:off x="767580" y="322309"/>
            <a:ext cx="7060368" cy="135421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3600" dirty="0">
                <a:solidFill>
                  <a:schemeClr val="tx2"/>
                </a:solidFill>
                <a:latin typeface="+mn-lt"/>
                <a:cs typeface="SB Sans Display" panose="020B0503040504020204" pitchFamily="34" charset="0"/>
              </a:rPr>
              <a:t>В рамках закрытия</a:t>
            </a:r>
            <a:r>
              <a:rPr lang="ru-RU" sz="4400" dirty="0">
                <a:solidFill>
                  <a:schemeClr val="tx2"/>
                </a:solidFill>
                <a:cs typeface="SB Sans Display" panose="020B0503040504020204" pitchFamily="34" charset="0"/>
              </a:rPr>
              <a:t> Поручения от РГ 02.09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FCE3286-FBA6-98FF-46AD-360DF3105E56}"/>
              </a:ext>
            </a:extLst>
          </p:cNvPr>
          <p:cNvSpPr txBox="1">
            <a:spLocks/>
          </p:cNvSpPr>
          <p:nvPr/>
        </p:nvSpPr>
        <p:spPr>
          <a:xfrm>
            <a:off x="767580" y="4025006"/>
            <a:ext cx="5154656" cy="166552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0000"/>
              </a:lnSpc>
            </a:pPr>
            <a:r>
              <a:rPr lang="ru-RU" sz="2000" dirty="0">
                <a:solidFill>
                  <a:schemeClr val="tx2"/>
                </a:solidFill>
                <a:latin typeface="+mn-lt"/>
                <a:cs typeface="SB Sans Display" panose="020B0503040504020204" pitchFamily="34" charset="0"/>
              </a:rPr>
              <a:t>Проработать запуск пилота</a:t>
            </a:r>
            <a:br>
              <a:rPr lang="ru-RU" sz="2000" dirty="0">
                <a:solidFill>
                  <a:schemeClr val="tx2"/>
                </a:solidFill>
                <a:latin typeface="+mn-lt"/>
                <a:cs typeface="SB Sans Display" panose="020B0503040504020204" pitchFamily="34" charset="0"/>
              </a:rPr>
            </a:br>
            <a:r>
              <a:rPr lang="ru-RU" sz="2000" dirty="0">
                <a:solidFill>
                  <a:schemeClr val="tx2"/>
                </a:solidFill>
                <a:latin typeface="+mn-lt"/>
                <a:cs typeface="SB Sans Display" panose="020B0503040504020204" pitchFamily="34" charset="0"/>
              </a:rPr>
              <a:t>по вовлечению пользователей</a:t>
            </a:r>
            <a:br>
              <a:rPr lang="ru-RU" sz="2000" dirty="0">
                <a:solidFill>
                  <a:schemeClr val="tx2"/>
                </a:solidFill>
                <a:latin typeface="+mn-lt"/>
                <a:cs typeface="SB Sans Display" panose="020B0503040504020204" pitchFamily="34" charset="0"/>
              </a:rPr>
            </a:br>
            <a:r>
              <a:rPr lang="ru-RU" sz="2000" dirty="0">
                <a:solidFill>
                  <a:schemeClr val="tx2"/>
                </a:solidFill>
                <a:latin typeface="+mn-lt"/>
                <a:cs typeface="SB Sans Display" panose="020B0503040504020204" pitchFamily="34" charset="0"/>
              </a:rPr>
              <a:t>во взаимодействие с ИИ-помощником</a:t>
            </a:r>
            <a:br>
              <a:rPr lang="ru-RU" sz="2000" dirty="0">
                <a:solidFill>
                  <a:schemeClr val="tx2"/>
                </a:solidFill>
                <a:latin typeface="+mn-lt"/>
                <a:cs typeface="SB Sans Display" panose="020B0503040504020204" pitchFamily="34" charset="0"/>
              </a:rPr>
            </a:br>
            <a:r>
              <a:rPr lang="ru-RU" sz="2000" dirty="0">
                <a:solidFill>
                  <a:schemeClr val="tx2"/>
                </a:solidFill>
                <a:latin typeface="+mn-lt"/>
                <a:cs typeface="SB Sans Display" panose="020B0503040504020204" pitchFamily="34" charset="0"/>
              </a:rPr>
              <a:t>для наполнения Памяти и формирования эмоциональной привязанности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666A94B-3424-5970-2704-C73F3EA05A42}"/>
              </a:ext>
            </a:extLst>
          </p:cNvPr>
          <p:cNvSpPr txBox="1">
            <a:spLocks/>
          </p:cNvSpPr>
          <p:nvPr/>
        </p:nvSpPr>
        <p:spPr>
          <a:xfrm>
            <a:off x="767580" y="6240225"/>
            <a:ext cx="2809872" cy="2954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en-US" sz="2400" dirty="0">
                <a:solidFill>
                  <a:schemeClr val="tx2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rPr>
              <a:t>Unit Data</a:t>
            </a:r>
            <a:endParaRPr lang="ru-RU" sz="2400" dirty="0">
              <a:solidFill>
                <a:schemeClr val="tx2"/>
              </a:solidFill>
              <a:latin typeface="SB Sans Display Light" panose="020B0303040504020204" pitchFamily="34" charset="0"/>
              <a:cs typeface="SB Sans Display Light" panose="020B0303040504020204" pitchFamily="34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17E23A1-A2C1-4601-FE7B-B830511F3FBF}"/>
              </a:ext>
            </a:extLst>
          </p:cNvPr>
          <p:cNvCxnSpPr>
            <a:cxnSpLocks/>
          </p:cNvCxnSpPr>
          <p:nvPr/>
        </p:nvCxnSpPr>
        <p:spPr>
          <a:xfrm flipV="1">
            <a:off x="444361" y="399417"/>
            <a:ext cx="0" cy="6146662"/>
          </a:xfrm>
          <a:prstGeom prst="line">
            <a:avLst/>
          </a:prstGeom>
          <a:ln w="12700" cap="rnd">
            <a:gradFill flip="none" rotWithShape="1">
              <a:gsLst>
                <a:gs pos="99735">
                  <a:schemeClr val="accent3">
                    <a:lumMod val="50000"/>
                    <a:alpha val="0"/>
                  </a:schemeClr>
                </a:gs>
                <a:gs pos="54000">
                  <a:srgbClr val="19A77F"/>
                </a:gs>
                <a:gs pos="0">
                  <a:srgbClr val="19A77F">
                    <a:alpha val="0"/>
                  </a:srgbClr>
                </a:gs>
                <a:gs pos="91000">
                  <a:schemeClr val="accent3">
                    <a:lumMod val="50000"/>
                  </a:schemeClr>
                </a:gs>
              </a:gsLst>
              <a:lin ang="5400000" scaled="1"/>
              <a:tileRect/>
            </a:gradFill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003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w-label-0">
            <a:extLst>
              <a:ext uri="{FF2B5EF4-FFF2-40B4-BE49-F238E27FC236}">
                <a16:creationId xmlns:a16="http://schemas.microsoft.com/office/drawing/2014/main" id="{CA0DA2A2-F286-408B-9C28-06B165D31CEF}"/>
              </a:ext>
            </a:extLst>
          </p:cNvPr>
          <p:cNvSpPr>
            <a:spLocks noGrp="1"/>
          </p:cNvSpPr>
          <p:nvPr/>
        </p:nvSpPr>
        <p:spPr>
          <a:xfrm>
            <a:off x="457200" y="3142884"/>
            <a:ext cx="1047902" cy="7498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defTabSz="609576"/>
            <a:r>
              <a:rPr lang="ru-RU" sz="1100" b="1" dirty="0">
                <a:solidFill>
                  <a:schemeClr val="accent3">
                    <a:lumMod val="50000"/>
                  </a:schemeClr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МЕХАНИКА</a:t>
            </a:r>
          </a:p>
          <a:p>
            <a:pPr algn="r" defTabSz="609576"/>
            <a:r>
              <a:rPr lang="ru-RU" sz="1100" b="1" dirty="0">
                <a:solidFill>
                  <a:schemeClr val="accent3">
                    <a:lumMod val="50000"/>
                  </a:schemeClr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СТАРТА</a:t>
            </a:r>
          </a:p>
        </p:txBody>
      </p:sp>
      <p:sp>
        <p:nvSpPr>
          <p:cNvPr id="4" name="row-label-1">
            <a:extLst>
              <a:ext uri="{FF2B5EF4-FFF2-40B4-BE49-F238E27FC236}">
                <a16:creationId xmlns:a16="http://schemas.microsoft.com/office/drawing/2014/main" id="{49577635-7546-4641-9DC7-883308D85C39}"/>
              </a:ext>
            </a:extLst>
          </p:cNvPr>
          <p:cNvSpPr>
            <a:spLocks noGrp="1"/>
          </p:cNvSpPr>
          <p:nvPr/>
        </p:nvSpPr>
        <p:spPr>
          <a:xfrm>
            <a:off x="457200" y="4412894"/>
            <a:ext cx="1047902" cy="7498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defTabSz="609576"/>
            <a:r>
              <a:rPr lang="ru-RU" sz="1100" b="1" dirty="0">
                <a:solidFill>
                  <a:schemeClr val="accent3">
                    <a:lumMod val="50000"/>
                  </a:schemeClr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СТАРТОВЫЕ</a:t>
            </a:r>
          </a:p>
          <a:p>
            <a:pPr algn="r" defTabSz="609576"/>
            <a:r>
              <a:rPr lang="ru-RU" sz="1100" b="1" dirty="0">
                <a:solidFill>
                  <a:schemeClr val="accent3">
                    <a:lumMod val="50000"/>
                  </a:schemeClr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ВОПРОСЫ</a:t>
            </a:r>
          </a:p>
        </p:txBody>
      </p:sp>
      <p:sp>
        <p:nvSpPr>
          <p:cNvPr id="5" name="row-label-2">
            <a:extLst>
              <a:ext uri="{FF2B5EF4-FFF2-40B4-BE49-F238E27FC236}">
                <a16:creationId xmlns:a16="http://schemas.microsoft.com/office/drawing/2014/main" id="{30C1C3AC-AF6A-4F03-8B79-0978D39B8075}"/>
              </a:ext>
            </a:extLst>
          </p:cNvPr>
          <p:cNvSpPr>
            <a:spLocks noGrp="1"/>
          </p:cNvSpPr>
          <p:nvPr/>
        </p:nvSpPr>
        <p:spPr>
          <a:xfrm>
            <a:off x="457200" y="5492435"/>
            <a:ext cx="1047902" cy="7498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defTabSz="609576">
              <a:defRPr sz="2025" b="1">
                <a:solidFill>
                  <a:srgbClr val="343D3B"/>
                </a:solidFill>
                <a:latin typeface="Arial"/>
                <a:ea typeface="Arial"/>
                <a:cs typeface="Arial"/>
              </a:defRPr>
            </a:pPr>
            <a:r>
              <a:rPr lang="ru-RU" sz="1100" b="1" dirty="0">
                <a:solidFill>
                  <a:schemeClr val="accent3">
                    <a:lumMod val="50000"/>
                  </a:schemeClr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ЦЕННОСТЬ</a:t>
            </a:r>
          </a:p>
          <a:p>
            <a:pPr algn="r" defTabSz="609576">
              <a:defRPr sz="2025" b="1">
                <a:solidFill>
                  <a:srgbClr val="343D3B"/>
                </a:solidFill>
                <a:latin typeface="Arial"/>
                <a:ea typeface="Arial"/>
                <a:cs typeface="Arial"/>
              </a:defRPr>
            </a:pPr>
            <a:r>
              <a:rPr lang="ru-RU" sz="1100" b="1" dirty="0">
                <a:solidFill>
                  <a:schemeClr val="accent3">
                    <a:lumMod val="50000"/>
                  </a:schemeClr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ДАННЫХ</a:t>
            </a:r>
          </a:p>
          <a:p>
            <a:pPr algn="r" defTabSz="609576">
              <a:defRPr sz="2025" b="1">
                <a:solidFill>
                  <a:srgbClr val="343D3B"/>
                </a:solidFill>
                <a:latin typeface="Arial"/>
                <a:ea typeface="Arial"/>
                <a:cs typeface="Arial"/>
              </a:defRPr>
            </a:pPr>
            <a:r>
              <a:rPr lang="ru-RU" sz="1100" b="1" dirty="0">
                <a:solidFill>
                  <a:schemeClr val="accent3">
                    <a:lumMod val="50000"/>
                  </a:schemeClr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ДЛЯ ПАМЯТИ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B98E9D-9BC1-64F1-0EBC-6C7E1E13C4E7}"/>
              </a:ext>
            </a:extLst>
          </p:cNvPr>
          <p:cNvSpPr txBox="1"/>
          <p:nvPr/>
        </p:nvSpPr>
        <p:spPr>
          <a:xfrm>
            <a:off x="457200" y="566928"/>
            <a:ext cx="11277570" cy="7386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defTabSz="609576">
              <a:defRPr sz="1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ru-RU" sz="1400" dirty="0">
                <a:solidFill>
                  <a:srgbClr val="111111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Механики эмоционального вовлечения используют </a:t>
            </a:r>
            <a:r>
              <a:rPr lang="en" sz="1400" dirty="0">
                <a:solidFill>
                  <a:srgbClr val="111111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task-</a:t>
            </a:r>
            <a:r>
              <a:rPr lang="ru-RU" sz="1400" dirty="0">
                <a:solidFill>
                  <a:srgbClr val="111111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специфичные приложения: </a:t>
            </a:r>
            <a:r>
              <a:rPr lang="ru-RU" sz="1400" dirty="0" err="1">
                <a:solidFill>
                  <a:srgbClr val="111111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фин</a:t>
            </a:r>
            <a:r>
              <a:rPr lang="ru-RU" sz="1400" dirty="0">
                <a:solidFill>
                  <a:srgbClr val="111111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-ассистент, </a:t>
            </a:r>
            <a:r>
              <a:rPr lang="en" sz="1400" dirty="0">
                <a:solidFill>
                  <a:srgbClr val="111111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ai-</a:t>
            </a:r>
            <a:r>
              <a:rPr lang="ru-RU" sz="1400" dirty="0">
                <a:solidFill>
                  <a:srgbClr val="111111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компаньон, </a:t>
            </a:r>
            <a:r>
              <a:rPr lang="en" sz="1400" dirty="0">
                <a:solidFill>
                  <a:srgbClr val="111111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ai-</a:t>
            </a:r>
            <a:r>
              <a:rPr lang="ru-RU" sz="1400" dirty="0">
                <a:solidFill>
                  <a:srgbClr val="111111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дневник. </a:t>
            </a:r>
          </a:p>
          <a:p>
            <a:pPr defTabSz="609576">
              <a:defRPr sz="1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ru-RU" sz="1400" dirty="0">
                <a:solidFill>
                  <a:srgbClr val="111111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Ассистенты типа </a:t>
            </a:r>
            <a:r>
              <a:rPr lang="en" sz="1400" dirty="0">
                <a:solidFill>
                  <a:srgbClr val="111111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ChatGPT</a:t>
            </a:r>
            <a:r>
              <a:rPr lang="ru-RU" sz="1400" dirty="0">
                <a:solidFill>
                  <a:srgbClr val="111111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, как правило,</a:t>
            </a:r>
            <a:r>
              <a:rPr lang="en" sz="1400" dirty="0">
                <a:solidFill>
                  <a:srgbClr val="111111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 </a:t>
            </a:r>
            <a:r>
              <a:rPr lang="ru-RU" sz="1400" dirty="0">
                <a:solidFill>
                  <a:srgbClr val="111111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не используют геймификацию или опросы для вовлечения, но при этом зарабатывают доверие через возможность управления данными.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FA004F-B974-2FCC-B5C9-53B15EE378FC}"/>
              </a:ext>
            </a:extLst>
          </p:cNvPr>
          <p:cNvSpPr txBox="1"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609576">
              <a:defRPr sz="1000" b="0">
                <a:solidFill>
                  <a:srgbClr val="64716A"/>
                </a:solidFill>
                <a:latin typeface="Arial"/>
                <a:ea typeface="Arial"/>
                <a:cs typeface="Arial"/>
              </a:defRPr>
            </a:pPr>
            <a:r>
              <a:rPr lang="en-US" sz="1000" dirty="0">
                <a:solidFill>
                  <a:srgbClr val="6B6B6B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*Cleo </a:t>
            </a:r>
            <a:r>
              <a:rPr lang="ru-RU" sz="1000" dirty="0">
                <a:solidFill>
                  <a:srgbClr val="6B6B6B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и </a:t>
            </a:r>
            <a:r>
              <a:rPr lang="en-US" sz="1000" dirty="0">
                <a:solidFill>
                  <a:srgbClr val="6B6B6B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Tolan </a:t>
            </a:r>
            <a:r>
              <a:rPr lang="ru-RU" sz="1000" dirty="0">
                <a:solidFill>
                  <a:srgbClr val="6B6B6B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могут быть не доступны для рос. региона в </a:t>
            </a:r>
            <a:r>
              <a:rPr lang="en-US" sz="1000" dirty="0">
                <a:solidFill>
                  <a:srgbClr val="6B6B6B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AppStore</a:t>
            </a:r>
            <a:r>
              <a:rPr lang="ru-RU" sz="1000" dirty="0">
                <a:solidFill>
                  <a:srgbClr val="6B6B6B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    	</a:t>
            </a:r>
            <a:r>
              <a:rPr lang="en-US" sz="1000" dirty="0">
                <a:solidFill>
                  <a:srgbClr val="6B6B6B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** </a:t>
            </a:r>
            <a:r>
              <a:rPr lang="ru-RU" sz="1000" dirty="0">
                <a:solidFill>
                  <a:srgbClr val="6B6B6B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Детальный разбор на слайде 8</a:t>
            </a:r>
            <a:endParaRPr lang="en-US" sz="1000" dirty="0">
              <a:solidFill>
                <a:srgbClr val="6B6B6B"/>
              </a:solidFill>
              <a:latin typeface="SB Sans Display" panose="020B0503040504020204" pitchFamily="34" charset="0"/>
              <a:ea typeface="Arial"/>
              <a:cs typeface="SB Sans Display" panose="020B0503040504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E85E8E-E023-9441-F79D-D5400E29C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рынка – механики вовлечения при первом касании</a:t>
            </a:r>
            <a:endParaRPr lang="en-US" dirty="0"/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42ED3A70-C871-9156-9551-06AE54674F49}"/>
              </a:ext>
            </a:extLst>
          </p:cNvPr>
          <p:cNvCxnSpPr>
            <a:cxnSpLocks/>
          </p:cNvCxnSpPr>
          <p:nvPr/>
        </p:nvCxnSpPr>
        <p:spPr>
          <a:xfrm>
            <a:off x="457200" y="4203588"/>
            <a:ext cx="1047902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  <a:alpha val="85000"/>
              </a:schemeClr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674FF6C5-2977-107D-75AE-DE9F855B80DF}"/>
              </a:ext>
            </a:extLst>
          </p:cNvPr>
          <p:cNvCxnSpPr>
            <a:cxnSpLocks/>
          </p:cNvCxnSpPr>
          <p:nvPr/>
        </p:nvCxnSpPr>
        <p:spPr>
          <a:xfrm>
            <a:off x="457200" y="5372009"/>
            <a:ext cx="1047902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  <a:alpha val="85000"/>
              </a:schemeClr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sebud-column">
            <a:extLst>
              <a:ext uri="{FF2B5EF4-FFF2-40B4-BE49-F238E27FC236}">
                <a16:creationId xmlns:a16="http://schemas.microsoft.com/office/drawing/2014/main" id="{ECE4F991-9382-F81F-D06A-717C92F8D39E}"/>
              </a:ext>
            </a:extLst>
          </p:cNvPr>
          <p:cNvSpPr>
            <a:spLocks noGrp="1"/>
          </p:cNvSpPr>
          <p:nvPr/>
        </p:nvSpPr>
        <p:spPr>
          <a:xfrm>
            <a:off x="9792529" y="1371600"/>
            <a:ext cx="1942240" cy="2194560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93000">
                <a:schemeClr val="accent3">
                  <a:lumMod val="50000"/>
                </a:schemeClr>
              </a:gs>
              <a:gs pos="24000">
                <a:schemeClr val="accent3"/>
              </a:gs>
              <a:gs pos="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12383">
            <a:noFill/>
          </a:ln>
        </p:spPr>
        <p:txBody>
          <a:bodyPr/>
          <a:lstStyle/>
          <a:p>
            <a:pPr defTabSz="609576"/>
            <a:endParaRPr lang="ru-RU" sz="1200">
              <a:solidFill>
                <a:srgbClr val="FFFFFF"/>
              </a:solidFill>
            </a:endParaRPr>
          </a:p>
        </p:txBody>
      </p:sp>
      <p:sp>
        <p:nvSpPr>
          <p:cNvPr id="47" name="cleo-column">
            <a:extLst>
              <a:ext uri="{FF2B5EF4-FFF2-40B4-BE49-F238E27FC236}">
                <a16:creationId xmlns:a16="http://schemas.microsoft.com/office/drawing/2014/main" id="{772361C9-8222-05C1-6771-F66F20A71DF6}"/>
              </a:ext>
            </a:extLst>
          </p:cNvPr>
          <p:cNvSpPr>
            <a:spLocks noGrp="1"/>
          </p:cNvSpPr>
          <p:nvPr/>
        </p:nvSpPr>
        <p:spPr>
          <a:xfrm>
            <a:off x="1617574" y="1371600"/>
            <a:ext cx="1942240" cy="5029200"/>
          </a:xfrm>
          <a:prstGeom prst="roundRect">
            <a:avLst>
              <a:gd name="adj" fmla="val 9000"/>
            </a:avLst>
          </a:prstGeom>
          <a:solidFill>
            <a:schemeClr val="accent2">
              <a:lumMod val="75000"/>
              <a:alpha val="13000"/>
            </a:schemeClr>
          </a:solidFill>
          <a:ln w="12383">
            <a:noFill/>
          </a:ln>
        </p:spPr>
        <p:txBody>
          <a:bodyPr/>
          <a:lstStyle/>
          <a:p>
            <a:pPr defTabSz="609576"/>
            <a:endParaRPr lang="ru-RU" sz="1200">
              <a:solidFill>
                <a:srgbClr val="111111"/>
              </a:solidFill>
            </a:endParaRPr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CE3F3093-ADD1-D217-0460-3EF10D8D0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82674" y="1549400"/>
            <a:ext cx="393700" cy="393700"/>
          </a:xfrm>
          <a:prstGeom prst="roundRect">
            <a:avLst>
              <a:gd name="adj" fmla="val 20968"/>
            </a:avLst>
          </a:prstGeom>
        </p:spPr>
      </p:pic>
      <p:sp>
        <p:nvSpPr>
          <p:cNvPr id="50" name="cleo-name">
            <a:extLst>
              <a:ext uri="{FF2B5EF4-FFF2-40B4-BE49-F238E27FC236}">
                <a16:creationId xmlns:a16="http://schemas.microsoft.com/office/drawing/2014/main" id="{A7489F25-438C-209B-ADF8-276007FDD334}"/>
              </a:ext>
            </a:extLst>
          </p:cNvPr>
          <p:cNvSpPr>
            <a:spLocks noGrp="1"/>
          </p:cNvSpPr>
          <p:nvPr/>
        </p:nvSpPr>
        <p:spPr>
          <a:xfrm>
            <a:off x="2271624" y="1593850"/>
            <a:ext cx="1270000" cy="406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576">
              <a:defRPr sz="3375" b="1">
                <a:solidFill>
                  <a:srgbClr val="111111"/>
                </a:solidFill>
              </a:defRPr>
            </a:pPr>
            <a:r>
              <a:rPr sz="2000" b="1" spc="-30" dirty="0">
                <a:solidFill>
                  <a:srgbClr val="111111"/>
                </a:solidFill>
                <a:hlinkClick r:id="rId4"/>
              </a:rPr>
              <a:t>Cleo</a:t>
            </a:r>
            <a:r>
              <a:rPr lang="en-US" sz="2000" b="1" spc="-30" dirty="0">
                <a:solidFill>
                  <a:srgbClr val="111111"/>
                </a:solidFill>
              </a:rPr>
              <a:t>*</a:t>
            </a:r>
            <a:endParaRPr sz="2250" b="1" dirty="0">
              <a:solidFill>
                <a:srgbClr val="111111"/>
              </a:solidFill>
            </a:endParaRPr>
          </a:p>
        </p:txBody>
      </p:sp>
      <p:sp>
        <p:nvSpPr>
          <p:cNvPr id="51" name="cleo-kind">
            <a:extLst>
              <a:ext uri="{FF2B5EF4-FFF2-40B4-BE49-F238E27FC236}">
                <a16:creationId xmlns:a16="http://schemas.microsoft.com/office/drawing/2014/main" id="{3D306353-AE87-A601-6984-BDDC3C650479}"/>
              </a:ext>
            </a:extLst>
          </p:cNvPr>
          <p:cNvSpPr>
            <a:spLocks noGrp="1"/>
          </p:cNvSpPr>
          <p:nvPr/>
        </p:nvSpPr>
        <p:spPr>
          <a:xfrm>
            <a:off x="1776324" y="2012951"/>
            <a:ext cx="17272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576">
              <a:defRPr sz="1650" b="0">
                <a:solidFill>
                  <a:srgbClr val="6B6B6B"/>
                </a:solidFill>
              </a:defRPr>
            </a:pPr>
            <a:r>
              <a:rPr sz="1100">
                <a:solidFill>
                  <a:schemeClr val="accent3">
                    <a:lumMod val="50000"/>
                  </a:schemeClr>
                </a:solidFill>
              </a:rPr>
              <a:t>Финансовый ассистент</a:t>
            </a:r>
          </a:p>
        </p:txBody>
      </p:sp>
      <p:sp>
        <p:nvSpPr>
          <p:cNvPr id="53" name="tolan-column">
            <a:extLst>
              <a:ext uri="{FF2B5EF4-FFF2-40B4-BE49-F238E27FC236}">
                <a16:creationId xmlns:a16="http://schemas.microsoft.com/office/drawing/2014/main" id="{E82D60E5-1794-9A48-C6DD-B8FA45E5CC16}"/>
              </a:ext>
            </a:extLst>
          </p:cNvPr>
          <p:cNvSpPr>
            <a:spLocks noGrp="1"/>
          </p:cNvSpPr>
          <p:nvPr/>
        </p:nvSpPr>
        <p:spPr>
          <a:xfrm>
            <a:off x="3661312" y="1371600"/>
            <a:ext cx="1942240" cy="5029200"/>
          </a:xfrm>
          <a:prstGeom prst="roundRect">
            <a:avLst>
              <a:gd name="adj" fmla="val 9000"/>
            </a:avLst>
          </a:prstGeom>
          <a:solidFill>
            <a:schemeClr val="accent2">
              <a:lumMod val="75000"/>
              <a:alpha val="13000"/>
            </a:schemeClr>
          </a:solidFill>
          <a:ln w="12383">
            <a:noFill/>
          </a:ln>
        </p:spPr>
        <p:txBody>
          <a:bodyPr/>
          <a:lstStyle/>
          <a:p>
            <a:pPr defTabSz="609576"/>
            <a:endParaRPr lang="ru-RU" sz="1200">
              <a:solidFill>
                <a:srgbClr val="111111"/>
              </a:solidFill>
            </a:endParaRPr>
          </a:p>
        </p:txBody>
      </p:sp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C11296DF-8968-6CF2-2B47-D9802472BD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826412" y="1549400"/>
            <a:ext cx="393700" cy="393700"/>
          </a:xfrm>
          <a:prstGeom prst="roundRect">
            <a:avLst>
              <a:gd name="adj" fmla="val 20968"/>
            </a:avLst>
          </a:prstGeom>
        </p:spPr>
      </p:pic>
      <p:sp>
        <p:nvSpPr>
          <p:cNvPr id="55" name="tolan-name">
            <a:extLst>
              <a:ext uri="{FF2B5EF4-FFF2-40B4-BE49-F238E27FC236}">
                <a16:creationId xmlns:a16="http://schemas.microsoft.com/office/drawing/2014/main" id="{36D46C3D-406B-04F3-3A18-A93E34A42933}"/>
              </a:ext>
            </a:extLst>
          </p:cNvPr>
          <p:cNvSpPr>
            <a:spLocks noGrp="1"/>
          </p:cNvSpPr>
          <p:nvPr/>
        </p:nvSpPr>
        <p:spPr>
          <a:xfrm>
            <a:off x="4315362" y="1593850"/>
            <a:ext cx="1270000" cy="406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576">
              <a:defRPr sz="3375" b="1">
                <a:solidFill>
                  <a:srgbClr val="111111"/>
                </a:solidFill>
              </a:defRPr>
            </a:pPr>
            <a:r>
              <a:rPr sz="2000" b="1" spc="-30" dirty="0">
                <a:solidFill>
                  <a:srgbClr val="111111"/>
                </a:solidFill>
                <a:hlinkClick r:id="rId6"/>
              </a:rPr>
              <a:t>Tolan</a:t>
            </a:r>
            <a:r>
              <a:rPr lang="en-US" sz="2000" b="1" spc="-30" dirty="0">
                <a:solidFill>
                  <a:srgbClr val="111111"/>
                </a:solidFill>
              </a:rPr>
              <a:t>*</a:t>
            </a:r>
            <a:endParaRPr sz="2250" b="1" dirty="0">
              <a:solidFill>
                <a:srgbClr val="111111"/>
              </a:solidFill>
            </a:endParaRPr>
          </a:p>
        </p:txBody>
      </p:sp>
      <p:sp>
        <p:nvSpPr>
          <p:cNvPr id="56" name="tolan-kind">
            <a:extLst>
              <a:ext uri="{FF2B5EF4-FFF2-40B4-BE49-F238E27FC236}">
                <a16:creationId xmlns:a16="http://schemas.microsoft.com/office/drawing/2014/main" id="{B6A96090-36EF-8103-C170-1C40B4FF1EA6}"/>
              </a:ext>
            </a:extLst>
          </p:cNvPr>
          <p:cNvSpPr>
            <a:spLocks noGrp="1"/>
          </p:cNvSpPr>
          <p:nvPr/>
        </p:nvSpPr>
        <p:spPr>
          <a:xfrm>
            <a:off x="3820062" y="2012951"/>
            <a:ext cx="17272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576">
              <a:defRPr sz="1650" b="0">
                <a:solidFill>
                  <a:srgbClr val="6B6B6B"/>
                </a:solidFill>
              </a:defRPr>
            </a:pPr>
            <a:r>
              <a:rPr sz="1100">
                <a:solidFill>
                  <a:schemeClr val="accent3">
                    <a:lumMod val="50000"/>
                  </a:schemeClr>
                </a:solidFill>
              </a:rPr>
              <a:t>AI-компаньон</a:t>
            </a:r>
          </a:p>
        </p:txBody>
      </p:sp>
      <p:sp>
        <p:nvSpPr>
          <p:cNvPr id="57" name="replika-column">
            <a:extLst>
              <a:ext uri="{FF2B5EF4-FFF2-40B4-BE49-F238E27FC236}">
                <a16:creationId xmlns:a16="http://schemas.microsoft.com/office/drawing/2014/main" id="{0744BFF5-CB86-33BF-25F4-42E08FF3698E}"/>
              </a:ext>
            </a:extLst>
          </p:cNvPr>
          <p:cNvSpPr>
            <a:spLocks noGrp="1"/>
          </p:cNvSpPr>
          <p:nvPr/>
        </p:nvSpPr>
        <p:spPr>
          <a:xfrm>
            <a:off x="5705051" y="1371600"/>
            <a:ext cx="1942240" cy="5029200"/>
          </a:xfrm>
          <a:prstGeom prst="roundRect">
            <a:avLst>
              <a:gd name="adj" fmla="val 9000"/>
            </a:avLst>
          </a:prstGeom>
          <a:solidFill>
            <a:schemeClr val="accent2">
              <a:lumMod val="75000"/>
              <a:alpha val="13000"/>
            </a:schemeClr>
          </a:solidFill>
          <a:ln w="12383">
            <a:noFill/>
          </a:ln>
        </p:spPr>
        <p:txBody>
          <a:bodyPr/>
          <a:lstStyle/>
          <a:p>
            <a:pPr defTabSz="609576"/>
            <a:endParaRPr lang="ru-RU" sz="1200">
              <a:solidFill>
                <a:srgbClr val="111111"/>
              </a:solidFill>
            </a:endParaRPr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290B21F9-3120-CD47-B5F8-BC8A0561D4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870151" y="1549400"/>
            <a:ext cx="393700" cy="393700"/>
          </a:xfrm>
          <a:prstGeom prst="roundRect">
            <a:avLst>
              <a:gd name="adj" fmla="val 20968"/>
            </a:avLst>
          </a:prstGeom>
        </p:spPr>
      </p:pic>
      <p:sp>
        <p:nvSpPr>
          <p:cNvPr id="59" name="replika-name">
            <a:extLst>
              <a:ext uri="{FF2B5EF4-FFF2-40B4-BE49-F238E27FC236}">
                <a16:creationId xmlns:a16="http://schemas.microsoft.com/office/drawing/2014/main" id="{C03B41F9-7EF2-8A20-9637-4BC5E4B200CE}"/>
              </a:ext>
            </a:extLst>
          </p:cNvPr>
          <p:cNvSpPr>
            <a:spLocks noGrp="1"/>
          </p:cNvSpPr>
          <p:nvPr/>
        </p:nvSpPr>
        <p:spPr>
          <a:xfrm>
            <a:off x="6359101" y="1593850"/>
            <a:ext cx="1270000" cy="406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576">
              <a:defRPr sz="3375" b="1">
                <a:solidFill>
                  <a:srgbClr val="111111"/>
                </a:solidFill>
              </a:defRPr>
            </a:pPr>
            <a:r>
              <a:rPr sz="2000" b="1" spc="-30" dirty="0">
                <a:solidFill>
                  <a:srgbClr val="111111"/>
                </a:solidFill>
                <a:hlinkClick r:id="rId8"/>
              </a:rPr>
              <a:t>Replika</a:t>
            </a:r>
            <a:endParaRPr sz="2250" b="1" dirty="0">
              <a:solidFill>
                <a:srgbClr val="111111"/>
              </a:solidFill>
            </a:endParaRPr>
          </a:p>
        </p:txBody>
      </p:sp>
      <p:sp>
        <p:nvSpPr>
          <p:cNvPr id="61" name="replika-kind">
            <a:extLst>
              <a:ext uri="{FF2B5EF4-FFF2-40B4-BE49-F238E27FC236}">
                <a16:creationId xmlns:a16="http://schemas.microsoft.com/office/drawing/2014/main" id="{5630CB6A-4320-24B7-B124-A99B9E4DDB0F}"/>
              </a:ext>
            </a:extLst>
          </p:cNvPr>
          <p:cNvSpPr>
            <a:spLocks noGrp="1"/>
          </p:cNvSpPr>
          <p:nvPr/>
        </p:nvSpPr>
        <p:spPr>
          <a:xfrm>
            <a:off x="5863801" y="2012951"/>
            <a:ext cx="17272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576">
              <a:defRPr sz="1650" b="0">
                <a:solidFill>
                  <a:srgbClr val="6B6B6B"/>
                </a:solidFill>
              </a:defRPr>
            </a:pPr>
            <a:r>
              <a:rPr sz="1100">
                <a:solidFill>
                  <a:schemeClr val="accent3">
                    <a:lumMod val="50000"/>
                  </a:schemeClr>
                </a:solidFill>
              </a:rPr>
              <a:t>AI-компаньон</a:t>
            </a:r>
          </a:p>
        </p:txBody>
      </p:sp>
      <p:sp>
        <p:nvSpPr>
          <p:cNvPr id="62" name="rosebud-column">
            <a:extLst>
              <a:ext uri="{FF2B5EF4-FFF2-40B4-BE49-F238E27FC236}">
                <a16:creationId xmlns:a16="http://schemas.microsoft.com/office/drawing/2014/main" id="{E42927FB-94D2-522D-73FD-AAB21C85DBAA}"/>
              </a:ext>
            </a:extLst>
          </p:cNvPr>
          <p:cNvSpPr>
            <a:spLocks noGrp="1"/>
          </p:cNvSpPr>
          <p:nvPr/>
        </p:nvSpPr>
        <p:spPr>
          <a:xfrm>
            <a:off x="7748790" y="1371600"/>
            <a:ext cx="1942240" cy="5029200"/>
          </a:xfrm>
          <a:prstGeom prst="roundRect">
            <a:avLst>
              <a:gd name="adj" fmla="val 9000"/>
            </a:avLst>
          </a:prstGeom>
          <a:solidFill>
            <a:schemeClr val="accent2">
              <a:lumMod val="75000"/>
              <a:alpha val="13000"/>
            </a:schemeClr>
          </a:solidFill>
          <a:ln w="12383">
            <a:noFill/>
          </a:ln>
        </p:spPr>
        <p:txBody>
          <a:bodyPr/>
          <a:lstStyle/>
          <a:p>
            <a:pPr defTabSz="609576"/>
            <a:endParaRPr lang="ru-RU" sz="1200">
              <a:solidFill>
                <a:srgbClr val="111111"/>
              </a:solidFill>
            </a:endParaRPr>
          </a:p>
        </p:txBody>
      </p:sp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F183C32A-A5E9-B47D-8C14-A5DC1D0F24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7913890" y="1549400"/>
            <a:ext cx="393700" cy="393700"/>
          </a:xfrm>
          <a:prstGeom prst="roundRect">
            <a:avLst>
              <a:gd name="adj" fmla="val 20968"/>
            </a:avLst>
          </a:prstGeom>
        </p:spPr>
      </p:pic>
      <p:sp>
        <p:nvSpPr>
          <p:cNvPr id="65" name="rosebud-name">
            <a:extLst>
              <a:ext uri="{FF2B5EF4-FFF2-40B4-BE49-F238E27FC236}">
                <a16:creationId xmlns:a16="http://schemas.microsoft.com/office/drawing/2014/main" id="{07E28809-AD63-28E4-D540-FC73D770308A}"/>
              </a:ext>
            </a:extLst>
          </p:cNvPr>
          <p:cNvSpPr>
            <a:spLocks noGrp="1"/>
          </p:cNvSpPr>
          <p:nvPr/>
        </p:nvSpPr>
        <p:spPr>
          <a:xfrm>
            <a:off x="8402840" y="1593850"/>
            <a:ext cx="1270000" cy="406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576">
              <a:defRPr sz="3150" b="1">
                <a:solidFill>
                  <a:srgbClr val="111111"/>
                </a:solidFill>
              </a:defRPr>
            </a:pPr>
            <a:r>
              <a:rPr sz="2000" b="1" spc="-30" dirty="0">
                <a:solidFill>
                  <a:srgbClr val="111111"/>
                </a:solidFill>
                <a:hlinkClick r:id="rId10"/>
              </a:rPr>
              <a:t>Rosebud</a:t>
            </a:r>
            <a:endParaRPr sz="2100" b="1" dirty="0">
              <a:solidFill>
                <a:srgbClr val="111111"/>
              </a:solidFill>
            </a:endParaRPr>
          </a:p>
        </p:txBody>
      </p:sp>
      <p:sp>
        <p:nvSpPr>
          <p:cNvPr id="66" name="rosebud-kind">
            <a:extLst>
              <a:ext uri="{FF2B5EF4-FFF2-40B4-BE49-F238E27FC236}">
                <a16:creationId xmlns:a16="http://schemas.microsoft.com/office/drawing/2014/main" id="{C1A19270-34CB-BA57-D57B-12EE20D565DF}"/>
              </a:ext>
            </a:extLst>
          </p:cNvPr>
          <p:cNvSpPr>
            <a:spLocks noGrp="1"/>
          </p:cNvSpPr>
          <p:nvPr/>
        </p:nvSpPr>
        <p:spPr>
          <a:xfrm>
            <a:off x="7907540" y="2012951"/>
            <a:ext cx="17272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576">
              <a:defRPr sz="1650" b="0">
                <a:solidFill>
                  <a:srgbClr val="6B6B6B"/>
                </a:solidFill>
              </a:defRPr>
            </a:pPr>
            <a:r>
              <a:rPr sz="1100" dirty="0">
                <a:solidFill>
                  <a:schemeClr val="accent3">
                    <a:lumMod val="50000"/>
                  </a:schemeClr>
                </a:solidFill>
              </a:rPr>
              <a:t>AI-</a:t>
            </a:r>
            <a:r>
              <a:rPr sz="1100" dirty="0" err="1">
                <a:solidFill>
                  <a:schemeClr val="accent3">
                    <a:lumMod val="50000"/>
                  </a:schemeClr>
                </a:solidFill>
              </a:rPr>
              <a:t>дневник</a:t>
            </a:r>
            <a:endParaRPr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7" name="cleo-description">
            <a:extLst>
              <a:ext uri="{FF2B5EF4-FFF2-40B4-BE49-F238E27FC236}">
                <a16:creationId xmlns:a16="http://schemas.microsoft.com/office/drawing/2014/main" id="{4AC0C5B1-D49B-E0B3-FBE2-01DA385061FB}"/>
              </a:ext>
            </a:extLst>
          </p:cNvPr>
          <p:cNvSpPr>
            <a:spLocks noGrp="1"/>
          </p:cNvSpPr>
          <p:nvPr/>
        </p:nvSpPr>
        <p:spPr>
          <a:xfrm>
            <a:off x="1776324" y="2247900"/>
            <a:ext cx="1701800" cy="520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defTabSz="609576">
              <a:defRPr sz="172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</a:rPr>
              <a:t>Разбирает расходы</a:t>
            </a:r>
          </a:p>
          <a:p>
            <a:pPr defTabSz="609576">
              <a:defRPr sz="172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</a:rPr>
              <a:t>и помогает управлять</a:t>
            </a:r>
          </a:p>
          <a:p>
            <a:pPr defTabSz="609576">
              <a:defRPr sz="172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</a:rPr>
              <a:t>личными финансами</a:t>
            </a:r>
          </a:p>
        </p:txBody>
      </p:sp>
      <p:sp>
        <p:nvSpPr>
          <p:cNvPr id="69" name="cell-block">
            <a:extLst>
              <a:ext uri="{FF2B5EF4-FFF2-40B4-BE49-F238E27FC236}">
                <a16:creationId xmlns:a16="http://schemas.microsoft.com/office/drawing/2014/main" id="{2F19251D-9BC2-D5DA-F493-B0374774DA2B}"/>
              </a:ext>
            </a:extLst>
          </p:cNvPr>
          <p:cNvSpPr/>
          <p:nvPr/>
        </p:nvSpPr>
        <p:spPr>
          <a:xfrm>
            <a:off x="1693743" y="2870119"/>
            <a:ext cx="1789810" cy="12953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0" name="cell-block">
            <a:extLst>
              <a:ext uri="{FF2B5EF4-FFF2-40B4-BE49-F238E27FC236}">
                <a16:creationId xmlns:a16="http://schemas.microsoft.com/office/drawing/2014/main" id="{3A1254F7-BD6C-8D47-763F-327DADB6C7C3}"/>
              </a:ext>
            </a:extLst>
          </p:cNvPr>
          <p:cNvSpPr/>
          <p:nvPr/>
        </p:nvSpPr>
        <p:spPr>
          <a:xfrm>
            <a:off x="1693743" y="4241719"/>
            <a:ext cx="1789810" cy="10921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1" name="cell-block">
            <a:extLst>
              <a:ext uri="{FF2B5EF4-FFF2-40B4-BE49-F238E27FC236}">
                <a16:creationId xmlns:a16="http://schemas.microsoft.com/office/drawing/2014/main" id="{6F34EBFA-95F3-E88F-656B-C10800577CD2}"/>
              </a:ext>
            </a:extLst>
          </p:cNvPr>
          <p:cNvSpPr/>
          <p:nvPr/>
        </p:nvSpPr>
        <p:spPr>
          <a:xfrm>
            <a:off x="1693743" y="5410139"/>
            <a:ext cx="178981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72" name="Таблица 71">
            <a:extLst>
              <a:ext uri="{FF2B5EF4-FFF2-40B4-BE49-F238E27FC236}">
                <a16:creationId xmlns:a16="http://schemas.microsoft.com/office/drawing/2014/main" id="{93720372-6738-8176-3A1C-E0955BB90A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8613585"/>
              </p:ext>
            </p:extLst>
          </p:nvPr>
        </p:nvGraphicFramePr>
        <p:xfrm>
          <a:off x="1693743" y="2870210"/>
          <a:ext cx="1789810" cy="3530570"/>
        </p:xfrm>
        <a:graphic>
          <a:graphicData uri="http://schemas.openxmlformats.org/drawingml/2006/table">
            <a:tbl>
              <a:tblPr/>
              <a:tblGrid>
                <a:gridCol w="1789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r>
                        <a:rPr lang="ru-RU" sz="1050" b="0" dirty="0">
                          <a:solidFill>
                            <a:srgbClr val="111111"/>
                          </a:solidFill>
                        </a:rPr>
                        <a:t>Пре-сет ап через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наблюдение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по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lang="ru-RU" sz="1050" b="0" dirty="0">
                          <a:solidFill>
                            <a:srgbClr val="111111"/>
                          </a:solidFill>
                        </a:rPr>
                        <a:t>фин.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операциям</a:t>
                      </a:r>
                      <a:r>
                        <a:rPr lang="ru-RU" sz="1050" b="0" dirty="0">
                          <a:solidFill>
                            <a:srgbClr val="111111"/>
                          </a:solidFill>
                        </a:rPr>
                        <a:t>, затем – уточняющие вопросы.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«Что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разберём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сначала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:</a:t>
                      </a:r>
                      <a:r>
                        <a:rPr lang="ru-RU" sz="1050" b="1">
                          <a:solidFill>
                            <a:srgbClr val="111111"/>
                          </a:solidFill>
                        </a:rPr>
                        <a:t> такси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или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еду</a:t>
                      </a:r>
                      <a:r>
                        <a:rPr lang="ru-RU"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навынос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?»</a:t>
                      </a: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570">
                <a:tc>
                  <a:txBody>
                    <a:bodyPr/>
                    <a:lstStyle/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Финансовый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профиль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для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персональных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советов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с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учётом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текущего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запроса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3" name="tolan-description">
            <a:extLst>
              <a:ext uri="{FF2B5EF4-FFF2-40B4-BE49-F238E27FC236}">
                <a16:creationId xmlns:a16="http://schemas.microsoft.com/office/drawing/2014/main" id="{05826E7B-3B68-99D5-BAE4-A96F7017F42C}"/>
              </a:ext>
            </a:extLst>
          </p:cNvPr>
          <p:cNvSpPr>
            <a:spLocks noGrp="1"/>
          </p:cNvSpPr>
          <p:nvPr/>
        </p:nvSpPr>
        <p:spPr>
          <a:xfrm>
            <a:off x="3820062" y="2247900"/>
            <a:ext cx="1701800" cy="520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defTabSz="609576">
              <a:defRPr sz="172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</a:rPr>
              <a:t>Инопланетный друг</a:t>
            </a:r>
          </a:p>
          <a:p>
            <a:pPr defTabSz="609576">
              <a:defRPr sz="172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</a:rPr>
              <a:t>для голосового общения</a:t>
            </a:r>
          </a:p>
          <a:p>
            <a:pPr defTabSz="609576">
              <a:defRPr sz="172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</a:rPr>
              <a:t>о повседневной жизни</a:t>
            </a:r>
          </a:p>
        </p:txBody>
      </p:sp>
      <p:sp>
        <p:nvSpPr>
          <p:cNvPr id="74" name="cell-block">
            <a:extLst>
              <a:ext uri="{FF2B5EF4-FFF2-40B4-BE49-F238E27FC236}">
                <a16:creationId xmlns:a16="http://schemas.microsoft.com/office/drawing/2014/main" id="{BC0F8B06-B345-9ABD-6C90-43F34B43682E}"/>
              </a:ext>
            </a:extLst>
          </p:cNvPr>
          <p:cNvSpPr/>
          <p:nvPr/>
        </p:nvSpPr>
        <p:spPr>
          <a:xfrm>
            <a:off x="3737482" y="2870119"/>
            <a:ext cx="1789810" cy="12953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5" name="cell-block">
            <a:extLst>
              <a:ext uri="{FF2B5EF4-FFF2-40B4-BE49-F238E27FC236}">
                <a16:creationId xmlns:a16="http://schemas.microsoft.com/office/drawing/2014/main" id="{394E6E10-F662-0F84-BE14-E5E45CEC02BF}"/>
              </a:ext>
            </a:extLst>
          </p:cNvPr>
          <p:cNvSpPr/>
          <p:nvPr/>
        </p:nvSpPr>
        <p:spPr>
          <a:xfrm>
            <a:off x="3737482" y="4241719"/>
            <a:ext cx="1789810" cy="10921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7" name="cell-block">
            <a:extLst>
              <a:ext uri="{FF2B5EF4-FFF2-40B4-BE49-F238E27FC236}">
                <a16:creationId xmlns:a16="http://schemas.microsoft.com/office/drawing/2014/main" id="{F99D19B1-6539-0013-7102-D87441039AAB}"/>
              </a:ext>
            </a:extLst>
          </p:cNvPr>
          <p:cNvSpPr/>
          <p:nvPr/>
        </p:nvSpPr>
        <p:spPr>
          <a:xfrm>
            <a:off x="3737482" y="5410139"/>
            <a:ext cx="178981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78" name="Таблица 77">
            <a:extLst>
              <a:ext uri="{FF2B5EF4-FFF2-40B4-BE49-F238E27FC236}">
                <a16:creationId xmlns:a16="http://schemas.microsoft.com/office/drawing/2014/main" id="{BC70EB57-9A03-0F15-5EAF-8952A5F395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1251281"/>
              </p:ext>
            </p:extLst>
          </p:nvPr>
        </p:nvGraphicFramePr>
        <p:xfrm>
          <a:off x="3737482" y="2870210"/>
          <a:ext cx="1789810" cy="3530570"/>
        </p:xfrm>
        <a:graphic>
          <a:graphicData uri="http://schemas.openxmlformats.org/drawingml/2006/table">
            <a:tbl>
              <a:tblPr/>
              <a:tblGrid>
                <a:gridCol w="1789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r>
                        <a:rPr lang="ru-RU" sz="1050" dirty="0"/>
                        <a:t>Знакомство как развлекательный тест – пользователя встречает персонаж, который должен подобрать подходящего друга. </a:t>
                      </a:r>
                      <a:endParaRPr lang="ru-RU" sz="1050" b="0" dirty="0">
                        <a:solidFill>
                          <a:srgbClr val="111111"/>
                        </a:solidFill>
                      </a:endParaRP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«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Какие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у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тебя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цели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?»</a:t>
                      </a:r>
                    </a:p>
                    <a:p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«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О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чём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ты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можешь</a:t>
                      </a:r>
                      <a:endParaRPr sz="1050" b="1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говорить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бесконечно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?»</a:t>
                      </a:r>
                      <a:endParaRPr lang="en-US" sz="1050" b="1" dirty="0">
                        <a:solidFill>
                          <a:srgbClr val="111111"/>
                        </a:solidFill>
                      </a:endParaRP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570">
                <a:tc>
                  <a:txBody>
                    <a:bodyPr/>
                    <a:lstStyle/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Интересы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цели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для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выбора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тем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продолжения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личного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диалога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9" name="replika-description">
            <a:extLst>
              <a:ext uri="{FF2B5EF4-FFF2-40B4-BE49-F238E27FC236}">
                <a16:creationId xmlns:a16="http://schemas.microsoft.com/office/drawing/2014/main" id="{3C8E3BCA-8D21-1515-69A1-1100273CF695}"/>
              </a:ext>
            </a:extLst>
          </p:cNvPr>
          <p:cNvSpPr>
            <a:spLocks noGrp="1"/>
          </p:cNvSpPr>
          <p:nvPr/>
        </p:nvSpPr>
        <p:spPr>
          <a:xfrm>
            <a:off x="5863801" y="2247900"/>
            <a:ext cx="1701800" cy="520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defTabSz="609576">
              <a:defRPr sz="172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</a:rPr>
              <a:t>Собеседник для</a:t>
            </a:r>
          </a:p>
          <a:p>
            <a:pPr defTabSz="609576">
              <a:defRPr sz="172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</a:rPr>
              <a:t>повседневного общения</a:t>
            </a:r>
          </a:p>
          <a:p>
            <a:pPr defTabSz="609576">
              <a:defRPr sz="172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</a:rPr>
              <a:t>и поддержки</a:t>
            </a:r>
          </a:p>
        </p:txBody>
      </p:sp>
      <p:sp>
        <p:nvSpPr>
          <p:cNvPr id="80" name="cell-block">
            <a:extLst>
              <a:ext uri="{FF2B5EF4-FFF2-40B4-BE49-F238E27FC236}">
                <a16:creationId xmlns:a16="http://schemas.microsoft.com/office/drawing/2014/main" id="{18695748-B187-578F-A167-82E7C271C112}"/>
              </a:ext>
            </a:extLst>
          </p:cNvPr>
          <p:cNvSpPr/>
          <p:nvPr/>
        </p:nvSpPr>
        <p:spPr>
          <a:xfrm>
            <a:off x="5781221" y="2870119"/>
            <a:ext cx="1789810" cy="12953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81" name="cell-block">
            <a:extLst>
              <a:ext uri="{FF2B5EF4-FFF2-40B4-BE49-F238E27FC236}">
                <a16:creationId xmlns:a16="http://schemas.microsoft.com/office/drawing/2014/main" id="{A0A37FA0-B670-5D72-C4F9-9451F3485E5D}"/>
              </a:ext>
            </a:extLst>
          </p:cNvPr>
          <p:cNvSpPr/>
          <p:nvPr/>
        </p:nvSpPr>
        <p:spPr>
          <a:xfrm>
            <a:off x="5781221" y="4241719"/>
            <a:ext cx="1789810" cy="10921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83" name="cell-block">
            <a:extLst>
              <a:ext uri="{FF2B5EF4-FFF2-40B4-BE49-F238E27FC236}">
                <a16:creationId xmlns:a16="http://schemas.microsoft.com/office/drawing/2014/main" id="{0EABDBD0-7433-1A07-5394-43B36D7E9D17}"/>
              </a:ext>
            </a:extLst>
          </p:cNvPr>
          <p:cNvSpPr/>
          <p:nvPr/>
        </p:nvSpPr>
        <p:spPr>
          <a:xfrm>
            <a:off x="5781221" y="5410139"/>
            <a:ext cx="178981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85" name="Таблица 84">
            <a:extLst>
              <a:ext uri="{FF2B5EF4-FFF2-40B4-BE49-F238E27FC236}">
                <a16:creationId xmlns:a16="http://schemas.microsoft.com/office/drawing/2014/main" id="{33288487-0207-7C7D-4BF0-506631B455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3288587"/>
              </p:ext>
            </p:extLst>
          </p:nvPr>
        </p:nvGraphicFramePr>
        <p:xfrm>
          <a:off x="5781221" y="2870210"/>
          <a:ext cx="1789810" cy="3530570"/>
        </p:xfrm>
        <a:graphic>
          <a:graphicData uri="http://schemas.openxmlformats.org/drawingml/2006/table">
            <a:tbl>
              <a:tblPr/>
              <a:tblGrid>
                <a:gridCol w="1789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r>
                        <a:rPr lang="ru-RU" sz="1050" dirty="0"/>
                        <a:t>Вовлечение через создание собеседника - продукт получает сведения об ожидаемом стиле общения и характере ещё до начала чата.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«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Почему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ты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скачал</a:t>
                      </a:r>
                      <a:endParaRPr sz="1050" b="1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Replika?»</a:t>
                      </a:r>
                    </a:p>
                    <a:p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«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Какой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компаньон</a:t>
                      </a:r>
                      <a:endParaRPr sz="1050" b="1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для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тебя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идеален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?»</a:t>
                      </a:r>
                      <a:r>
                        <a:rPr lang="ru-RU" sz="1050" b="1" dirty="0">
                          <a:solidFill>
                            <a:srgbClr val="111111"/>
                          </a:solidFill>
                        </a:rPr>
                        <a:t> (с опцией выбора качеств)</a:t>
                      </a:r>
                      <a:endParaRPr sz="1050" b="1" dirty="0">
                        <a:solidFill>
                          <a:srgbClr val="111111"/>
                        </a:solidFill>
                      </a:endParaRP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570">
                <a:tc>
                  <a:txBody>
                    <a:bodyPr/>
                    <a:lstStyle/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Ожидания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от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общения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для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настройки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тона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способов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поддержки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7" name="rosebud-description">
            <a:extLst>
              <a:ext uri="{FF2B5EF4-FFF2-40B4-BE49-F238E27FC236}">
                <a16:creationId xmlns:a16="http://schemas.microsoft.com/office/drawing/2014/main" id="{5D10960F-229A-6D79-9EA5-961BC6F26BD7}"/>
              </a:ext>
            </a:extLst>
          </p:cNvPr>
          <p:cNvSpPr>
            <a:spLocks noGrp="1"/>
          </p:cNvSpPr>
          <p:nvPr/>
        </p:nvSpPr>
        <p:spPr>
          <a:xfrm>
            <a:off x="7907540" y="2247900"/>
            <a:ext cx="1701800" cy="520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defTabSz="609576">
              <a:defRPr sz="172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</a:rPr>
              <a:t>Помогает осмыслить</a:t>
            </a:r>
          </a:p>
          <a:p>
            <a:pPr defTabSz="609576">
              <a:defRPr sz="172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</a:rPr>
              <a:t>переживания в диалоге</a:t>
            </a:r>
          </a:p>
          <a:p>
            <a:pPr defTabSz="609576">
              <a:defRPr sz="172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</a:rPr>
              <a:t>с AI через дневник</a:t>
            </a:r>
          </a:p>
        </p:txBody>
      </p:sp>
      <p:sp>
        <p:nvSpPr>
          <p:cNvPr id="88" name="cell-block">
            <a:extLst>
              <a:ext uri="{FF2B5EF4-FFF2-40B4-BE49-F238E27FC236}">
                <a16:creationId xmlns:a16="http://schemas.microsoft.com/office/drawing/2014/main" id="{FE5B252F-C5BF-FFD9-958C-AE0FA533F152}"/>
              </a:ext>
            </a:extLst>
          </p:cNvPr>
          <p:cNvSpPr/>
          <p:nvPr/>
        </p:nvSpPr>
        <p:spPr>
          <a:xfrm>
            <a:off x="7824960" y="2870119"/>
            <a:ext cx="1789810" cy="12953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89" name="cell-block">
            <a:extLst>
              <a:ext uri="{FF2B5EF4-FFF2-40B4-BE49-F238E27FC236}">
                <a16:creationId xmlns:a16="http://schemas.microsoft.com/office/drawing/2014/main" id="{494627ED-A847-98BF-0C78-1824780C55BE}"/>
              </a:ext>
            </a:extLst>
          </p:cNvPr>
          <p:cNvSpPr/>
          <p:nvPr/>
        </p:nvSpPr>
        <p:spPr>
          <a:xfrm>
            <a:off x="7824960" y="4241719"/>
            <a:ext cx="1789810" cy="10921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91" name="cell-block">
            <a:extLst>
              <a:ext uri="{FF2B5EF4-FFF2-40B4-BE49-F238E27FC236}">
                <a16:creationId xmlns:a16="http://schemas.microsoft.com/office/drawing/2014/main" id="{A4DDB340-C1E9-C0CE-FBC8-24ED27B814EF}"/>
              </a:ext>
            </a:extLst>
          </p:cNvPr>
          <p:cNvSpPr/>
          <p:nvPr/>
        </p:nvSpPr>
        <p:spPr>
          <a:xfrm>
            <a:off x="7824960" y="5410139"/>
            <a:ext cx="178981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92" name="Таблица 91">
            <a:extLst>
              <a:ext uri="{FF2B5EF4-FFF2-40B4-BE49-F238E27FC236}">
                <a16:creationId xmlns:a16="http://schemas.microsoft.com/office/drawing/2014/main" id="{5FF919B2-D3F2-EF12-7D8F-4D2CCA0352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6995043"/>
              </p:ext>
            </p:extLst>
          </p:nvPr>
        </p:nvGraphicFramePr>
        <p:xfrm>
          <a:off x="7824960" y="2870210"/>
          <a:ext cx="1789810" cy="3530570"/>
        </p:xfrm>
        <a:graphic>
          <a:graphicData uri="http://schemas.openxmlformats.org/drawingml/2006/table">
            <a:tbl>
              <a:tblPr/>
              <a:tblGrid>
                <a:gridCol w="1789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Выбор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цели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первая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запись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в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AI-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дневнике</a:t>
                      </a:r>
                      <a:r>
                        <a:rPr lang="ru-RU" sz="1050" b="0" dirty="0">
                          <a:solidFill>
                            <a:srgbClr val="111111"/>
                          </a:solidFill>
                        </a:rPr>
                        <a:t> , после - </a:t>
                      </a:r>
                      <a:r>
                        <a:rPr lang="ru-RU" sz="1050" dirty="0"/>
                        <a:t>отклик AI, помогающий осмыслить написанное.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«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Что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привело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тебя</a:t>
                      </a:r>
                      <a:endParaRPr sz="1050" b="1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в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Rosebud?»</a:t>
                      </a: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570">
                <a:tc>
                  <a:txBody>
                    <a:bodyPr/>
                    <a:lstStyle/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Цели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переживания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для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уточнений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отслеживания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изменений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3" name="rosebud-column">
            <a:extLst>
              <a:ext uri="{FF2B5EF4-FFF2-40B4-BE49-F238E27FC236}">
                <a16:creationId xmlns:a16="http://schemas.microsoft.com/office/drawing/2014/main" id="{980CDE1A-72F9-3C46-F42F-5C3A88313F4A}"/>
              </a:ext>
            </a:extLst>
          </p:cNvPr>
          <p:cNvSpPr>
            <a:spLocks noGrp="1"/>
          </p:cNvSpPr>
          <p:nvPr/>
        </p:nvSpPr>
        <p:spPr>
          <a:xfrm>
            <a:off x="9792529" y="3667658"/>
            <a:ext cx="1942240" cy="2733142"/>
          </a:xfrm>
          <a:prstGeom prst="roundRect">
            <a:avLst>
              <a:gd name="adj" fmla="val 9000"/>
            </a:avLst>
          </a:prstGeom>
          <a:solidFill>
            <a:srgbClr val="D8E7F4"/>
          </a:solidFill>
          <a:ln w="12383">
            <a:noFill/>
          </a:ln>
        </p:spPr>
        <p:txBody>
          <a:bodyPr/>
          <a:lstStyle/>
          <a:p>
            <a:pPr defTabSz="609576"/>
            <a:endParaRPr lang="ru-RU" sz="1200">
              <a:solidFill>
                <a:srgbClr val="FFFFFF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C2A2A35-F687-0657-9596-50C2DBC85608}"/>
              </a:ext>
            </a:extLst>
          </p:cNvPr>
          <p:cNvSpPr txBox="1"/>
          <p:nvPr/>
        </p:nvSpPr>
        <p:spPr>
          <a:xfrm>
            <a:off x="9866230" y="3787079"/>
            <a:ext cx="17948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accent3">
                    <a:lumMod val="50000"/>
                  </a:schemeClr>
                </a:solidFill>
              </a:rPr>
              <a:t>ChatGPT</a:t>
            </a:r>
            <a:r>
              <a:rPr lang="ru-RU" sz="2100" b="1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endParaRPr lang="en-US" sz="2100" b="1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sz="2100" b="1" dirty="0">
                <a:solidFill>
                  <a:schemeClr val="accent3">
                    <a:lumMod val="50000"/>
                  </a:schemeClr>
                </a:solidFill>
              </a:rPr>
              <a:t>DeepSeek</a:t>
            </a:r>
            <a:r>
              <a:rPr lang="ru-RU" sz="2100" b="1" dirty="0">
                <a:solidFill>
                  <a:schemeClr val="accent3">
                    <a:lumMod val="50000"/>
                  </a:schemeClr>
                </a:solidFill>
              </a:rPr>
              <a:t>, </a:t>
            </a:r>
          </a:p>
          <a:p>
            <a:r>
              <a:rPr lang="en-US" sz="2100" b="1" dirty="0">
                <a:solidFill>
                  <a:schemeClr val="accent3">
                    <a:lumMod val="50000"/>
                  </a:schemeClr>
                </a:solidFill>
              </a:rPr>
              <a:t>Copilot, Gemini**</a:t>
            </a:r>
          </a:p>
          <a:p>
            <a:endParaRPr lang="en-US" dirty="0">
              <a:solidFill>
                <a:srgbClr val="111111"/>
              </a:solidFill>
            </a:endParaRPr>
          </a:p>
          <a:p>
            <a:r>
              <a:rPr lang="ru-RU" sz="1200" dirty="0">
                <a:solidFill>
                  <a:srgbClr val="111111"/>
                </a:solidFill>
              </a:rPr>
              <a:t>не используют подобные механики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731B020-58FF-9C72-D38C-E8A7F3ABF830}"/>
              </a:ext>
            </a:extLst>
          </p:cNvPr>
          <p:cNvSpPr txBox="1"/>
          <p:nvPr/>
        </p:nvSpPr>
        <p:spPr>
          <a:xfrm>
            <a:off x="9866230" y="1548079"/>
            <a:ext cx="1794839" cy="1983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503377"/>
            <a:r>
              <a:rPr lang="en-US" sz="1725" b="1" dirty="0">
                <a:solidFill>
                  <a:srgbClr val="FFFFFF"/>
                </a:solidFill>
              </a:rPr>
              <a:t>Claude**</a:t>
            </a:r>
          </a:p>
          <a:p>
            <a:endParaRPr lang="en-US" sz="1200" dirty="0">
              <a:solidFill>
                <a:srgbClr val="FFFFFF"/>
              </a:solidFill>
            </a:endParaRPr>
          </a:p>
          <a:p>
            <a:r>
              <a:rPr lang="ru-RU" sz="1200" dirty="0">
                <a:solidFill>
                  <a:srgbClr val="FFFFFF"/>
                </a:solidFill>
              </a:rPr>
              <a:t>При </a:t>
            </a:r>
            <a:r>
              <a:rPr lang="ru-RU" sz="1200" dirty="0" err="1">
                <a:solidFill>
                  <a:srgbClr val="FFFFFF"/>
                </a:solidFill>
              </a:rPr>
              <a:t>онбординге</a:t>
            </a:r>
            <a:r>
              <a:rPr lang="ru-RU" sz="1200" dirty="0">
                <a:solidFill>
                  <a:srgbClr val="FFFFFF"/>
                </a:solidFill>
              </a:rPr>
              <a:t> пользователь указывает имя, интересы и предпочитаемый тип задачи</a:t>
            </a:r>
            <a:r>
              <a:rPr lang="en-US" sz="1200" dirty="0">
                <a:solidFill>
                  <a:srgbClr val="FFFFFF"/>
                </a:solidFill>
              </a:rPr>
              <a:t>.</a:t>
            </a:r>
            <a:endParaRPr lang="ru-RU" sz="1200" dirty="0">
              <a:solidFill>
                <a:srgbClr val="FFFFFF"/>
              </a:solidFill>
            </a:endParaRPr>
          </a:p>
        </p:txBody>
      </p:sp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DBF90770-7529-6265-13ED-A6C4A3F725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9957670" y="1549359"/>
            <a:ext cx="393649" cy="393649"/>
          </a:xfrm>
          <a:prstGeom prst="roundRect">
            <a:avLst>
              <a:gd name="adj" fmla="val 20968"/>
            </a:avLst>
          </a:prstGeom>
        </p:spPr>
      </p:pic>
      <p:cxnSp>
        <p:nvCxnSpPr>
          <p:cNvPr id="97" name="Прямая соединительная линия 96">
            <a:extLst>
              <a:ext uri="{FF2B5EF4-FFF2-40B4-BE49-F238E27FC236}">
                <a16:creationId xmlns:a16="http://schemas.microsoft.com/office/drawing/2014/main" id="{C2621009-E244-7A54-C298-65CBA66B948D}"/>
              </a:ext>
            </a:extLst>
          </p:cNvPr>
          <p:cNvCxnSpPr>
            <a:cxnSpLocks/>
          </p:cNvCxnSpPr>
          <p:nvPr/>
        </p:nvCxnSpPr>
        <p:spPr>
          <a:xfrm>
            <a:off x="1569110" y="2870119"/>
            <a:ext cx="0" cy="1295339"/>
          </a:xfrm>
          <a:prstGeom prst="line">
            <a:avLst/>
          </a:prstGeom>
          <a:ln w="15875">
            <a:gradFill flip="none" rotWithShape="1">
              <a:gsLst>
                <a:gs pos="68000">
                  <a:schemeClr val="accent3"/>
                </a:gs>
                <a:gs pos="12000">
                  <a:schemeClr val="accent2">
                    <a:lumMod val="98000"/>
                  </a:schemeClr>
                </a:gs>
                <a:gs pos="100000">
                  <a:schemeClr val="accent2">
                    <a:alpha val="0"/>
                  </a:schemeClr>
                </a:gs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95000">
                  <a:schemeClr val="accent3">
                    <a:lumMod val="66000"/>
                  </a:schemeClr>
                </a:gs>
              </a:gsLst>
              <a:lin ang="16200000" scaled="1"/>
              <a:tileRect/>
            </a:gra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единительная линия 97">
            <a:extLst>
              <a:ext uri="{FF2B5EF4-FFF2-40B4-BE49-F238E27FC236}">
                <a16:creationId xmlns:a16="http://schemas.microsoft.com/office/drawing/2014/main" id="{2BF2FF76-F8B8-35E6-038C-80F264D18C1C}"/>
              </a:ext>
            </a:extLst>
          </p:cNvPr>
          <p:cNvCxnSpPr>
            <a:cxnSpLocks/>
          </p:cNvCxnSpPr>
          <p:nvPr/>
        </p:nvCxnSpPr>
        <p:spPr>
          <a:xfrm>
            <a:off x="1569110" y="4241719"/>
            <a:ext cx="0" cy="1092159"/>
          </a:xfrm>
          <a:prstGeom prst="line">
            <a:avLst/>
          </a:prstGeom>
          <a:ln w="15875">
            <a:gradFill flip="none" rotWithShape="1">
              <a:gsLst>
                <a:gs pos="68000">
                  <a:schemeClr val="accent3"/>
                </a:gs>
                <a:gs pos="12000">
                  <a:schemeClr val="accent2">
                    <a:lumMod val="98000"/>
                  </a:schemeClr>
                </a:gs>
                <a:gs pos="100000">
                  <a:schemeClr val="accent2">
                    <a:alpha val="0"/>
                  </a:schemeClr>
                </a:gs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95000">
                  <a:schemeClr val="accent3">
                    <a:lumMod val="66000"/>
                  </a:schemeClr>
                </a:gs>
              </a:gsLst>
              <a:lin ang="16200000" scaled="1"/>
              <a:tileRect/>
            </a:gra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единительная линия 98">
            <a:extLst>
              <a:ext uri="{FF2B5EF4-FFF2-40B4-BE49-F238E27FC236}">
                <a16:creationId xmlns:a16="http://schemas.microsoft.com/office/drawing/2014/main" id="{116C91DB-87A1-2055-69C0-D6D4F98862C5}"/>
              </a:ext>
            </a:extLst>
          </p:cNvPr>
          <p:cNvCxnSpPr>
            <a:cxnSpLocks/>
          </p:cNvCxnSpPr>
          <p:nvPr/>
        </p:nvCxnSpPr>
        <p:spPr>
          <a:xfrm>
            <a:off x="1569110" y="5410139"/>
            <a:ext cx="0" cy="914400"/>
          </a:xfrm>
          <a:prstGeom prst="line">
            <a:avLst/>
          </a:prstGeom>
          <a:ln w="15875">
            <a:gradFill flip="none" rotWithShape="1">
              <a:gsLst>
                <a:gs pos="68000">
                  <a:schemeClr val="accent3"/>
                </a:gs>
                <a:gs pos="12000">
                  <a:schemeClr val="accent2">
                    <a:lumMod val="98000"/>
                  </a:schemeClr>
                </a:gs>
                <a:gs pos="100000">
                  <a:schemeClr val="accent2">
                    <a:alpha val="0"/>
                  </a:schemeClr>
                </a:gs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95000">
                  <a:schemeClr val="accent3">
                    <a:lumMod val="66000"/>
                  </a:schemeClr>
                </a:gs>
              </a:gsLst>
              <a:lin ang="16200000" scaled="1"/>
              <a:tileRect/>
            </a:gra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91865347-4FE3-B3CE-39A7-A00B5DF760E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939" y="1423882"/>
            <a:ext cx="1321865" cy="132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79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Lane fast 228">
            <a:extLst>
              <a:ext uri="{FF2B5EF4-FFF2-40B4-BE49-F238E27FC236}">
                <a16:creationId xmlns:a16="http://schemas.microsoft.com/office/drawing/2014/main" id="{E0D3C5A2-26F0-1FBE-6FC5-A1AD8273CA94}"/>
              </a:ext>
            </a:extLst>
          </p:cNvPr>
          <p:cNvSpPr/>
          <p:nvPr/>
        </p:nvSpPr>
        <p:spPr>
          <a:xfrm>
            <a:off x="3980979" y="5115593"/>
            <a:ext cx="4402865" cy="512064"/>
          </a:xfrm>
          <a:prstGeom prst="homePlate">
            <a:avLst>
              <a:gd name="adj" fmla="val 40174"/>
            </a:avLst>
          </a:prstGeom>
          <a:gradFill flip="none" rotWithShape="1">
            <a:gsLst>
              <a:gs pos="12000">
                <a:srgbClr val="F1FDF9">
                  <a:alpha val="0"/>
                </a:srgbClr>
              </a:gs>
              <a:gs pos="0">
                <a:schemeClr val="bg1">
                  <a:alpha val="0"/>
                </a:schemeClr>
              </a:gs>
              <a:gs pos="73000">
                <a:schemeClr val="accent3">
                  <a:alpha val="46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76200"/>
          </a:effectLst>
        </p:spPr>
        <p:txBody>
          <a:bodyPr wrap="square" lIns="827999" tIns="0" rIns="381000" bIns="0" rtlCol="0" anchor="ctr">
            <a:noAutofit/>
          </a:bodyPr>
          <a:lstStyle/>
          <a:p>
            <a:pPr algn="l"/>
            <a:endParaRPr lang="ru-RU" sz="1200" b="1" dirty="0">
              <a:solidFill>
                <a:srgbClr val="0B6E4F"/>
              </a:solidFill>
            </a:endParaRPr>
          </a:p>
        </p:txBody>
      </p:sp>
      <p:sp>
        <p:nvSpPr>
          <p:cNvPr id="16" name="case0">
            <a:extLst>
              <a:ext uri="{FF2B5EF4-FFF2-40B4-BE49-F238E27FC236}">
                <a16:creationId xmlns:a16="http://schemas.microsoft.com/office/drawing/2014/main" id="{16005E82-593C-A7E0-2F5F-36D0A1B11CE9}"/>
              </a:ext>
            </a:extLst>
          </p:cNvPr>
          <p:cNvSpPr>
            <a:spLocks noGrp="1"/>
          </p:cNvSpPr>
          <p:nvPr/>
        </p:nvSpPr>
        <p:spPr>
          <a:xfrm>
            <a:off x="4370832" y="1920240"/>
            <a:ext cx="3542020" cy="684063"/>
          </a:xfrm>
          <a:prstGeom prst="roundRect">
            <a:avLst/>
          </a:prstGeom>
          <a:noFill/>
          <a:ln w="9525">
            <a:solidFill>
              <a:srgbClr val="19A77F"/>
            </a:solidFill>
          </a:ln>
        </p:spPr>
        <p:txBody>
          <a:bodyPr lIns="108000" anchor="t">
            <a:noAutofit/>
          </a:bodyPr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11111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 Semibold"/>
              </a:rPr>
              <a:t>Roast Me / Hype Me</a:t>
            </a:r>
          </a:p>
        </p:txBody>
      </p:sp>
      <p:sp>
        <p:nvSpPr>
          <p:cNvPr id="24" name="case1">
            <a:extLst>
              <a:ext uri="{FF2B5EF4-FFF2-40B4-BE49-F238E27FC236}">
                <a16:creationId xmlns:a16="http://schemas.microsoft.com/office/drawing/2014/main" id="{805A7FBF-F1E0-59EE-EA6B-335E7C2832C0}"/>
              </a:ext>
            </a:extLst>
          </p:cNvPr>
          <p:cNvSpPr>
            <a:spLocks noGrp="1"/>
          </p:cNvSpPr>
          <p:nvPr/>
        </p:nvSpPr>
        <p:spPr>
          <a:xfrm>
            <a:off x="4370832" y="2719078"/>
            <a:ext cx="3542020" cy="684063"/>
          </a:xfrm>
          <a:prstGeom prst="roundRect">
            <a:avLst/>
          </a:prstGeom>
          <a:noFill/>
          <a:ln w="9525">
            <a:solidFill>
              <a:srgbClr val="19A77F"/>
            </a:solidFill>
          </a:ln>
        </p:spPr>
        <p:txBody>
          <a:bodyPr lIns="108000" anchor="t">
            <a:noAutofit/>
          </a:bodyPr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11111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 Semibold"/>
              </a:rPr>
              <a:t>Money IQ</a:t>
            </a:r>
          </a:p>
        </p:txBody>
      </p:sp>
      <p:sp>
        <p:nvSpPr>
          <p:cNvPr id="29" name="case2">
            <a:extLst>
              <a:ext uri="{FF2B5EF4-FFF2-40B4-BE49-F238E27FC236}">
                <a16:creationId xmlns:a16="http://schemas.microsoft.com/office/drawing/2014/main" id="{B08BB19C-B997-09F4-330B-C076730A2DF2}"/>
              </a:ext>
            </a:extLst>
          </p:cNvPr>
          <p:cNvSpPr>
            <a:spLocks noGrp="1"/>
          </p:cNvSpPr>
          <p:nvPr/>
        </p:nvSpPr>
        <p:spPr>
          <a:xfrm>
            <a:off x="4370832" y="3517916"/>
            <a:ext cx="3542020" cy="684063"/>
          </a:xfrm>
          <a:prstGeom prst="roundRect">
            <a:avLst/>
          </a:prstGeom>
          <a:noFill/>
          <a:ln w="9525">
            <a:solidFill>
              <a:srgbClr val="19A77F"/>
            </a:solidFill>
          </a:ln>
        </p:spPr>
        <p:txBody>
          <a:bodyPr lIns="108000" anchor="t">
            <a:noAutofit/>
          </a:bodyPr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11111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 Semibold"/>
              </a:rPr>
              <a:t>Эмоциональный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 Semibold"/>
              </a:rPr>
              <a:t>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 Semibold"/>
              </a:rPr>
              <a:t>разбор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SB Sans Display"/>
              <a:ea typeface="SB Sans Display"/>
              <a:cs typeface="SB Sans Display Semibold"/>
            </a:endParaRPr>
          </a:p>
        </p:txBody>
      </p:sp>
      <p:sp>
        <p:nvSpPr>
          <p:cNvPr id="33" name="case3">
            <a:extLst>
              <a:ext uri="{FF2B5EF4-FFF2-40B4-BE49-F238E27FC236}">
                <a16:creationId xmlns:a16="http://schemas.microsoft.com/office/drawing/2014/main" id="{53B4CCB1-F8D2-73A8-E736-7370144D4B45}"/>
              </a:ext>
            </a:extLst>
          </p:cNvPr>
          <p:cNvSpPr>
            <a:spLocks noGrp="1"/>
          </p:cNvSpPr>
          <p:nvPr/>
        </p:nvSpPr>
        <p:spPr>
          <a:xfrm>
            <a:off x="4370832" y="4316754"/>
            <a:ext cx="3542020" cy="684063"/>
          </a:xfrm>
          <a:prstGeom prst="roundRect">
            <a:avLst/>
          </a:prstGeom>
          <a:noFill/>
          <a:ln w="9525">
            <a:solidFill>
              <a:srgbClr val="19A77F"/>
            </a:solidFill>
          </a:ln>
        </p:spPr>
        <p:txBody>
          <a:bodyPr lIns="108000" anchor="t">
            <a:noAutofit/>
          </a:bodyPr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11111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 Semibold"/>
              </a:rPr>
              <a:t>Диалог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 Semibold"/>
              </a:rPr>
              <a:t>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 Semibold"/>
              </a:rPr>
              <a:t>с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 Semibold"/>
              </a:rPr>
              <a:t> </a:t>
            </a:r>
            <a:r>
              <a:rPr kumimoji="0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 Semibold"/>
              </a:rPr>
              <a:t>памятью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SB Sans Display"/>
              <a:ea typeface="SB Sans Display"/>
              <a:cs typeface="SB Sans Display Semibold"/>
            </a:endParaRPr>
          </a:p>
        </p:txBody>
      </p:sp>
      <p:sp>
        <p:nvSpPr>
          <p:cNvPr id="52" name="rosebud-column">
            <a:extLst>
              <a:ext uri="{FF2B5EF4-FFF2-40B4-BE49-F238E27FC236}">
                <a16:creationId xmlns:a16="http://schemas.microsoft.com/office/drawing/2014/main" id="{4E84C1CF-510E-4649-CCBC-868D867F6ED4}"/>
              </a:ext>
            </a:extLst>
          </p:cNvPr>
          <p:cNvSpPr>
            <a:spLocks noGrp="1"/>
          </p:cNvSpPr>
          <p:nvPr/>
        </p:nvSpPr>
        <p:spPr>
          <a:xfrm>
            <a:off x="457200" y="5742432"/>
            <a:ext cx="11277570" cy="658368"/>
          </a:xfrm>
          <a:prstGeom prst="roundRect">
            <a:avLst>
              <a:gd name="adj" fmla="val 17036"/>
            </a:avLst>
          </a:prstGeom>
          <a:gradFill flip="none" rotWithShape="1">
            <a:gsLst>
              <a:gs pos="98000">
                <a:schemeClr val="accent3">
                  <a:lumMod val="31000"/>
                </a:schemeClr>
              </a:gs>
              <a:gs pos="51000">
                <a:schemeClr val="accent3"/>
              </a:gs>
              <a:gs pos="11000">
                <a:schemeClr val="accent2"/>
              </a:gs>
              <a:gs pos="0">
                <a:schemeClr val="accent3">
                  <a:lumMod val="97000"/>
                  <a:lumOff val="3000"/>
                </a:schemeClr>
              </a:gs>
            </a:gsLst>
            <a:lin ang="12600000" scaled="0"/>
            <a:tileRect/>
          </a:gradFill>
          <a:ln w="12383">
            <a:noFill/>
          </a:ln>
        </p:spPr>
        <p:txBody>
          <a:bodyPr lIns="228600" rIns="762000"/>
          <a:lstStyle/>
          <a:p>
            <a:pPr marL="0" marR="0" lvl="0" indent="0" algn="l" defTabSz="609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B Sans Display" panose="020F0502020204030204" pitchFamily="34" charset="0"/>
                <a:ea typeface="+mn-ea"/>
                <a:cs typeface="SB Sans Display Semibold" panose="020F0502020204030204" pitchFamily="34" charset="0"/>
              </a:rPr>
              <a:t>Можем запустить аналогичное решение на базе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B Sans Display" panose="020F0502020204030204" pitchFamily="34" charset="0"/>
                <a:ea typeface="+mn-ea"/>
                <a:cs typeface="SB Sans Display Semibold" panose="020F0502020204030204" pitchFamily="34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B Sans Display" panose="020F0502020204030204" pitchFamily="34" charset="0"/>
                <a:ea typeface="+mn-ea"/>
                <a:cs typeface="SB Sans Display Semibold" panose="020F0502020204030204" pitchFamily="34" charset="0"/>
              </a:rPr>
              <a:t>Feature Store B2C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B Sans Display" panose="020F0502020204030204" pitchFamily="34" charset="0"/>
                <a:ea typeface="+mn-ea"/>
                <a:cs typeface="SB Sans Display Semibold" panose="020F0502020204030204" pitchFamily="34" charset="0"/>
              </a:rPr>
              <a:t> и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B Sans Display" panose="020F0502020204030204" pitchFamily="34" charset="0"/>
                <a:ea typeface="+mn-ea"/>
                <a:cs typeface="SB Sans Display Semibold" panose="020F0502020204030204" pitchFamily="34" charset="0"/>
              </a:rPr>
              <a:t>Next Best Question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B Sans Display" panose="020F0502020204030204" pitchFamily="34" charset="0"/>
              <a:ea typeface="+mn-ea"/>
              <a:cs typeface="SB Sans Display Semibold" panose="020F0502020204030204" pitchFamily="34" charset="0"/>
            </a:endParaRPr>
          </a:p>
        </p:txBody>
      </p:sp>
      <p:pic>
        <p:nvPicPr>
          <p:cNvPr id="70" name="Рисунок 69"/>
          <p:cNvPicPr>
            <a:picLocks noChangeAspect="1"/>
          </p:cNvPicPr>
          <p:nvPr/>
        </p:nvPicPr>
        <p:blipFill>
          <a:blip r:embed="rId3"/>
          <a:srcRect l="78561" t="22678" r="4006" b="22462"/>
          <a:stretch/>
        </p:blipFill>
        <p:spPr>
          <a:xfrm>
            <a:off x="8215091" y="2344933"/>
            <a:ext cx="1852292" cy="4002877"/>
          </a:xfrm>
          <a:prstGeom prst="roundRect">
            <a:avLst>
              <a:gd name="adj" fmla="val 14589"/>
            </a:avLst>
          </a:prstGeom>
        </p:spPr>
      </p:pic>
      <p:pic>
        <p:nvPicPr>
          <p:cNvPr id="78" name="Рисунок 7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41831" y="2167722"/>
            <a:ext cx="2204322" cy="4343400"/>
          </a:xfrm>
          <a:prstGeom prst="rect">
            <a:avLst/>
          </a:prstGeom>
        </p:spPr>
      </p:pic>
      <p:pic>
        <p:nvPicPr>
          <p:cNvPr id="71" name="Рисунок 70"/>
          <p:cNvPicPr>
            <a:picLocks noChangeAspect="1"/>
          </p:cNvPicPr>
          <p:nvPr/>
        </p:nvPicPr>
        <p:blipFill>
          <a:blip r:embed="rId5"/>
          <a:srcRect l="22033" t="22678" r="60608" b="22462"/>
          <a:stretch/>
        </p:blipFill>
        <p:spPr>
          <a:xfrm>
            <a:off x="10147747" y="3064396"/>
            <a:ext cx="1525718" cy="3296975"/>
          </a:xfrm>
          <a:prstGeom prst="roundRect">
            <a:avLst>
              <a:gd name="adj" fmla="val 12792"/>
            </a:avLst>
          </a:prstGeom>
        </p:spPr>
      </p:pic>
      <p:pic>
        <p:nvPicPr>
          <p:cNvPr id="79" name="Рисунок 7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98941" y="2907397"/>
            <a:ext cx="1819146" cy="358444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E8EB-FF0E-D2F8-D7CB-4A140985C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2742" y="356400"/>
            <a:ext cx="9712028" cy="649224"/>
          </a:xfrm>
        </p:spPr>
        <p:txBody>
          <a:bodyPr/>
          <a:lstStyle/>
          <a:p>
            <a:r>
              <a:rPr lang="ru-RU" dirty="0"/>
              <a:t>Финансовый ИИ-ассистент, который превращает обсуждение финансов в личный, эмоциональный разговор</a:t>
            </a:r>
            <a:endParaRPr lang="en-US" dirty="0"/>
          </a:p>
        </p:txBody>
      </p:sp>
      <p:sp>
        <p:nvSpPr>
          <p:cNvPr id="12" name="maintitle">
            <a:extLst>
              <a:ext uri="{FF2B5EF4-FFF2-40B4-BE49-F238E27FC236}">
                <a16:creationId xmlns:a16="http://schemas.microsoft.com/office/drawing/2014/main" id="{CEAD35E9-11CD-6A98-5523-08ADFD1E1B6A}"/>
              </a:ext>
            </a:extLst>
          </p:cNvPr>
          <p:cNvSpPr>
            <a:spLocks noGrp="1"/>
          </p:cNvSpPr>
          <p:nvPr/>
        </p:nvSpPr>
        <p:spPr>
          <a:xfrm>
            <a:off x="4370832" y="1371600"/>
            <a:ext cx="3542020" cy="3555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rgbClr val="19A77F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1600" b="1" dirty="0">
                <a:latin typeface="+mj-lt"/>
                <a:ea typeface="+mj-ea"/>
                <a:cs typeface="+mj-cs"/>
              </a:rPr>
              <a:t>Последующее</a:t>
            </a:r>
            <a:r>
              <a:rPr sz="1600" b="1" dirty="0">
                <a:latin typeface="+mj-lt"/>
                <a:ea typeface="+mj-ea"/>
                <a:cs typeface="+mj-cs"/>
              </a:rPr>
              <a:t> </a:t>
            </a:r>
            <a:r>
              <a:rPr sz="1600" b="1" dirty="0" err="1">
                <a:latin typeface="+mj-lt"/>
                <a:ea typeface="+mj-ea"/>
                <a:cs typeface="+mj-cs"/>
              </a:rPr>
              <a:t>вовлечени</a:t>
            </a:r>
            <a:r>
              <a:rPr lang="ru-RU" sz="1600" b="1" dirty="0">
                <a:latin typeface="+mj-lt"/>
                <a:ea typeface="+mj-ea"/>
                <a:cs typeface="+mj-cs"/>
              </a:rPr>
              <a:t>е</a:t>
            </a:r>
            <a:endParaRPr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20" name="detail0">
            <a:extLst>
              <a:ext uri="{FF2B5EF4-FFF2-40B4-BE49-F238E27FC236}">
                <a16:creationId xmlns:a16="http://schemas.microsoft.com/office/drawing/2014/main" id="{3E85539D-DFE9-0024-2DB9-02188101313B}"/>
              </a:ext>
            </a:extLst>
          </p:cNvPr>
          <p:cNvSpPr>
            <a:spLocks noGrp="1"/>
          </p:cNvSpPr>
          <p:nvPr/>
        </p:nvSpPr>
        <p:spPr>
          <a:xfrm>
            <a:off x="4478731" y="2167128"/>
            <a:ext cx="3326221" cy="411480"/>
          </a:xfrm>
          <a:prstGeom prst="rect">
            <a:avLst/>
          </a:prstGeom>
          <a:noFill/>
          <a:ln w="0">
            <a:noFill/>
          </a:ln>
        </p:spPr>
        <p:txBody>
          <a:bodyPr lIns="0" anchor="ctr">
            <a:noAutofit/>
          </a:bodyPr>
          <a:lstStyle/>
          <a:p>
            <a:pPr marL="0" marR="0" lvl="0" indent="0" algn="l" defTabSz="73152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6B6B6B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Подколы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о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тратах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или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поддержка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.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Юмор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делает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разговор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личным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.</a:t>
            </a:r>
          </a:p>
        </p:txBody>
      </p:sp>
      <p:sp>
        <p:nvSpPr>
          <p:cNvPr id="25" name="detail1">
            <a:extLst>
              <a:ext uri="{FF2B5EF4-FFF2-40B4-BE49-F238E27FC236}">
                <a16:creationId xmlns:a16="http://schemas.microsoft.com/office/drawing/2014/main" id="{C2ED6CA0-C40F-11A6-F1E8-7940D7CB7972}"/>
              </a:ext>
            </a:extLst>
          </p:cNvPr>
          <p:cNvSpPr>
            <a:spLocks noGrp="1"/>
          </p:cNvSpPr>
          <p:nvPr/>
        </p:nvSpPr>
        <p:spPr>
          <a:xfrm>
            <a:off x="4478731" y="2965966"/>
            <a:ext cx="3326221" cy="411480"/>
          </a:xfrm>
          <a:prstGeom prst="rect">
            <a:avLst/>
          </a:prstGeom>
          <a:noFill/>
          <a:ln w="0">
            <a:noFill/>
          </a:ln>
        </p:spPr>
        <p:txBody>
          <a:bodyPr lIns="0" anchor="ctr">
            <a:noAutofit/>
          </a:bodyPr>
          <a:lstStyle/>
          <a:p>
            <a:pPr marL="0" marR="0" lvl="0" indent="0" algn="l" defTabSz="73152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6B6B6B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Еженедельно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5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вопросов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о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своих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тратах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.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Токены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и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шанс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выиграть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приз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.</a:t>
            </a:r>
          </a:p>
        </p:txBody>
      </p:sp>
      <p:sp>
        <p:nvSpPr>
          <p:cNvPr id="32" name="detail2">
            <a:extLst>
              <a:ext uri="{FF2B5EF4-FFF2-40B4-BE49-F238E27FC236}">
                <a16:creationId xmlns:a16="http://schemas.microsoft.com/office/drawing/2014/main" id="{3885DAAC-1836-EDA9-57D8-270D96616206}"/>
              </a:ext>
            </a:extLst>
          </p:cNvPr>
          <p:cNvSpPr>
            <a:spLocks noGrp="1"/>
          </p:cNvSpPr>
          <p:nvPr/>
        </p:nvSpPr>
        <p:spPr>
          <a:xfrm>
            <a:off x="4478731" y="3764804"/>
            <a:ext cx="3326221" cy="411480"/>
          </a:xfrm>
          <a:prstGeom prst="rect">
            <a:avLst/>
          </a:prstGeom>
          <a:noFill/>
          <a:ln w="0">
            <a:noFill/>
          </a:ln>
        </p:spPr>
        <p:txBody>
          <a:bodyPr lIns="0" anchor="ctr">
            <a:noAutofit/>
          </a:bodyPr>
          <a:lstStyle/>
          <a:p>
            <a:pPr marL="0" marR="0" lvl="0" indent="0" algn="l" defTabSz="73152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6B6B6B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Вопрос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о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чувствах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в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обзоре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недели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помогает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обсудить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причины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поведения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.</a:t>
            </a:r>
          </a:p>
        </p:txBody>
      </p:sp>
      <p:sp>
        <p:nvSpPr>
          <p:cNvPr id="34" name="detail3">
            <a:extLst>
              <a:ext uri="{FF2B5EF4-FFF2-40B4-BE49-F238E27FC236}">
                <a16:creationId xmlns:a16="http://schemas.microsoft.com/office/drawing/2014/main" id="{FC25EE51-ED90-264A-CF63-64C1F2F6A844}"/>
              </a:ext>
            </a:extLst>
          </p:cNvPr>
          <p:cNvSpPr>
            <a:spLocks noGrp="1"/>
          </p:cNvSpPr>
          <p:nvPr/>
        </p:nvSpPr>
        <p:spPr>
          <a:xfrm>
            <a:off x="4478731" y="4563642"/>
            <a:ext cx="3326221" cy="411480"/>
          </a:xfrm>
          <a:prstGeom prst="rect">
            <a:avLst/>
          </a:prstGeom>
          <a:noFill/>
          <a:ln w="0">
            <a:noFill/>
          </a:ln>
        </p:spPr>
        <p:txBody>
          <a:bodyPr lIns="0" anchor="ctr">
            <a:noAutofit/>
          </a:bodyPr>
          <a:lstStyle/>
          <a:p>
            <a:pPr marL="0" marR="0" lvl="0" indent="0" algn="l" defTabSz="73152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6B6B6B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Помнит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цели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и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мотивы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.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Возвращается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SB Sans Display"/>
              <a:ea typeface="SB Sans Display"/>
              <a:cs typeface="SB Sans Display"/>
            </a:endParaRPr>
          </a:p>
          <a:p>
            <a:pPr marL="0" marR="0" lvl="0" indent="0" algn="l" defTabSz="73152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6B6B6B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к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прошлым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темам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и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планам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.</a:t>
            </a:r>
          </a:p>
        </p:txBody>
      </p:sp>
      <p:sp>
        <p:nvSpPr>
          <p:cNvPr id="37" name="onboard-title">
            <a:extLst>
              <a:ext uri="{FF2B5EF4-FFF2-40B4-BE49-F238E27FC236}">
                <a16:creationId xmlns:a16="http://schemas.microsoft.com/office/drawing/2014/main" id="{1036F078-8493-6FD0-9311-397691038E42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1905000" cy="35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8000">
                <a:schemeClr val="accent3">
                  <a:lumMod val="31000"/>
                </a:schemeClr>
              </a:gs>
              <a:gs pos="52000">
                <a:schemeClr val="accent3"/>
              </a:gs>
              <a:gs pos="26000">
                <a:schemeClr val="accent2"/>
              </a:gs>
              <a:gs pos="0">
                <a:schemeClr val="accent3">
                  <a:lumMod val="97000"/>
                  <a:lumOff val="3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Onboarding</a:t>
            </a:r>
            <a:endParaRPr sz="16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529DE2-A221-A646-EE72-09C21F92AB11}"/>
              </a:ext>
            </a:extLst>
          </p:cNvPr>
          <p:cNvSpPr txBox="1"/>
          <p:nvPr/>
        </p:nvSpPr>
        <p:spPr>
          <a:xfrm>
            <a:off x="5002073" y="5140792"/>
            <a:ext cx="2986948" cy="461665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Каждый восьмой новый пользователь пришёл ради Money IQ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B991EA-FC21-F3DE-6AA8-C31816FD1F90}"/>
              </a:ext>
            </a:extLst>
          </p:cNvPr>
          <p:cNvSpPr txBox="1"/>
          <p:nvPr/>
        </p:nvSpPr>
        <p:spPr>
          <a:xfrm>
            <a:off x="639157" y="2430753"/>
            <a:ext cx="3192086" cy="246221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marR="0" lvl="0" indent="-22860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Tx/>
              <a:buFont typeface="+mj-lt"/>
              <a:buAutoNum type="arabicPeriod"/>
              <a:tabLst/>
              <a:defRPr sz="1725" b="0">
                <a:solidFill>
                  <a:srgbClr val="111111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Пользователь впервые подключает счета, фоновые агенты анализируют операции.</a:t>
            </a:r>
          </a:p>
          <a:p>
            <a:pPr marL="228600" marR="0" lvl="0" indent="-22860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Tx/>
              <a:buFont typeface="+mj-lt"/>
              <a:buAutoNum type="arabicPeriod"/>
              <a:tabLst/>
              <a:defRPr sz="1725" b="0">
                <a:solidFill>
                  <a:srgbClr val="111111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Первый диалог – наблюдения и инсайты о финансах пользователя: «Самая крупная категория трат – рестораны».</a:t>
            </a:r>
          </a:p>
          <a:p>
            <a:pPr marL="228600" marR="0" lvl="0" indent="-22860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Tx/>
              <a:buFont typeface="+mj-lt"/>
              <a:buAutoNum type="arabicPeriod"/>
              <a:tabLst/>
              <a:defRPr sz="1725" b="0">
                <a:solidFill>
                  <a:srgbClr val="111111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Сразу же подкладывает персонализированные вопросы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cs typeface="SB Sans Display"/>
              </a:rPr>
              <a:t>: «Для тебя это больше про удовольствие от еды, встречи с друзьями или возможность не готовить?» </a:t>
            </a:r>
          </a:p>
          <a:p>
            <a:pPr marL="228600" marR="0" lvl="0" indent="-22860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Tx/>
              <a:buFont typeface="+mj-lt"/>
              <a:buAutoNum type="arabicPeriod"/>
              <a:tabLst/>
              <a:defRPr sz="1725" b="0">
                <a:solidFill>
                  <a:srgbClr val="111111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cs typeface="SB Sans Display"/>
              </a:rPr>
              <a:t>Чтобы ответить – достаточно одного касания, используются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cs typeface="SB Sans Display"/>
              </a:rPr>
              <a:t>quick replies.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SB Sans Display"/>
              <a:cs typeface="SB Sans Display"/>
            </a:endParaRPr>
          </a:p>
          <a:p>
            <a:pPr marL="228600" marR="0" lvl="0" indent="-22860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Tx/>
              <a:buFont typeface="+mj-lt"/>
              <a:buAutoNum type="arabicPeriod"/>
              <a:tabLst/>
              <a:defRPr sz="1725" b="0">
                <a:solidFill>
                  <a:srgbClr val="111111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cs typeface="SB Sans Display"/>
              </a:rPr>
              <a:t>Ответ раскрывает мотив, который будет учитываться в будущих сценариях. 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SB Sans Display"/>
              <a:ea typeface="SB Sans Display"/>
              <a:cs typeface="SB Sans Display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438C29-E987-6F61-B34C-98A0D8FC918F}"/>
              </a:ext>
            </a:extLst>
          </p:cNvPr>
          <p:cNvSpPr txBox="1"/>
          <p:nvPr/>
        </p:nvSpPr>
        <p:spPr>
          <a:xfrm>
            <a:off x="457200" y="4902867"/>
            <a:ext cx="2877822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+mn-ea"/>
                <a:cs typeface="+mn-cs"/>
              </a:rPr>
              <a:t>Повод раскрыться – объяснить, чего ты хочешь добиться, чтобы получить подходящий план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0D152-CBA6-C223-6122-B853935C3AF6}"/>
              </a:ext>
            </a:extLst>
          </p:cNvPr>
          <p:cNvSpPr txBox="1"/>
          <p:nvPr/>
        </p:nvSpPr>
        <p:spPr>
          <a:xfrm>
            <a:off x="457200" y="1874520"/>
            <a:ext cx="3556000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111111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 Semibold"/>
              </a:rPr>
              <a:t>К первому диалогу </a:t>
            </a:r>
            <a:r>
              <a:rPr kumimoji="0" lang="en" sz="14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 Semibold"/>
              </a:rPr>
              <a:t>Cleo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SB Sans Display"/>
                <a:ea typeface="SB Sans Display"/>
                <a:cs typeface="SB Sans Display Semibold"/>
              </a:rPr>
              <a:t>уже готовит персональное наблюдение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SB Sans Display"/>
              <a:cs typeface="SB Sans Display Semibold"/>
            </a:endParaRPr>
          </a:p>
        </p:txBody>
      </p: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D8E18DB0-E36F-2DBC-4391-1FA2E6D57B10}"/>
              </a:ext>
            </a:extLst>
          </p:cNvPr>
          <p:cNvGrpSpPr/>
          <p:nvPr/>
        </p:nvGrpSpPr>
        <p:grpSpPr>
          <a:xfrm>
            <a:off x="2572475" y="1341374"/>
            <a:ext cx="1706917" cy="415970"/>
            <a:chOff x="7723335" y="3820160"/>
            <a:chExt cx="3960665" cy="965200"/>
          </a:xfrm>
        </p:grpSpPr>
        <p:sp>
          <p:nvSpPr>
            <p:cNvPr id="63" name="Lane fast 228">
              <a:extLst>
                <a:ext uri="{FF2B5EF4-FFF2-40B4-BE49-F238E27FC236}">
                  <a16:creationId xmlns:a16="http://schemas.microsoft.com/office/drawing/2014/main" id="{6CA61A17-FC55-3645-14DE-C036949B528B}"/>
                </a:ext>
              </a:extLst>
            </p:cNvPr>
            <p:cNvSpPr/>
            <p:nvPr/>
          </p:nvSpPr>
          <p:spPr>
            <a:xfrm>
              <a:off x="7723335" y="3820160"/>
              <a:ext cx="3729525" cy="965200"/>
            </a:xfrm>
            <a:prstGeom prst="homePlate">
              <a:avLst>
                <a:gd name="adj" fmla="val 40174"/>
              </a:avLst>
            </a:prstGeom>
            <a:gradFill flip="none" rotWithShape="1">
              <a:gsLst>
                <a:gs pos="12000">
                  <a:srgbClr val="F1FDF9">
                    <a:alpha val="0"/>
                  </a:srgbClr>
                </a:gs>
                <a:gs pos="0">
                  <a:schemeClr val="bg1">
                    <a:alpha val="0"/>
                  </a:schemeClr>
                </a:gs>
                <a:gs pos="73000">
                  <a:schemeClr val="accent3">
                    <a:alpha val="46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76200"/>
            </a:effectLst>
          </p:spPr>
          <p:txBody>
            <a:bodyPr wrap="square" lIns="827999" tIns="0" rIns="381000" bIns="0" rtlCol="0" anchor="ctr">
              <a:noAutofit/>
            </a:bodyPr>
            <a:lstStyle/>
            <a:p>
              <a:pPr algn="l"/>
              <a:endParaRPr lang="ru-RU" sz="1200" b="1" dirty="0">
                <a:solidFill>
                  <a:srgbClr val="0B6E4F"/>
                </a:solidFill>
              </a:endParaRPr>
            </a:p>
          </p:txBody>
        </p:sp>
        <p:sp>
          <p:nvSpPr>
            <p:cNvPr id="65" name="Рисунок 63">
              <a:extLst>
                <a:ext uri="{FF2B5EF4-FFF2-40B4-BE49-F238E27FC236}">
                  <a16:creationId xmlns:a16="http://schemas.microsoft.com/office/drawing/2014/main" id="{2F402556-AA51-0DF1-C227-321EA02B3B74}"/>
                </a:ext>
              </a:extLst>
            </p:cNvPr>
            <p:cNvSpPr/>
            <p:nvPr/>
          </p:nvSpPr>
          <p:spPr>
            <a:xfrm rot="16200000">
              <a:off x="10912743" y="4142973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Рисунок 63">
              <a:extLst>
                <a:ext uri="{FF2B5EF4-FFF2-40B4-BE49-F238E27FC236}">
                  <a16:creationId xmlns:a16="http://schemas.microsoft.com/office/drawing/2014/main" id="{5F54F9F0-B0E1-ACD0-D6AB-2540B8E56317}"/>
                </a:ext>
              </a:extLst>
            </p:cNvPr>
            <p:cNvSpPr/>
            <p:nvPr/>
          </p:nvSpPr>
          <p:spPr>
            <a:xfrm rot="16200000">
              <a:off x="11128252" y="4142974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366376C4-7179-AD0E-BB16-501E284F058C}"/>
              </a:ext>
            </a:extLst>
          </p:cNvPr>
          <p:cNvSpPr>
            <a:spLocks noGrp="1"/>
          </p:cNvSpPr>
          <p:nvPr/>
        </p:nvSpPr>
        <p:spPr>
          <a:xfrm>
            <a:off x="8646201" y="1941620"/>
            <a:ext cx="990953" cy="279823"/>
          </a:xfrm>
          <a:prstGeom prst="rect">
            <a:avLst/>
          </a:prstGeom>
          <a:noFill/>
          <a:ln w="0">
            <a:noFill/>
          </a:ln>
        </p:spPr>
        <p:txBody>
          <a:bodyPr wrap="none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11111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Money IQ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9C53E8CA-07FE-0AAB-F42A-3F5C7B9ED423}"/>
              </a:ext>
            </a:extLst>
          </p:cNvPr>
          <p:cNvSpPr>
            <a:spLocks noGrp="1"/>
          </p:cNvSpPr>
          <p:nvPr/>
        </p:nvSpPr>
        <p:spPr>
          <a:xfrm>
            <a:off x="10432264" y="2662321"/>
            <a:ext cx="948678" cy="279823"/>
          </a:xfrm>
          <a:prstGeom prst="rect">
            <a:avLst/>
          </a:prstGeom>
          <a:noFill/>
          <a:ln w="0">
            <a:noFill/>
          </a:ln>
        </p:spPr>
        <p:txBody>
          <a:bodyPr wrap="none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11111"/>
                </a:solidFill>
                <a:latin typeface="SB Sans Display"/>
                <a:ea typeface="SB Sans Display"/>
                <a:cs typeface="SB Sans Display"/>
              </a:defRPr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Чат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SB Sans Display"/>
                <a:ea typeface="SB Sans Display"/>
                <a:cs typeface="SB Sans Display"/>
              </a:rPr>
              <a:t> Cleo</a:t>
            </a:r>
          </a:p>
        </p:txBody>
      </p:sp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id="{029E0A13-0457-AC0C-7A34-79CF4497F4B5}"/>
              </a:ext>
            </a:extLst>
          </p:cNvPr>
          <p:cNvCxnSpPr>
            <a:cxnSpLocks/>
          </p:cNvCxnSpPr>
          <p:nvPr/>
        </p:nvCxnSpPr>
        <p:spPr>
          <a:xfrm flipV="1">
            <a:off x="4192067" y="1920240"/>
            <a:ext cx="0" cy="3707417"/>
          </a:xfrm>
          <a:prstGeom prst="line">
            <a:avLst/>
          </a:prstGeom>
          <a:ln w="15875" cap="rnd">
            <a:gradFill>
              <a:gsLst>
                <a:gs pos="54000">
                  <a:srgbClr val="19A77F"/>
                </a:gs>
                <a:gs pos="0">
                  <a:srgbClr val="19A77F">
                    <a:alpha val="0"/>
                  </a:srgbClr>
                </a:gs>
                <a:gs pos="100000">
                  <a:srgbClr val="19A77F"/>
                </a:gs>
              </a:gsLst>
              <a:lin ang="5400000" scaled="1"/>
            </a:gradFill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leo Brings AI-Powered Money Management Back to the UK">
            <a:extLst>
              <a:ext uri="{FF2B5EF4-FFF2-40B4-BE49-F238E27FC236}">
                <a16:creationId xmlns:a16="http://schemas.microsoft.com/office/drawing/2014/main" id="{D3CE0957-FDBD-8DCE-FE2B-B5AE0E994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92781"/>
            <a:ext cx="1382662" cy="776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5F4C4CB1-66A3-24CE-07BC-0CD837FEC49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60000"/>
          </a:blip>
          <a:srcRect l="21929" t="27414" r="58247" b="54576"/>
          <a:stretch>
            <a:fillRect/>
          </a:stretch>
        </p:blipFill>
        <p:spPr>
          <a:xfrm>
            <a:off x="10698480" y="1051560"/>
            <a:ext cx="2067458" cy="1252179"/>
          </a:xfrm>
          <a:prstGeom prst="rect">
            <a:avLst/>
          </a:prstGeom>
        </p:spPr>
      </p:pic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id="{A5AF9EEF-EC0E-4F88-D8F9-19D6381581C1}"/>
              </a:ext>
            </a:extLst>
          </p:cNvPr>
          <p:cNvCxnSpPr>
            <a:cxnSpLocks/>
          </p:cNvCxnSpPr>
          <p:nvPr/>
        </p:nvCxnSpPr>
        <p:spPr>
          <a:xfrm>
            <a:off x="469476" y="2496094"/>
            <a:ext cx="0" cy="2352410"/>
          </a:xfrm>
          <a:prstGeom prst="line">
            <a:avLst/>
          </a:prstGeom>
          <a:ln w="15875">
            <a:gradFill flip="none" rotWithShape="1">
              <a:gsLst>
                <a:gs pos="68000">
                  <a:schemeClr val="accent3"/>
                </a:gs>
                <a:gs pos="12000">
                  <a:schemeClr val="accent2">
                    <a:lumMod val="98000"/>
                  </a:schemeClr>
                </a:gs>
                <a:gs pos="100000">
                  <a:schemeClr val="accent2">
                    <a:alpha val="0"/>
                  </a:schemeClr>
                </a:gs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95000">
                  <a:schemeClr val="accent3">
                    <a:lumMod val="66000"/>
                  </a:schemeClr>
                </a:gs>
              </a:gsLst>
              <a:lin ang="16200000" scaled="1"/>
              <a:tileRect/>
            </a:gra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64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Скругленный прямоугольник 4">
            <a:extLst>
              <a:ext uri="{FF2B5EF4-FFF2-40B4-BE49-F238E27FC236}">
                <a16:creationId xmlns:a16="http://schemas.microsoft.com/office/drawing/2014/main" id="{92AF6207-EFD9-F2B0-61B9-4E2EE979D3E5}"/>
              </a:ext>
            </a:extLst>
          </p:cNvPr>
          <p:cNvSpPr/>
          <p:nvPr/>
        </p:nvSpPr>
        <p:spPr bwMode="auto">
          <a:xfrm flipH="1">
            <a:off x="5943600" y="868680"/>
            <a:ext cx="5791170" cy="5532120"/>
          </a:xfrm>
          <a:prstGeom prst="roundRect">
            <a:avLst>
              <a:gd name="adj" fmla="val 3975"/>
            </a:avLst>
          </a:prstGeom>
          <a:gradFill flip="none" rotWithShape="1">
            <a:gsLst>
              <a:gs pos="28000">
                <a:srgbClr val="E5F3FF">
                  <a:alpha val="36000"/>
                </a:srgbClr>
              </a:gs>
              <a:gs pos="100000">
                <a:sysClr val="window" lastClr="FFFFFF">
                  <a:lumMod val="0"/>
                  <a:lumOff val="100000"/>
                </a:sysClr>
              </a:gs>
            </a:gsLst>
            <a:lin ang="10800000" scaled="1"/>
            <a:tileRect/>
          </a:gradFill>
          <a:ln w="12700" cap="flat" cmpd="sng" algn="ctr">
            <a:gradFill flip="none" rotWithShape="1">
              <a:gsLst>
                <a:gs pos="2000">
                  <a:sysClr val="window" lastClr="FFFFFF"/>
                </a:gs>
                <a:gs pos="100000">
                  <a:srgbClr val="15AFAF"/>
                </a:gs>
              </a:gsLst>
              <a:lin ang="2700000" scaled="1"/>
              <a:tileRect/>
            </a:gradFill>
            <a:prstDash val="solid"/>
            <a:miter lim="800000"/>
          </a:ln>
          <a:effectLst>
            <a:outerShdw blurRad="127000" dist="127000" dir="12000000" sx="99000" sy="99000" algn="br" rotWithShape="0">
              <a:srgbClr val="15AFAF">
                <a:alpha val="30000"/>
              </a:srgbClr>
            </a:outerShdw>
          </a:effectLst>
        </p:spPr>
        <p:txBody>
          <a:bodyPr wrap="square" lIns="108000" tIns="72000" rIns="108000" bIns="7200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Sans Display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BE9321C-54A9-6F91-AD9B-E72602782207}"/>
              </a:ext>
            </a:extLst>
          </p:cNvPr>
          <p:cNvSpPr txBox="1"/>
          <p:nvPr/>
        </p:nvSpPr>
        <p:spPr>
          <a:xfrm>
            <a:off x="8824234" y="1005840"/>
            <a:ext cx="2773375" cy="5257800"/>
          </a:xfrm>
          <a:prstGeom prst="roundRect">
            <a:avLst>
              <a:gd name="adj" fmla="val 4788"/>
            </a:avLst>
          </a:prstGeom>
          <a:gradFill flip="none" rotWithShape="1">
            <a:gsLst>
              <a:gs pos="1000">
                <a:srgbClr val="15AFAF">
                  <a:lumMod val="50000"/>
                </a:srgbClr>
              </a:gs>
              <a:gs pos="49000">
                <a:srgbClr val="15AFAF"/>
              </a:gs>
              <a:gs pos="100000">
                <a:srgbClr val="15AFAF">
                  <a:lumMod val="86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44000" tIns="216000" rIns="0" bIns="72000" rtlCol="0" anchor="t">
            <a:noAutofit/>
          </a:bodyPr>
          <a:lstStyle>
            <a:defPPr>
              <a:defRPr lang="ru-RU"/>
            </a:defPPr>
            <a:lvl1pPr algn="ctr">
              <a:spcAft>
                <a:spcPts val="1800"/>
              </a:spcAft>
              <a:defRPr sz="1600" kern="0">
                <a:solidFill>
                  <a:srgbClr val="FFFFFF"/>
                </a:solidFill>
                <a:latin typeface="SB Sans Display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SB Sans Display" panose="020B0503040504020204" pitchFamily="34" charset="0"/>
            </a:endParaRPr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E48051E9-DF4D-3128-42F1-67404D1CB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39731" y="1125716"/>
            <a:ext cx="2547732" cy="5020056"/>
          </a:xfrm>
          <a:prstGeom prst="rect">
            <a:avLst/>
          </a:prstGeom>
        </p:spPr>
      </p:pic>
      <p:sp>
        <p:nvSpPr>
          <p:cNvPr id="5" name="story-heading">
            <a:extLst>
              <a:ext uri="{FF2B5EF4-FFF2-40B4-BE49-F238E27FC236}">
                <a16:creationId xmlns:a16="http://schemas.microsoft.com/office/drawing/2014/main" id="{A4BFB753-285D-A031-E073-279244E234C0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1904695" cy="35570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CB5A8"/>
              </a:gs>
              <a:gs pos="100000">
                <a:srgbClr val="087F8C"/>
              </a:gs>
            </a:gsLst>
            <a:lin ang="2700000" scaled="1"/>
          </a:gra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Вывод пилота</a:t>
            </a:r>
          </a:p>
        </p:txBody>
      </p:sp>
      <p:sp>
        <p:nvSpPr>
          <p:cNvPr id="35" name="phone-screen">
            <a:extLst>
              <a:ext uri="{FF2B5EF4-FFF2-40B4-BE49-F238E27FC236}">
                <a16:creationId xmlns:a16="http://schemas.microsoft.com/office/drawing/2014/main" id="{4AAC2CAD-233D-3ED6-4CD1-7582585D1279}"/>
              </a:ext>
            </a:extLst>
          </p:cNvPr>
          <p:cNvSpPr>
            <a:spLocks noGrp="1"/>
          </p:cNvSpPr>
          <p:nvPr/>
        </p:nvSpPr>
        <p:spPr>
          <a:xfrm>
            <a:off x="9144569" y="1333546"/>
            <a:ext cx="2135000" cy="4599877"/>
          </a:xfrm>
          <a:prstGeom prst="roundRect">
            <a:avLst>
              <a:gd name="adj" fmla="val 14585"/>
            </a:avLst>
          </a:prstGeom>
          <a:solidFill>
            <a:srgbClr val="F8FBFB"/>
          </a:solidFill>
          <a:ln w="0">
            <a:noFill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phone-rule">
            <a:extLst>
              <a:ext uri="{FF2B5EF4-FFF2-40B4-BE49-F238E27FC236}">
                <a16:creationId xmlns:a16="http://schemas.microsoft.com/office/drawing/2014/main" id="{EBB3D915-C9E1-769D-AA4B-141BE7E23DEE}"/>
              </a:ext>
            </a:extLst>
          </p:cNvPr>
          <p:cNvSpPr>
            <a:spLocks noGrp="1"/>
          </p:cNvSpPr>
          <p:nvPr/>
        </p:nvSpPr>
        <p:spPr>
          <a:xfrm>
            <a:off x="9236009" y="1882186"/>
            <a:ext cx="1952120" cy="10973"/>
          </a:xfrm>
          <a:prstGeom prst="rect">
            <a:avLst/>
          </a:prstGeom>
          <a:solidFill>
            <a:srgbClr val="DCE7E9"/>
          </a:solidFill>
          <a:ln w="0">
            <a:noFill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user-bubble">
            <a:extLst>
              <a:ext uri="{FF2B5EF4-FFF2-40B4-BE49-F238E27FC236}">
                <a16:creationId xmlns:a16="http://schemas.microsoft.com/office/drawing/2014/main" id="{FDC4209D-2241-F4CA-66E8-22AEE42B70C6}"/>
              </a:ext>
            </a:extLst>
          </p:cNvPr>
          <p:cNvSpPr>
            <a:spLocks noGrp="1"/>
          </p:cNvSpPr>
          <p:nvPr/>
        </p:nvSpPr>
        <p:spPr>
          <a:xfrm>
            <a:off x="9377616" y="1973626"/>
            <a:ext cx="1810512" cy="676656"/>
          </a:xfrm>
          <a:prstGeom prst="roundRect">
            <a:avLst>
              <a:gd name="adj" fmla="val 16216"/>
            </a:avLst>
          </a:prstGeom>
          <a:solidFill>
            <a:srgbClr val="DDF0F1"/>
          </a:solidFill>
          <a:ln w="0">
            <a:noFill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user-copy">
            <a:extLst>
              <a:ext uri="{FF2B5EF4-FFF2-40B4-BE49-F238E27FC236}">
                <a16:creationId xmlns:a16="http://schemas.microsoft.com/office/drawing/2014/main" id="{36508BB9-6BFC-CDDD-88F9-8494938EC4B5}"/>
              </a:ext>
            </a:extLst>
          </p:cNvPr>
          <p:cNvSpPr>
            <a:spLocks noGrp="1"/>
          </p:cNvSpPr>
          <p:nvPr/>
        </p:nvSpPr>
        <p:spPr>
          <a:xfrm>
            <a:off x="9459912" y="2055922"/>
            <a:ext cx="1645920" cy="512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3" b="0">
                <a:solidFill>
                  <a:srgbClr val="293C42"/>
                </a:solidFill>
                <a:latin typeface="Arial"/>
                <a:ea typeface="Arial"/>
                <a:cs typeface="Arial"/>
              </a:defRPr>
            </a:pP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Хочу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в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отпуск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.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Могу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копить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по 10 000 ₽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в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месяц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.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Но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не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ценой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всех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радостей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2" name="assistant-bubble">
            <a:extLst>
              <a:ext uri="{FF2B5EF4-FFF2-40B4-BE49-F238E27FC236}">
                <a16:creationId xmlns:a16="http://schemas.microsoft.com/office/drawing/2014/main" id="{77300282-2140-7E40-EFF6-E5DEB56F402D}"/>
              </a:ext>
            </a:extLst>
          </p:cNvPr>
          <p:cNvSpPr>
            <a:spLocks noGrp="1"/>
          </p:cNvSpPr>
          <p:nvPr/>
        </p:nvSpPr>
        <p:spPr>
          <a:xfrm>
            <a:off x="9236009" y="2741722"/>
            <a:ext cx="1655064" cy="621792"/>
          </a:xfrm>
          <a:prstGeom prst="roundRect">
            <a:avLst>
              <a:gd name="adj" fmla="val 13460"/>
            </a:avLst>
          </a:prstGeom>
          <a:solidFill>
            <a:srgbClr val="FFFFFF"/>
          </a:solidFill>
          <a:ln w="5715">
            <a:solidFill>
              <a:srgbClr val="DCE7E9"/>
            </a:solidFill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assistant-copy">
            <a:extLst>
              <a:ext uri="{FF2B5EF4-FFF2-40B4-BE49-F238E27FC236}">
                <a16:creationId xmlns:a16="http://schemas.microsoft.com/office/drawing/2014/main" id="{33A74AA0-2E93-C302-9D68-053356950344}"/>
              </a:ext>
            </a:extLst>
          </p:cNvPr>
          <p:cNvSpPr>
            <a:spLocks noGrp="1"/>
          </p:cNvSpPr>
          <p:nvPr/>
        </p:nvSpPr>
        <p:spPr>
          <a:xfrm>
            <a:off x="9327449" y="2824018"/>
            <a:ext cx="1472184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3" b="0">
                <a:solidFill>
                  <a:srgbClr val="293C42"/>
                </a:solidFill>
                <a:latin typeface="Arial"/>
                <a:ea typeface="Arial"/>
                <a:cs typeface="Arial"/>
              </a:defRPr>
            </a:pP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Договорились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,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без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подвигов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.</a:t>
            </a: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За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полгода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получится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60 000 ₽.</a:t>
            </a:r>
          </a:p>
        </p:txBody>
      </p:sp>
      <p:sp>
        <p:nvSpPr>
          <p:cNvPr id="45" name="choice-0">
            <a:extLst>
              <a:ext uri="{FF2B5EF4-FFF2-40B4-BE49-F238E27FC236}">
                <a16:creationId xmlns:a16="http://schemas.microsoft.com/office/drawing/2014/main" id="{57C8DA35-1B86-4379-C704-ACFB73AE7581}"/>
              </a:ext>
            </a:extLst>
          </p:cNvPr>
          <p:cNvSpPr>
            <a:spLocks noGrp="1"/>
          </p:cNvSpPr>
          <p:nvPr/>
        </p:nvSpPr>
        <p:spPr>
          <a:xfrm>
            <a:off x="9236009" y="3930442"/>
            <a:ext cx="939484" cy="329184"/>
          </a:xfrm>
          <a:prstGeom prst="roundRect">
            <a:avLst>
              <a:gd name="adj" fmla="val 25000"/>
            </a:avLst>
          </a:prstGeom>
          <a:solidFill>
            <a:srgbClr val="087F8C"/>
          </a:solidFill>
          <a:ln w="7620">
            <a:solidFill>
              <a:srgbClr val="087F8C"/>
            </a:solidFill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choice-copy-0">
            <a:extLst>
              <a:ext uri="{FF2B5EF4-FFF2-40B4-BE49-F238E27FC236}">
                <a16:creationId xmlns:a16="http://schemas.microsoft.com/office/drawing/2014/main" id="{EA8426C9-4BA2-0E30-A038-AAC7AB4FF472}"/>
              </a:ext>
            </a:extLst>
          </p:cNvPr>
          <p:cNvSpPr>
            <a:spLocks noGrp="1"/>
          </p:cNvSpPr>
          <p:nvPr/>
        </p:nvSpPr>
        <p:spPr>
          <a:xfrm>
            <a:off x="9272585" y="3930442"/>
            <a:ext cx="866332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kumimoji="0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Море</a:t>
            </a: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b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</a:b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и </a:t>
            </a:r>
            <a:r>
              <a:rPr kumimoji="0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тишина</a:t>
            </a:r>
            <a:endParaRPr kumimoji="0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Arial"/>
              <a:cs typeface="Calibri" panose="020F0502020204030204" pitchFamily="34" charset="0"/>
            </a:endParaRPr>
          </a:p>
        </p:txBody>
      </p:sp>
      <p:sp>
        <p:nvSpPr>
          <p:cNvPr id="47" name="choice-1">
            <a:extLst>
              <a:ext uri="{FF2B5EF4-FFF2-40B4-BE49-F238E27FC236}">
                <a16:creationId xmlns:a16="http://schemas.microsoft.com/office/drawing/2014/main" id="{D5106CB0-A0FE-38A5-C06D-74684159F3E4}"/>
              </a:ext>
            </a:extLst>
          </p:cNvPr>
          <p:cNvSpPr>
            <a:spLocks noGrp="1"/>
          </p:cNvSpPr>
          <p:nvPr/>
        </p:nvSpPr>
        <p:spPr>
          <a:xfrm>
            <a:off x="10248644" y="3930442"/>
            <a:ext cx="939484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C6DCE0"/>
            </a:solidFill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choice-copy-1">
            <a:extLst>
              <a:ext uri="{FF2B5EF4-FFF2-40B4-BE49-F238E27FC236}">
                <a16:creationId xmlns:a16="http://schemas.microsoft.com/office/drawing/2014/main" id="{08C31CB3-7455-F593-FD2C-105118FE8434}"/>
              </a:ext>
            </a:extLst>
          </p:cNvPr>
          <p:cNvSpPr>
            <a:spLocks noGrp="1"/>
          </p:cNvSpPr>
          <p:nvPr/>
        </p:nvSpPr>
        <p:spPr>
          <a:xfrm>
            <a:off x="10285220" y="3930442"/>
            <a:ext cx="866332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Город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b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</a:b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и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открытия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Calibri" panose="020F0502020204030204" pitchFamily="34" charset="0"/>
              <a:ea typeface="Arial"/>
              <a:cs typeface="Calibri" panose="020F0502020204030204" pitchFamily="34" charset="0"/>
            </a:endParaRPr>
          </a:p>
        </p:txBody>
      </p:sp>
      <p:sp>
        <p:nvSpPr>
          <p:cNvPr id="49" name="choice-2">
            <a:extLst>
              <a:ext uri="{FF2B5EF4-FFF2-40B4-BE49-F238E27FC236}">
                <a16:creationId xmlns:a16="http://schemas.microsoft.com/office/drawing/2014/main" id="{ADE340AE-90B4-02CA-653E-2996883A14C8}"/>
              </a:ext>
            </a:extLst>
          </p:cNvPr>
          <p:cNvSpPr>
            <a:spLocks noGrp="1"/>
          </p:cNvSpPr>
          <p:nvPr/>
        </p:nvSpPr>
        <p:spPr>
          <a:xfrm>
            <a:off x="9236009" y="4323634"/>
            <a:ext cx="939484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C6DCE0"/>
            </a:solidFill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choice-copy-2">
            <a:extLst>
              <a:ext uri="{FF2B5EF4-FFF2-40B4-BE49-F238E27FC236}">
                <a16:creationId xmlns:a16="http://schemas.microsoft.com/office/drawing/2014/main" id="{2DD0DAA2-BB13-C29B-1A8B-255DEE5E2973}"/>
              </a:ext>
            </a:extLst>
          </p:cNvPr>
          <p:cNvSpPr>
            <a:spLocks noGrp="1"/>
          </p:cNvSpPr>
          <p:nvPr/>
        </p:nvSpPr>
        <p:spPr>
          <a:xfrm>
            <a:off x="9272585" y="4323634"/>
            <a:ext cx="866332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Горы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и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тропы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Calibri" panose="020F0502020204030204" pitchFamily="34" charset="0"/>
              <a:ea typeface="Arial"/>
              <a:cs typeface="Calibri" panose="020F0502020204030204" pitchFamily="34" charset="0"/>
            </a:endParaRPr>
          </a:p>
        </p:txBody>
      </p:sp>
      <p:sp>
        <p:nvSpPr>
          <p:cNvPr id="51" name="choice-3">
            <a:extLst>
              <a:ext uri="{FF2B5EF4-FFF2-40B4-BE49-F238E27FC236}">
                <a16:creationId xmlns:a16="http://schemas.microsoft.com/office/drawing/2014/main" id="{6768F379-2E88-F04A-2E11-7818485CA44A}"/>
              </a:ext>
            </a:extLst>
          </p:cNvPr>
          <p:cNvSpPr>
            <a:spLocks noGrp="1"/>
          </p:cNvSpPr>
          <p:nvPr/>
        </p:nvSpPr>
        <p:spPr>
          <a:xfrm>
            <a:off x="10248644" y="4323634"/>
            <a:ext cx="939484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C6DCE0"/>
            </a:solidFill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choice-copy-3">
            <a:extLst>
              <a:ext uri="{FF2B5EF4-FFF2-40B4-BE49-F238E27FC236}">
                <a16:creationId xmlns:a16="http://schemas.microsoft.com/office/drawing/2014/main" id="{D37E0E2D-AD19-B209-E69D-A1B9E7B0000B}"/>
              </a:ext>
            </a:extLst>
          </p:cNvPr>
          <p:cNvSpPr>
            <a:spLocks noGrp="1"/>
          </p:cNvSpPr>
          <p:nvPr/>
        </p:nvSpPr>
        <p:spPr>
          <a:xfrm>
            <a:off x="10285220" y="4323634"/>
            <a:ext cx="866332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Пока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не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знаю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  <a:latin typeface="Calibri" panose="020F0502020204030204" pitchFamily="34" charset="0"/>
              <a:ea typeface="Arial"/>
              <a:cs typeface="Calibri" panose="020F0502020204030204" pitchFamily="34" charset="0"/>
            </a:endParaRPr>
          </a:p>
        </p:txBody>
      </p:sp>
      <p:sp>
        <p:nvSpPr>
          <p:cNvPr id="53" name="personalized-bubble">
            <a:extLst>
              <a:ext uri="{FF2B5EF4-FFF2-40B4-BE49-F238E27FC236}">
                <a16:creationId xmlns:a16="http://schemas.microsoft.com/office/drawing/2014/main" id="{B03082DA-41C9-6A96-1CA6-A28432C67229}"/>
              </a:ext>
            </a:extLst>
          </p:cNvPr>
          <p:cNvSpPr>
            <a:spLocks noGrp="1"/>
          </p:cNvSpPr>
          <p:nvPr/>
        </p:nvSpPr>
        <p:spPr>
          <a:xfrm>
            <a:off x="9236009" y="4789978"/>
            <a:ext cx="1952120" cy="78638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5715">
            <a:solidFill>
              <a:srgbClr val="DCE7E9"/>
            </a:solidFill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personalized-copy">
            <a:extLst>
              <a:ext uri="{FF2B5EF4-FFF2-40B4-BE49-F238E27FC236}">
                <a16:creationId xmlns:a16="http://schemas.microsoft.com/office/drawing/2014/main" id="{4CCCEA49-4629-6C53-DB65-0F9B673468BF}"/>
              </a:ext>
            </a:extLst>
          </p:cNvPr>
          <p:cNvSpPr>
            <a:spLocks noGrp="1"/>
          </p:cNvSpPr>
          <p:nvPr/>
        </p:nvSpPr>
        <p:spPr>
          <a:xfrm>
            <a:off x="9327449" y="4881418"/>
            <a:ext cx="1769240" cy="60350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40" b="0">
                <a:solidFill>
                  <a:srgbClr val="293C42"/>
                </a:solidFill>
                <a:latin typeface="Arial"/>
                <a:ea typeface="Arial"/>
                <a:cs typeface="Arial"/>
              </a:defRPr>
            </a:pP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Тогда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без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гонки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по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экскурсиям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40" b="0">
                <a:solidFill>
                  <a:srgbClr val="293C42"/>
                </a:solidFill>
                <a:latin typeface="Arial"/>
                <a:ea typeface="Arial"/>
                <a:cs typeface="Arial"/>
              </a:defRPr>
            </a:pP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Подберу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тихие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места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у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моря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293C42"/>
              </a:solidFill>
              <a:effectLst/>
              <a:uLnTx/>
              <a:uFillTx/>
              <a:latin typeface="Calibri" panose="020F0502020204030204" pitchFamily="34" charset="0"/>
              <a:ea typeface="Arial"/>
              <a:cs typeface="Calibri" panose="020F0502020204030204" pitchFamily="34" charset="0"/>
            </a:endParaRPr>
          </a:p>
          <a:p>
            <a:pPr marL="0" marR="0" lvl="0" indent="0" algn="l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40" b="0">
                <a:solidFill>
                  <a:srgbClr val="293C42"/>
                </a:solidFill>
                <a:latin typeface="Arial"/>
                <a:ea typeface="Arial"/>
                <a:cs typeface="Arial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и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посчитаю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бюджет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поездки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40" b="0">
                <a:solidFill>
                  <a:srgbClr val="293C42"/>
                </a:solidFill>
                <a:latin typeface="Arial"/>
                <a:ea typeface="Arial"/>
                <a:cs typeface="Arial"/>
              </a:defRPr>
            </a:pP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Учту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твой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выбор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на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будущее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5" name="phone-input">
            <a:extLst>
              <a:ext uri="{FF2B5EF4-FFF2-40B4-BE49-F238E27FC236}">
                <a16:creationId xmlns:a16="http://schemas.microsoft.com/office/drawing/2014/main" id="{130C98BC-ED50-8896-A452-B5660F9BA22D}"/>
              </a:ext>
            </a:extLst>
          </p:cNvPr>
          <p:cNvSpPr>
            <a:spLocks noGrp="1"/>
          </p:cNvSpPr>
          <p:nvPr/>
        </p:nvSpPr>
        <p:spPr>
          <a:xfrm>
            <a:off x="9327449" y="5649514"/>
            <a:ext cx="1769240" cy="201168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5715">
            <a:solidFill>
              <a:srgbClr val="DCE7E9"/>
            </a:solidFill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phone-input-copy">
            <a:extLst>
              <a:ext uri="{FF2B5EF4-FFF2-40B4-BE49-F238E27FC236}">
                <a16:creationId xmlns:a16="http://schemas.microsoft.com/office/drawing/2014/main" id="{7C9B440C-5E50-6D15-31F0-6A67561DFF37}"/>
              </a:ext>
            </a:extLst>
          </p:cNvPr>
          <p:cNvSpPr>
            <a:spLocks noGrp="1"/>
          </p:cNvSpPr>
          <p:nvPr/>
        </p:nvSpPr>
        <p:spPr>
          <a:xfrm>
            <a:off x="9418889" y="5649514"/>
            <a:ext cx="1586360" cy="2011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6A7C82"/>
                </a:solidFill>
                <a:latin typeface="Arial"/>
                <a:ea typeface="Arial"/>
                <a:cs typeface="Arial"/>
              </a:defRPr>
            </a:pP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6A7C8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Сообщение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6A7C8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59" name="phone-time">
            <a:extLst>
              <a:ext uri="{FF2B5EF4-FFF2-40B4-BE49-F238E27FC236}">
                <a16:creationId xmlns:a16="http://schemas.microsoft.com/office/drawing/2014/main" id="{C6E54F1B-F1EA-33EF-59A8-7FD521F2950E}"/>
              </a:ext>
            </a:extLst>
          </p:cNvPr>
          <p:cNvSpPr>
            <a:spLocks noGrp="1"/>
          </p:cNvSpPr>
          <p:nvPr/>
        </p:nvSpPr>
        <p:spPr>
          <a:xfrm>
            <a:off x="9364025" y="1443274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88" b="1">
                <a:solidFill>
                  <a:srgbClr val="293C42"/>
                </a:solidFill>
                <a:latin typeface="Arial"/>
                <a:ea typeface="Arial"/>
                <a:cs typeface="Arial"/>
              </a:defRPr>
            </a:pPr>
            <a:r>
              <a:rPr kumimoji="0" sz="788" b="1" i="0" u="none" strike="noStrike" kern="1200" cap="none" spc="0" normalizeH="0" baseline="0" noProof="0" dirty="0">
                <a:ln>
                  <a:noFill/>
                </a:ln>
                <a:solidFill>
                  <a:srgbClr val="293C42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9:41</a:t>
            </a:r>
          </a:p>
        </p:txBody>
      </p:sp>
      <p:sp>
        <p:nvSpPr>
          <p:cNvPr id="60" name="phone-header">
            <a:extLst>
              <a:ext uri="{FF2B5EF4-FFF2-40B4-BE49-F238E27FC236}">
                <a16:creationId xmlns:a16="http://schemas.microsoft.com/office/drawing/2014/main" id="{36EEC1B8-307B-5C1B-5E16-BBC0191401F2}"/>
              </a:ext>
            </a:extLst>
          </p:cNvPr>
          <p:cNvSpPr>
            <a:spLocks noGrp="1"/>
          </p:cNvSpPr>
          <p:nvPr/>
        </p:nvSpPr>
        <p:spPr>
          <a:xfrm>
            <a:off x="9364025" y="1607866"/>
            <a:ext cx="1769240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182A30"/>
                </a:solidFill>
                <a:latin typeface="Arial"/>
                <a:ea typeface="Arial"/>
                <a:cs typeface="Arial"/>
              </a:defRPr>
            </a:pP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82A30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Ассистент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82A30"/>
              </a:solidFill>
              <a:effectLst/>
              <a:uLnTx/>
              <a:uFillTx/>
              <a:latin typeface="Calibri" panose="020F0502020204030204" pitchFamily="34" charset="0"/>
              <a:ea typeface="Arial"/>
              <a:cs typeface="Calibri" panose="020F050202020403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88C1CC-A950-9BDF-C2FC-F0299686BBD9}"/>
              </a:ext>
            </a:extLst>
          </p:cNvPr>
          <p:cNvSpPr txBox="1"/>
          <p:nvPr/>
        </p:nvSpPr>
        <p:spPr>
          <a:xfrm>
            <a:off x="9236009" y="3454954"/>
            <a:ext cx="19521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82A30"/>
                </a:solidFill>
                <a:latin typeface="Arial"/>
                <a:ea typeface="Arial"/>
                <a:cs typeface="Arial"/>
              </a:defRPr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182A30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Какой отдых тебе сейчас нужен?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B9357C-51DA-D99A-2C18-B3C86D7C7478}"/>
              </a:ext>
            </a:extLst>
          </p:cNvPr>
          <p:cNvSpPr txBox="1"/>
          <p:nvPr/>
        </p:nvSpPr>
        <p:spPr>
          <a:xfrm>
            <a:off x="457200" y="1517904"/>
            <a:ext cx="5166360" cy="8309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sz="1600" dirty="0">
                <a:solidFill>
                  <a:srgbClr val="2B353E"/>
                </a:solidFill>
              </a:rPr>
              <a:t>По результатам пилота сравнили наполнение Памяти по доменам – о чем говорят люди без дополнительного импульса</a:t>
            </a:r>
            <a:r>
              <a:rPr lang="en-US" sz="1600" dirty="0">
                <a:solidFill>
                  <a:srgbClr val="2B353E"/>
                </a:solidFill>
              </a:rPr>
              <a:t>.</a:t>
            </a:r>
            <a:endParaRPr lang="ru-RU" sz="1600" dirty="0">
              <a:solidFill>
                <a:srgbClr val="2B353E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D8553C2-3F04-F61A-634E-4B0BFA70186D}"/>
              </a:ext>
            </a:extLst>
          </p:cNvPr>
          <p:cNvSpPr txBox="1"/>
          <p:nvPr/>
        </p:nvSpPr>
        <p:spPr>
          <a:xfrm>
            <a:off x="6080760" y="1600200"/>
            <a:ext cx="2560594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2B353E"/>
                </a:solidFill>
              </a:defRPr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B353E"/>
                </a:solidFill>
                <a:effectLst/>
                <a:uLnTx/>
                <a:uFillTx/>
              </a:rPr>
              <a:t>Выводим интерактивные вопросы в ИИ-помощник: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7BE78A6-C58F-9CCD-B748-2B9E8FDE6217}"/>
              </a:ext>
            </a:extLst>
          </p:cNvPr>
          <p:cNvSpPr txBox="1"/>
          <p:nvPr/>
        </p:nvSpPr>
        <p:spPr>
          <a:xfrm>
            <a:off x="457200" y="2450592"/>
            <a:ext cx="5166360" cy="9541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ru-RU" sz="1400" dirty="0">
                <a:solidFill>
                  <a:srgbClr val="2B353E"/>
                </a:solidFill>
              </a:rPr>
              <a:t>Выяснили, что пользователи </a:t>
            </a:r>
            <a:r>
              <a:rPr lang="ru-RU" sz="1400" b="1" dirty="0">
                <a:solidFill>
                  <a:srgbClr val="2B353E"/>
                </a:solidFill>
              </a:rPr>
              <a:t>охотно общаются на финансовые темы</a:t>
            </a:r>
            <a:r>
              <a:rPr lang="ru-RU" sz="1400" dirty="0">
                <a:solidFill>
                  <a:srgbClr val="2B353E"/>
                </a:solidFill>
              </a:rPr>
              <a:t>, но мы почти ничего не знаем об остальных сферах их жизни: долгосрочных целях, предпочтениях, путешествиях и значимых событиях.</a:t>
            </a:r>
          </a:p>
        </p:txBody>
      </p:sp>
      <p:sp>
        <p:nvSpPr>
          <p:cNvPr id="90" name="stat-card-79"/>
          <p:cNvSpPr/>
          <p:nvPr/>
        </p:nvSpPr>
        <p:spPr>
          <a:xfrm>
            <a:off x="457200" y="3547872"/>
            <a:ext cx="5166360" cy="96012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CB5A8"/>
              </a:gs>
              <a:gs pos="100000">
                <a:srgbClr val="087F8C"/>
              </a:gs>
            </a:gsLst>
            <a:lin ang="2700000" scaled="1"/>
          </a:gra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1" name="stat-card-21"/>
          <p:cNvSpPr/>
          <p:nvPr/>
        </p:nvSpPr>
        <p:spPr>
          <a:xfrm>
            <a:off x="457200" y="4617720"/>
            <a:ext cx="5166360" cy="1783080"/>
          </a:xfrm>
          <a:prstGeom prst="roundRect">
            <a:avLst>
              <a:gd name="adj" fmla="val 7000"/>
            </a:avLst>
          </a:prstGeom>
          <a:solidFill>
            <a:srgbClr val="F2F9FF"/>
          </a:solidFill>
          <a:ln w="9525">
            <a:solidFill>
              <a:srgbClr val="15AFAF">
                <a:alpha val="45000"/>
              </a:srgbClr>
            </a:solidFill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708EDC4-853C-916E-3227-EDDF3374163B}"/>
              </a:ext>
            </a:extLst>
          </p:cNvPr>
          <p:cNvSpPr txBox="1"/>
          <p:nvPr/>
        </p:nvSpPr>
        <p:spPr>
          <a:xfrm>
            <a:off x="640080" y="3639312"/>
            <a:ext cx="1005840" cy="457200"/>
          </a:xfrm>
          <a:prstGeom prst="rect">
            <a:avLst/>
          </a:prstGeom>
          <a:noFill/>
        </p:spPr>
        <p:txBody>
          <a:bodyPr wrap="square" lIns="0" rtlCol="0" anchor="ctr" tIns="0" rIns="0" bIns="0"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79%</a:t>
            </a:r>
            <a:endParaRPr lang="ru-RU" sz="3200" b="1" dirty="0">
              <a:solidFill>
                <a:srgbClr val="FFFF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86E673-1C92-C4D6-1AC5-5C909C788D35}"/>
              </a:ext>
            </a:extLst>
          </p:cNvPr>
          <p:cNvSpPr txBox="1"/>
          <p:nvPr/>
        </p:nvSpPr>
        <p:spPr>
          <a:xfrm>
            <a:off x="640080" y="4709160"/>
            <a:ext cx="1005840" cy="457200"/>
          </a:xfrm>
          <a:prstGeom prst="rect">
            <a:avLst/>
          </a:prstGeom>
          <a:noFill/>
        </p:spPr>
        <p:txBody>
          <a:bodyPr wrap="square" lIns="0" rtlCol="0" anchor="ctr" tIns="0" rIns="0" bIns="0">
            <a:noAutofit/>
          </a:bodyPr>
          <a:lstStyle/>
          <a:p>
            <a:pPr algn="l"/>
            <a:r>
              <a:rPr lang="en-US" sz="3200" b="1" dirty="0">
                <a:solidFill>
                  <a:srgbClr val="087F8C"/>
                </a:solidFill>
              </a:rPr>
              <a:t>21%</a:t>
            </a:r>
            <a:endParaRPr lang="ru-RU" sz="3200" b="1" dirty="0">
              <a:solidFill>
                <a:srgbClr val="087F8C"/>
              </a:solidFill>
            </a:endParaRPr>
          </a:p>
        </p:txBody>
      </p:sp>
      <p:sp>
        <p:nvSpPr>
          <p:cNvPr id="84" name="story-heading">
            <a:extLst>
              <a:ext uri="{FF2B5EF4-FFF2-40B4-BE49-F238E27FC236}">
                <a16:creationId xmlns:a16="http://schemas.microsoft.com/office/drawing/2014/main" id="{2C4F3791-A02A-40E7-6E2A-EC4DC3011321}"/>
              </a:ext>
            </a:extLst>
          </p:cNvPr>
          <p:cNvSpPr>
            <a:spLocks noGrp="1"/>
          </p:cNvSpPr>
          <p:nvPr/>
        </p:nvSpPr>
        <p:spPr>
          <a:xfrm>
            <a:off x="6080760" y="1005840"/>
            <a:ext cx="1904695" cy="35570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AFAF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87F8C"/>
                </a:solidFill>
              </a:defRPr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87F8C"/>
                </a:solidFill>
                <a:effectLst/>
                <a:uLnTx/>
                <a:uFillTx/>
              </a:rPr>
              <a:t>Что делаем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87F8C"/>
              </a:solidFill>
              <a:effectLst/>
              <a:uLnTx/>
              <a:uFillTx/>
            </a:endParaRPr>
          </a:p>
        </p:txBody>
      </p:sp>
      <p:sp>
        <p:nvSpPr>
          <p:cNvPr id="92" name="flow-chevron"/>
          <p:cNvSpPr/>
          <p:nvPr/>
        </p:nvSpPr>
        <p:spPr>
          <a:xfrm>
            <a:off x="5694700" y="1056726"/>
            <a:ext cx="177800" cy="254000"/>
          </a:xfrm>
          <a:prstGeom prst="chevron">
            <a:avLst>
              <a:gd name="adj" fmla="val 60000"/>
            </a:avLst>
          </a:prstGeom>
          <a:solidFill>
            <a:srgbClr val="15AFAF"/>
          </a:solidFill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93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pc="-60" dirty="0"/>
              <a:t>От финансового анализа к сонастройке – через финансовые вопросы</a:t>
            </a:r>
          </a:p>
        </p:txBody>
      </p:sp>
      <p:sp>
        <p:nvSpPr>
          <p:cNvPr id="94" name="track-bg"/>
          <p:cNvSpPr/>
          <p:nvPr/>
        </p:nvSpPr>
        <p:spPr>
          <a:xfrm>
            <a:off x="1783080" y="3822192"/>
            <a:ext cx="3657600" cy="9144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95" name="track-fill"/>
          <p:cNvSpPr/>
          <p:nvPr/>
        </p:nvSpPr>
        <p:spPr>
          <a:xfrm>
            <a:off x="1783080" y="3822192"/>
            <a:ext cx="2889504" cy="91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96" name="track-bg"/>
          <p:cNvSpPr/>
          <p:nvPr/>
        </p:nvSpPr>
        <p:spPr>
          <a:xfrm>
            <a:off x="1783080" y="4892040"/>
            <a:ext cx="3657600" cy="91440"/>
          </a:xfrm>
          <a:prstGeom prst="roundRect">
            <a:avLst>
              <a:gd name="adj" fmla="val 50000"/>
            </a:avLst>
          </a:prstGeom>
          <a:solidFill>
            <a:srgbClr val="DDEAE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97" name="track-fill"/>
          <p:cNvSpPr/>
          <p:nvPr/>
        </p:nvSpPr>
        <p:spPr>
          <a:xfrm>
            <a:off x="1783080" y="4892040"/>
            <a:ext cx="768096" cy="914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CB5A8"/>
              </a:gs>
              <a:gs pos="100000">
                <a:srgbClr val="087F8C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98" name="item-79-0"/>
          <p:cNvSpPr txBox="1"/>
          <p:nvPr/>
        </p:nvSpPr>
        <p:spPr>
          <a:xfrm>
            <a:off x="640080" y="418795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FFFFFF"/>
                </a:solidFill>
              </a:rPr>
              <a:t>finance</a:t>
            </a:r>
            <a:r>
              <a:rPr lang="ru-RU" sz="1100" b="0" dirty="0">
                <a:solidFill>
                  <a:srgbClr val="FFFFFF"/>
                </a:solidFill>
              </a:rPr>
              <a:t>: </a:t>
            </a:r>
            <a:r>
              <a:rPr lang="ru-RU" sz="1100" b="1" dirty="0">
                <a:solidFill>
                  <a:srgbClr val="FFFFFF"/>
                </a:solidFill>
              </a:rPr>
              <a:t>21.18%</a:t>
            </a:r>
          </a:p>
        </p:txBody>
      </p:sp>
      <p:sp>
        <p:nvSpPr>
          <p:cNvPr id="99" name="item-79-1"/>
          <p:cNvSpPr txBox="1"/>
          <p:nvPr/>
        </p:nvSpPr>
        <p:spPr>
          <a:xfrm>
            <a:off x="2240280" y="418795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FFFFFF"/>
                </a:solidFill>
              </a:rPr>
              <a:t>goal_short</a:t>
            </a:r>
            <a:r>
              <a:rPr lang="ru-RU" sz="1100" b="0" dirty="0">
                <a:solidFill>
                  <a:srgbClr val="FFFFFF"/>
                </a:solidFill>
              </a:rPr>
              <a:t>: </a:t>
            </a:r>
            <a:r>
              <a:rPr lang="ru-RU" sz="1100" b="1" dirty="0">
                <a:solidFill>
                  <a:srgbClr val="FFFFFF"/>
                </a:solidFill>
              </a:rPr>
              <a:t>24.46%</a:t>
            </a:r>
          </a:p>
        </p:txBody>
      </p:sp>
      <p:sp>
        <p:nvSpPr>
          <p:cNvPr id="100" name="item-79-2"/>
          <p:cNvSpPr txBox="1"/>
          <p:nvPr/>
        </p:nvSpPr>
        <p:spPr>
          <a:xfrm>
            <a:off x="3840480" y="418795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FFFFFF"/>
                </a:solidFill>
              </a:rPr>
              <a:t>purchases</a:t>
            </a:r>
            <a:r>
              <a:rPr lang="ru-RU" sz="1100" b="0" dirty="0">
                <a:solidFill>
                  <a:srgbClr val="FFFFFF"/>
                </a:solidFill>
              </a:rPr>
              <a:t>: </a:t>
            </a:r>
            <a:r>
              <a:rPr lang="ru-RU" sz="1100" b="1" dirty="0">
                <a:solidFill>
                  <a:srgbClr val="FFFFFF"/>
                </a:solidFill>
              </a:rPr>
              <a:t>32.91%</a:t>
            </a:r>
          </a:p>
        </p:txBody>
      </p:sp>
      <p:sp>
        <p:nvSpPr>
          <p:cNvPr id="101" name="items-21-col1"/>
          <p:cNvSpPr txBox="1"/>
          <p:nvPr/>
        </p:nvSpPr>
        <p:spPr>
          <a:xfrm>
            <a:off x="640080" y="5257800"/>
            <a:ext cx="1600200" cy="1014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goal_long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0.19%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preferences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1.95%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vehicle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3.82%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events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0.66%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education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0.44%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travel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0.09%</a:t>
            </a:r>
          </a:p>
        </p:txBody>
      </p:sp>
      <p:sp>
        <p:nvSpPr>
          <p:cNvPr id="102" name="items-21-col2"/>
          <p:cNvSpPr txBox="1"/>
          <p:nvPr/>
        </p:nvSpPr>
        <p:spPr>
          <a:xfrm>
            <a:off x="2240280" y="5257800"/>
            <a:ext cx="1600200" cy="1014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social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2.09%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state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2.82%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places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0.76%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constraints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1.63%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pets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0.19%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realty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1.59%</a:t>
            </a:r>
          </a:p>
        </p:txBody>
      </p:sp>
      <p:sp>
        <p:nvSpPr>
          <p:cNvPr id="103" name="items-21-col3"/>
          <p:cNvSpPr txBox="1"/>
          <p:nvPr/>
        </p:nvSpPr>
        <p:spPr>
          <a:xfrm>
            <a:off x="3840480" y="5257800"/>
            <a:ext cx="1600200" cy="1014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work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3.22%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profile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0.80%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communication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0.17%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beliefs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0.17%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leisure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0.59%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2B353E"/>
                </a:solidFill>
              </a:rPr>
              <a:t>physiology</a:t>
            </a:r>
            <a:r>
              <a:rPr lang="ru-RU" sz="1050" b="0" dirty="0">
                <a:solidFill>
                  <a:srgbClr val="2B353E"/>
                </a:solidFill>
              </a:rPr>
              <a:t>: </a:t>
            </a:r>
            <a:r>
              <a:rPr lang="ru-RU" sz="1050" b="1" dirty="0">
                <a:solidFill>
                  <a:srgbClr val="087F8C"/>
                </a:solidFill>
              </a:rPr>
              <a:t>0.22%</a:t>
            </a:r>
          </a:p>
        </p:txBody>
      </p:sp>
      <p:sp>
        <p:nvSpPr>
          <p:cNvPr id="104" name="point-card-1"/>
          <p:cNvSpPr/>
          <p:nvPr/>
        </p:nvSpPr>
        <p:spPr>
          <a:xfrm>
            <a:off x="6080760" y="2606040"/>
            <a:ext cx="2560594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AFAF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05" name="point-icon-1"/>
          <p:cNvSpPr/>
          <p:nvPr/>
        </p:nvSpPr>
        <p:spPr>
          <a:xfrm>
            <a:off x="6263640" y="3008376"/>
            <a:ext cx="292608" cy="292608"/>
          </a:xfrm>
          <a:prstGeom prst="star4">
            <a:avLst>
              <a:gd name="adj" fmla="val 12500"/>
            </a:avLst>
          </a:prstGeom>
          <a:gradFill rotWithShape="1">
            <a:gsLst>
              <a:gs pos="0">
                <a:srgbClr val="1CB5A8"/>
              </a:gs>
              <a:gs pos="100000">
                <a:srgbClr val="087F8C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06" name="point-text-1"/>
          <p:cNvSpPr txBox="1"/>
          <p:nvPr/>
        </p:nvSpPr>
        <p:spPr>
          <a:xfrm>
            <a:off x="6665976" y="2697480"/>
            <a:ext cx="1838218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5000"/>
              </a:lnSpc>
              <a:spcAft>
                <a:spcPts val="0"/>
              </a:spcAft>
              <a:buNone/>
              <a:tabLst/>
              <a:defRPr sz="1538" b="0">
                <a:solidFill>
                  <a:srgbClr val="2B353E"/>
                </a:solidFill>
              </a:defRPr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B353E"/>
                </a:solidFill>
                <a:effectLst/>
                <a:uLnTx/>
                <a:uFillTx/>
              </a:rPr>
              <a:t>вовлекаем пользователя в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2B353E"/>
                </a:solidFill>
                <a:effectLst/>
                <a:uLnTx/>
                <a:uFillTx/>
              </a:rPr>
              <a:t>настройку ассистента</a:t>
            </a:r>
            <a:endParaRPr lang="ru-RU" sz="1400" dirty="0">
              <a:solidFill>
                <a:srgbClr val="2B353E"/>
              </a:solidFill>
            </a:endParaRPr>
          </a:p>
        </p:txBody>
      </p:sp>
      <p:sp>
        <p:nvSpPr>
          <p:cNvPr id="107" name="point-card-2"/>
          <p:cNvSpPr/>
          <p:nvPr/>
        </p:nvSpPr>
        <p:spPr>
          <a:xfrm>
            <a:off x="6080760" y="3886200"/>
            <a:ext cx="2560594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AFAF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08" name="point-icon-2"/>
          <p:cNvSpPr/>
          <p:nvPr/>
        </p:nvSpPr>
        <p:spPr>
          <a:xfrm>
            <a:off x="6263640" y="4288536"/>
            <a:ext cx="292608" cy="292608"/>
          </a:xfrm>
          <a:prstGeom prst="star4">
            <a:avLst>
              <a:gd name="adj" fmla="val 12500"/>
            </a:avLst>
          </a:prstGeom>
          <a:gradFill rotWithShape="1">
            <a:gsLst>
              <a:gs pos="0">
                <a:srgbClr val="1CB5A8"/>
              </a:gs>
              <a:gs pos="100000">
                <a:srgbClr val="087F8C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09" name="point-text-2"/>
          <p:cNvSpPr txBox="1"/>
          <p:nvPr/>
        </p:nvSpPr>
        <p:spPr>
          <a:xfrm>
            <a:off x="6665976" y="3977640"/>
            <a:ext cx="1838218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5000"/>
              </a:lnSpc>
              <a:spcAft>
                <a:spcPts val="0"/>
              </a:spcAft>
              <a:buNone/>
              <a:tabLst/>
              <a:defRPr sz="1538" b="0">
                <a:solidFill>
                  <a:srgbClr val="2B353E"/>
                </a:solidFill>
              </a:defRPr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B353E"/>
                </a:solidFill>
                <a:effectLst/>
                <a:uLnTx/>
                <a:uFillTx/>
              </a:rPr>
              <a:t>создаем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2B353E"/>
                </a:solidFill>
                <a:effectLst/>
                <a:uLnTx/>
                <a:uFillTx/>
              </a:rPr>
              <a:t>«эмоциональный клей»</a:t>
            </a:r>
            <a:endParaRPr lang="ru-RU" sz="1400" dirty="0">
              <a:solidFill>
                <a:srgbClr val="2B353E"/>
              </a:solidFill>
            </a:endParaRPr>
          </a:p>
        </p:txBody>
      </p:sp>
      <p:sp>
        <p:nvSpPr>
          <p:cNvPr id="110" name="point-card-3"/>
          <p:cNvSpPr/>
          <p:nvPr/>
        </p:nvSpPr>
        <p:spPr>
          <a:xfrm>
            <a:off x="6080760" y="5166360"/>
            <a:ext cx="2560594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AFAF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11" name="point-icon-3"/>
          <p:cNvSpPr/>
          <p:nvPr/>
        </p:nvSpPr>
        <p:spPr>
          <a:xfrm>
            <a:off x="6263640" y="5568696"/>
            <a:ext cx="292608" cy="292608"/>
          </a:xfrm>
          <a:prstGeom prst="star4">
            <a:avLst>
              <a:gd name="adj" fmla="val 12500"/>
            </a:avLst>
          </a:prstGeom>
          <a:gradFill rotWithShape="1">
            <a:gsLst>
              <a:gs pos="0">
                <a:srgbClr val="1CB5A8"/>
              </a:gs>
              <a:gs pos="100000">
                <a:srgbClr val="087F8C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12" name="point-text-3"/>
          <p:cNvSpPr txBox="1"/>
          <p:nvPr/>
        </p:nvSpPr>
        <p:spPr>
          <a:xfrm>
            <a:off x="6665976" y="5257800"/>
            <a:ext cx="1838218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5000"/>
              </a:lnSpc>
              <a:spcAft>
                <a:spcPts val="0"/>
              </a:spcAft>
              <a:buNone/>
              <a:tabLst/>
              <a:defRPr sz="1538" b="0">
                <a:solidFill>
                  <a:srgbClr val="2B353E"/>
                </a:solidFill>
              </a:defRPr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2B353E"/>
                </a:solidFill>
                <a:effectLst/>
                <a:uLnTx/>
                <a:uFillTx/>
              </a:rPr>
              <a:t>наполняем память </a:t>
            </a:r>
            <a:r>
              <a:rPr kumimoji="0" lang="ru-RU" sz="1400" i="0" u="none" strike="noStrike" kern="1200" cap="none" spc="0" normalizeH="0" baseline="0" noProof="0" dirty="0">
                <a:ln>
                  <a:noFill/>
                </a:ln>
                <a:solidFill>
                  <a:srgbClr val="2B353E"/>
                </a:solidFill>
                <a:effectLst/>
                <a:uLnTx/>
                <a:uFillTx/>
              </a:rPr>
              <a:t>полезными фактами.</a:t>
            </a:r>
            <a:endParaRPr lang="ru-RU" sz="1400" dirty="0">
              <a:solidFill>
                <a:srgbClr val="2B35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456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4">
            <a:extLst>
              <a:ext uri="{FF2B5EF4-FFF2-40B4-BE49-F238E27FC236}">
                <a16:creationId xmlns:a16="http://schemas.microsoft.com/office/drawing/2014/main" id="{5D1DC447-6210-3CDD-6893-7B511B726384}"/>
              </a:ext>
            </a:extLst>
          </p:cNvPr>
          <p:cNvSpPr/>
          <p:nvPr/>
        </p:nvSpPr>
        <p:spPr bwMode="auto">
          <a:xfrm>
            <a:off x="457200" y="954634"/>
            <a:ext cx="11277570" cy="5446166"/>
          </a:xfrm>
          <a:prstGeom prst="roundRect">
            <a:avLst>
              <a:gd name="adj" fmla="val 3975"/>
            </a:avLst>
          </a:prstGeom>
          <a:gradFill flip="none" rotWithShape="1">
            <a:gsLst>
              <a:gs pos="28000">
                <a:schemeClr val="bg2">
                  <a:alpha val="36000"/>
                </a:schemeClr>
              </a:gs>
              <a:gs pos="100000">
                <a:schemeClr val="bg1">
                  <a:lumMod val="0"/>
                  <a:lumOff val="100000"/>
                </a:schemeClr>
              </a:gs>
            </a:gsLst>
            <a:lin ang="10800000" scaled="1"/>
            <a:tileRect/>
          </a:gradFill>
          <a:ln>
            <a:gradFill flip="none" rotWithShape="1">
              <a:gsLst>
                <a:gs pos="2000">
                  <a:schemeClr val="bg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  <a:effectLst>
            <a:outerShdw blurRad="127000" dist="127000" dir="12000000" sx="99000" sy="99000" algn="br" rotWithShape="0">
              <a:schemeClr val="accent3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Sans Display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A90E54-8A94-FB7F-DBA0-1DDF8FD21A03}"/>
              </a:ext>
            </a:extLst>
          </p:cNvPr>
          <p:cNvSpPr txBox="1"/>
          <p:nvPr/>
        </p:nvSpPr>
        <p:spPr>
          <a:xfrm>
            <a:off x="576072" y="1073506"/>
            <a:ext cx="3217821" cy="5208422"/>
          </a:xfrm>
          <a:prstGeom prst="roundRect">
            <a:avLst>
              <a:gd name="adj" fmla="val 4788"/>
            </a:avLst>
          </a:prstGeom>
          <a:gradFill flip="none" rotWithShape="1">
            <a:gsLst>
              <a:gs pos="1000">
                <a:schemeClr val="accent3">
                  <a:lumMod val="50000"/>
                </a:schemeClr>
              </a:gs>
              <a:gs pos="49000">
                <a:schemeClr val="accent3"/>
              </a:gs>
              <a:gs pos="100000">
                <a:schemeClr val="accent3">
                  <a:lumMod val="86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216000" rIns="0" bIns="72000" rtlCol="0" anchor="t">
            <a:noAutofit/>
          </a:bodyPr>
          <a:lstStyle>
            <a:defPPr>
              <a:defRPr lang="ru-RU"/>
            </a:defPPr>
            <a:lvl1pPr algn="ctr">
              <a:spcAft>
                <a:spcPts val="1800"/>
              </a:spcAft>
              <a:defRPr sz="1600" kern="0">
                <a:solidFill>
                  <a:srgbClr val="FFFFFF"/>
                </a:solidFill>
                <a:latin typeface="SB Sans Display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90000"/>
              </a:lnSpc>
              <a:spcAft>
                <a:spcPts val="0"/>
              </a:spcAft>
              <a:defRPr/>
            </a:pPr>
            <a:endParaRPr lang="ru-RU" sz="1200" b="1" dirty="0">
              <a:cs typeface="SB Sans Display" panose="020B0503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9537A-8C09-76FE-FB76-64D4D5BDA4E1}"/>
              </a:ext>
            </a:extLst>
          </p:cNvPr>
          <p:cNvSpPr txBox="1"/>
          <p:nvPr/>
        </p:nvSpPr>
        <p:spPr>
          <a:xfrm>
            <a:off x="4118660" y="1085079"/>
            <a:ext cx="7172470" cy="5224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850" lvl="0" indent="-450850">
              <a:spcAft>
                <a:spcPts val="800"/>
              </a:spcAft>
              <a:buBlip>
                <a:blip r:embed="rId3"/>
              </a:buBlip>
            </a:pPr>
            <a:r>
              <a:rPr lang="ru-RU" sz="1400" b="1" dirty="0">
                <a:latin typeface="SB Sans Display" panose="020B0503040504020204" pitchFamily="34" charset="0"/>
                <a:cs typeface="SB Sans Display" panose="020B0503040504020204" pitchFamily="34" charset="0"/>
              </a:rPr>
              <a:t>Модуль проактивных вопросов.</a:t>
            </a:r>
            <a:r>
              <a:rPr lang="ru-RU" sz="14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Выбирает следующий вопрос на основе памяти, текущего диалога и пробелов в знаниях о пользователе. Управляет частотой показов, исключает повторы и темы, от которых пользователь отказался.</a:t>
            </a:r>
          </a:p>
          <a:p>
            <a:pPr marL="450850" lvl="0" indent="-450850">
              <a:spcAft>
                <a:spcPts val="800"/>
              </a:spcAft>
              <a:buBlip>
                <a:blip r:embed="rId3"/>
              </a:buBlip>
            </a:pPr>
            <a:r>
              <a:rPr lang="ru-RU" sz="1400" b="1" dirty="0">
                <a:latin typeface="SB Sans Display" panose="020B0503040504020204" pitchFamily="34" charset="0"/>
                <a:cs typeface="SB Sans Display" panose="020B0503040504020204" pitchFamily="34" charset="0"/>
              </a:rPr>
              <a:t>Модуль управления знакомством</a:t>
            </a:r>
            <a:r>
              <a:rPr lang="en-US" sz="1400" b="1" dirty="0">
                <a:latin typeface="SB Sans Display" panose="020B0503040504020204" pitchFamily="34" charset="0"/>
                <a:cs typeface="SB Sans Display" panose="020B0503040504020204" pitchFamily="34" charset="0"/>
              </a:rPr>
              <a:t> (NEW)</a:t>
            </a:r>
            <a:r>
              <a:rPr lang="ru-RU" sz="1400" b="1" dirty="0">
                <a:latin typeface="SB Sans Display" panose="020B0503040504020204" pitchFamily="34" charset="0"/>
                <a:cs typeface="SB Sans Display" panose="020B0503040504020204" pitchFamily="34" charset="0"/>
              </a:rPr>
              <a:t>.</a:t>
            </a:r>
            <a:r>
              <a:rPr lang="ru-RU" sz="14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Хранит состояние сценария: что уже спросили, на что получили ответ, что пропустили и где остановились. Позволяет продолжать знакомство между сессиями.</a:t>
            </a:r>
          </a:p>
          <a:p>
            <a:pPr marL="450850" lvl="0" indent="-450850">
              <a:spcAft>
                <a:spcPts val="800"/>
              </a:spcAft>
              <a:buBlip>
                <a:blip r:embed="rId3"/>
              </a:buBlip>
            </a:pPr>
            <a:r>
              <a:rPr lang="ru-RU" sz="1400" b="1" dirty="0">
                <a:latin typeface="SB Sans Display" panose="020B0503040504020204" pitchFamily="34" charset="0"/>
                <a:cs typeface="SB Sans Display" panose="020B0503040504020204" pitchFamily="34" charset="0"/>
              </a:rPr>
              <a:t>Расширение модели и API Памяти.</a:t>
            </a:r>
            <a:r>
              <a:rPr lang="ru-RU" sz="14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Добавляет необходимые сценарию признаки: тема факта, источник, актуальность и ограничения использования. Обеспечивает получение контекста для выбора вопроса и персонального отклика.</a:t>
            </a:r>
          </a:p>
          <a:p>
            <a:pPr marL="450850" lvl="0" indent="-450850">
              <a:spcAft>
                <a:spcPts val="800"/>
              </a:spcAft>
              <a:buBlip>
                <a:blip r:embed="rId3"/>
              </a:buBlip>
            </a:pPr>
            <a:r>
              <a:rPr lang="ru-RU" sz="1400" b="1" dirty="0">
                <a:latin typeface="SB Sans Display" panose="020B0503040504020204" pitchFamily="34" charset="0"/>
                <a:cs typeface="SB Sans Display" panose="020B0503040504020204" pitchFamily="34" charset="0"/>
              </a:rPr>
              <a:t>Доработка оркестратора </a:t>
            </a:r>
            <a:r>
              <a:rPr lang="en-US" sz="1400" b="1" dirty="0">
                <a:latin typeface="SB Sans Display" panose="020B0503040504020204" pitchFamily="34" charset="0"/>
                <a:cs typeface="SB Sans Display" panose="020B0503040504020204" pitchFamily="34" charset="0"/>
              </a:rPr>
              <a:t>BRAIN</a:t>
            </a:r>
            <a:r>
              <a:rPr lang="ru-RU" sz="1400" b="1" dirty="0">
                <a:latin typeface="SB Sans Display" panose="020B0503040504020204" pitchFamily="34" charset="0"/>
                <a:cs typeface="SB Sans Display" panose="020B0503040504020204" pitchFamily="34" charset="0"/>
              </a:rPr>
              <a:t>.</a:t>
            </a:r>
            <a:r>
              <a:rPr lang="ru-RU" sz="14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Связывает чтение памяти, выбор вопроса, обработку ответа и генерацию отклика. Ответ передаёт в существующий майнинг; состояние сценария обновляет сразу, чтобы не ждать сохранения фактов.</a:t>
            </a:r>
          </a:p>
          <a:p>
            <a:pPr marL="450850" lvl="0" indent="-450850">
              <a:spcAft>
                <a:spcPts val="800"/>
              </a:spcAft>
              <a:buBlip>
                <a:blip r:embed="rId3"/>
              </a:buBlip>
            </a:pPr>
            <a:r>
              <a:rPr lang="ru-RU" sz="1400" b="1" dirty="0">
                <a:latin typeface="SB Sans Display" panose="020B0503040504020204" pitchFamily="34" charset="0"/>
                <a:cs typeface="SB Sans Display" panose="020B0503040504020204" pitchFamily="34" charset="0"/>
              </a:rPr>
              <a:t>Доработки фронтальной части ЦА.</a:t>
            </a:r>
            <a:r>
              <a:rPr lang="ru-RU" sz="14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Получение карточки вопроса, отправка ответа, пропуск и завершение знакомства. Добавляются кнопки быстрых ответов под вопросом ассистента, сохраняя свободный ввод и возможность пропуска. </a:t>
            </a:r>
          </a:p>
          <a:p>
            <a:pPr marL="450850" lvl="0" indent="-450850">
              <a:spcAft>
                <a:spcPts val="800"/>
              </a:spcAft>
              <a:buBlip>
                <a:blip r:embed="rId3"/>
              </a:buBlip>
            </a:pPr>
            <a:r>
              <a:rPr lang="ru-RU" sz="1400" b="1" dirty="0">
                <a:latin typeface="SB Sans Display" panose="020B0503040504020204" pitchFamily="34" charset="0"/>
                <a:cs typeface="SB Sans Display" panose="020B0503040504020204" pitchFamily="34" charset="0"/>
              </a:rPr>
              <a:t>Контур управления пилотом.</a:t>
            </a:r>
            <a:r>
              <a:rPr lang="ru-RU" sz="140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Включение функциональности для выбранных групп, события показа/ответа/пропуска, связь вопроса с пополнением и последующим использованием памяти.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4970B5-1D02-2005-1A14-951EA0B95E5F}"/>
              </a:ext>
            </a:extLst>
          </p:cNvPr>
          <p:cNvSpPr txBox="1"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609576">
              <a:defRPr sz="1000" b="0">
                <a:solidFill>
                  <a:srgbClr val="64716A"/>
                </a:solidFill>
                <a:latin typeface="Arial"/>
                <a:ea typeface="Arial"/>
                <a:cs typeface="Arial"/>
              </a:defRPr>
            </a:pPr>
            <a:r>
              <a:rPr lang="en-US" sz="1000" dirty="0">
                <a:solidFill>
                  <a:srgbClr val="6B6B6B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*</a:t>
            </a:r>
            <a:r>
              <a:rPr lang="ru-RU" sz="1000" dirty="0">
                <a:solidFill>
                  <a:srgbClr val="6B6B6B"/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 экспертная оценка, требует подтверждения</a:t>
            </a:r>
            <a:endParaRPr lang="en-US" sz="1000" dirty="0">
              <a:solidFill>
                <a:srgbClr val="6B6B6B"/>
              </a:solidFill>
              <a:latin typeface="SB Sans Display" panose="020B0503040504020204" pitchFamily="34" charset="0"/>
              <a:ea typeface="Arial"/>
              <a:cs typeface="SB Sans Display" panose="020B0503040504020204" pitchFamily="34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0DA3CDD-8567-D8A8-EB6A-253A6E2D0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Контур и концептуальное описание пилота</a:t>
            </a:r>
            <a:endParaRPr lang="en-US" dirty="0"/>
          </a:p>
        </p:txBody>
      </p:sp>
      <p:sp>
        <p:nvSpPr>
          <p:cNvPr id="13" name="sum-total">
            <a:extLst>
              <a:ext uri="{FF2B5EF4-FFF2-40B4-BE49-F238E27FC236}">
                <a16:creationId xmlns:a16="http://schemas.microsoft.com/office/drawing/2014/main" id="{30DF6696-80A4-13C1-7BC4-B634AE7555EE}"/>
              </a:ext>
            </a:extLst>
          </p:cNvPr>
          <p:cNvSpPr>
            <a:spLocks noGrp="1"/>
          </p:cNvSpPr>
          <p:nvPr/>
        </p:nvSpPr>
        <p:spPr>
          <a:xfrm>
            <a:off x="794332" y="1286689"/>
            <a:ext cx="2781300" cy="203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ru-RU" b="0" dirty="0">
                <a:solidFill>
                  <a:schemeClr val="bg1"/>
                </a:solidFill>
              </a:rPr>
              <a:t>ПОТРЕБУЮТСЯ</a:t>
            </a:r>
            <a:br>
              <a:rPr lang="ru-RU" b="0" dirty="0">
                <a:solidFill>
                  <a:schemeClr val="bg1"/>
                </a:solidFill>
              </a:rPr>
            </a:br>
            <a:r>
              <a:rPr lang="ru-RU" b="0" dirty="0">
                <a:solidFill>
                  <a:schemeClr val="bg1"/>
                </a:solidFill>
              </a:rPr>
              <a:t>ДОРАБОТКИ</a:t>
            </a:r>
          </a:p>
          <a:p>
            <a:pPr marL="522287" indent="-342900">
              <a:spcBef>
                <a:spcPts val="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1" spc="-30" dirty="0">
                <a:solidFill>
                  <a:schemeClr val="bg1"/>
                </a:solidFill>
              </a:rPr>
              <a:t>ЦА</a:t>
            </a:r>
          </a:p>
          <a:p>
            <a:pPr marL="522287" indent="-342900">
              <a:spcBef>
                <a:spcPts val="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1" spc="-30" dirty="0">
                <a:solidFill>
                  <a:schemeClr val="bg1"/>
                </a:solidFill>
              </a:rPr>
              <a:t>BRAIN</a:t>
            </a:r>
          </a:p>
          <a:p>
            <a:pPr marL="522287" indent="-342900">
              <a:spcBef>
                <a:spcPts val="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1" spc="-30" dirty="0">
                <a:solidFill>
                  <a:schemeClr val="bg1"/>
                </a:solidFill>
              </a:rPr>
              <a:t>Проактивный профиль</a:t>
            </a:r>
          </a:p>
          <a:p>
            <a:pPr marL="522287" indent="-342900">
              <a:spcBef>
                <a:spcPts val="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1" spc="-30" dirty="0">
                <a:solidFill>
                  <a:schemeClr val="bg1"/>
                </a:solidFill>
              </a:rPr>
              <a:t>Память</a:t>
            </a:r>
          </a:p>
        </p:txBody>
      </p:sp>
      <p:sp>
        <p:nvSpPr>
          <p:cNvPr id="14" name="sum-total">
            <a:extLst>
              <a:ext uri="{FF2B5EF4-FFF2-40B4-BE49-F238E27FC236}">
                <a16:creationId xmlns:a16="http://schemas.microsoft.com/office/drawing/2014/main" id="{FEE27B23-4B3F-FF05-4175-9A6A64169815}"/>
              </a:ext>
            </a:extLst>
          </p:cNvPr>
          <p:cNvSpPr>
            <a:spLocks noGrp="1"/>
          </p:cNvSpPr>
          <p:nvPr/>
        </p:nvSpPr>
        <p:spPr>
          <a:xfrm>
            <a:off x="794332" y="3612412"/>
            <a:ext cx="2235200" cy="1585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ru-RU" dirty="0">
                <a:solidFill>
                  <a:schemeClr val="bg1"/>
                </a:solidFill>
              </a:rPr>
              <a:t>ПРЕДВАРИТЕЛЬНАЯ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ОЦЕНКА</a:t>
            </a:r>
          </a:p>
          <a:p>
            <a:pPr marL="0" indent="0">
              <a:buNone/>
            </a:pPr>
            <a:r>
              <a:rPr lang="ru-RU" sz="4400" b="1" spc="-100" dirty="0">
                <a:solidFill>
                  <a:schemeClr val="bg1"/>
                </a:solidFill>
              </a:rPr>
              <a:t>≈ 360 ч/д*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0A4E22F0-5A65-C8E2-C2F6-FB8BAEBCBA6C}"/>
              </a:ext>
            </a:extLst>
          </p:cNvPr>
          <p:cNvGrpSpPr/>
          <p:nvPr/>
        </p:nvGrpSpPr>
        <p:grpSpPr>
          <a:xfrm>
            <a:off x="4118660" y="1104129"/>
            <a:ext cx="288000" cy="5315421"/>
            <a:chOff x="4254541" y="1104129"/>
            <a:chExt cx="288000" cy="5315421"/>
          </a:xfrm>
        </p:grpSpPr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1FED90D4-104C-A6FB-5378-2300178ECD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5115" y="1392129"/>
              <a:ext cx="6852" cy="5027421"/>
            </a:xfrm>
            <a:prstGeom prst="line">
              <a:avLst/>
            </a:prstGeom>
            <a:ln w="9525" cap="rnd">
              <a:gradFill>
                <a:gsLst>
                  <a:gs pos="54000">
                    <a:srgbClr val="19A77F"/>
                  </a:gs>
                  <a:gs pos="0">
                    <a:srgbClr val="19A77F">
                      <a:alpha val="0"/>
                    </a:srgbClr>
                  </a:gs>
                  <a:gs pos="100000">
                    <a:srgbClr val="19A77F"/>
                  </a:gs>
                </a:gsLst>
                <a:lin ang="5400000" scaled="1"/>
              </a:gradFill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Прямоугольник: скругленные углы 2">
              <a:extLst>
                <a:ext uri="{FF2B5EF4-FFF2-40B4-BE49-F238E27FC236}">
                  <a16:creationId xmlns:a16="http://schemas.microsoft.com/office/drawing/2014/main" id="{1CD7F288-E8ED-D89F-09BE-02F5794D2DED}"/>
                </a:ext>
              </a:extLst>
            </p:cNvPr>
            <p:cNvSpPr/>
            <p:nvPr/>
          </p:nvSpPr>
          <p:spPr bwMode="auto">
            <a:xfrm>
              <a:off x="4254541" y="1104129"/>
              <a:ext cx="288000" cy="288000"/>
            </a:xfrm>
            <a:prstGeom prst="star4">
              <a:avLst>
                <a:gd name="adj" fmla="val 19941"/>
              </a:avLst>
            </a:prstGeom>
            <a:gradFill flip="none" rotWithShape="1">
              <a:gsLst>
                <a:gs pos="1000">
                  <a:schemeClr val="accent3">
                    <a:lumMod val="50000"/>
                  </a:schemeClr>
                </a:gs>
                <a:gs pos="42000">
                  <a:schemeClr val="accent3"/>
                </a:gs>
                <a:gs pos="74000">
                  <a:schemeClr val="accent2"/>
                </a:gs>
                <a:gs pos="100000">
                  <a:schemeClr val="accent3">
                    <a:lumMod val="86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22225" cap="rnd" cmpd="sng" algn="ctr">
              <a:solidFill>
                <a:srgbClr val="DDEAEE"/>
              </a:solidFill>
              <a:prstDash val="solid"/>
            </a:ln>
            <a:effectLst/>
          </p:spPr>
          <p:txBody>
            <a:bodyPr wrap="none" lIns="10800" tIns="3600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B Sans Display Ext Semibold" panose="02000000000000000000" pitchFamily="2" charset="0"/>
                <a:ea typeface="SB Sans Display Ext Semibold" panose="02000000000000000000" pitchFamily="2" charset="0"/>
                <a:cs typeface="SB Sans Display" panose="020B0503040504020204" pitchFamily="34" charset="0"/>
              </a:endParaRPr>
            </a:p>
          </p:txBody>
        </p:sp>
        <p:sp>
          <p:nvSpPr>
            <p:cNvPr id="16" name="Прямоугольник: скругленные углы 2">
              <a:extLst>
                <a:ext uri="{FF2B5EF4-FFF2-40B4-BE49-F238E27FC236}">
                  <a16:creationId xmlns:a16="http://schemas.microsoft.com/office/drawing/2014/main" id="{3FF37094-5975-5495-7DC6-6BBDB02A22C4}"/>
                </a:ext>
              </a:extLst>
            </p:cNvPr>
            <p:cNvSpPr/>
            <p:nvPr/>
          </p:nvSpPr>
          <p:spPr bwMode="auto">
            <a:xfrm>
              <a:off x="4254541" y="2054248"/>
              <a:ext cx="288000" cy="288000"/>
            </a:xfrm>
            <a:prstGeom prst="star4">
              <a:avLst>
                <a:gd name="adj" fmla="val 19941"/>
              </a:avLst>
            </a:prstGeom>
            <a:gradFill flip="none" rotWithShape="1">
              <a:gsLst>
                <a:gs pos="1000">
                  <a:schemeClr val="accent3">
                    <a:lumMod val="50000"/>
                  </a:schemeClr>
                </a:gs>
                <a:gs pos="42000">
                  <a:schemeClr val="accent3"/>
                </a:gs>
                <a:gs pos="74000">
                  <a:schemeClr val="accent2"/>
                </a:gs>
                <a:gs pos="100000">
                  <a:schemeClr val="accent3">
                    <a:lumMod val="86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22225" cap="rnd" cmpd="sng" algn="ctr">
              <a:solidFill>
                <a:srgbClr val="DDEAEE"/>
              </a:solidFill>
              <a:prstDash val="solid"/>
            </a:ln>
            <a:effectLst/>
          </p:spPr>
          <p:txBody>
            <a:bodyPr wrap="none" lIns="10800" tIns="3600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B Sans Display Ext Semibold" panose="02000000000000000000" pitchFamily="2" charset="0"/>
                <a:ea typeface="SB Sans Display Ext Semibold" panose="02000000000000000000" pitchFamily="2" charset="0"/>
                <a:cs typeface="SB Sans Display" panose="020B0503040504020204" pitchFamily="34" charset="0"/>
              </a:endParaRPr>
            </a:p>
          </p:txBody>
        </p:sp>
        <p:sp>
          <p:nvSpPr>
            <p:cNvPr id="17" name="Прямоугольник: скругленные углы 2">
              <a:extLst>
                <a:ext uri="{FF2B5EF4-FFF2-40B4-BE49-F238E27FC236}">
                  <a16:creationId xmlns:a16="http://schemas.microsoft.com/office/drawing/2014/main" id="{B671E88D-B8EE-443E-9570-9025C5F68AB8}"/>
                </a:ext>
              </a:extLst>
            </p:cNvPr>
            <p:cNvSpPr/>
            <p:nvPr/>
          </p:nvSpPr>
          <p:spPr bwMode="auto">
            <a:xfrm>
              <a:off x="4254541" y="2791704"/>
              <a:ext cx="288000" cy="288000"/>
            </a:xfrm>
            <a:prstGeom prst="star4">
              <a:avLst>
                <a:gd name="adj" fmla="val 19941"/>
              </a:avLst>
            </a:prstGeom>
            <a:gradFill flip="none" rotWithShape="1">
              <a:gsLst>
                <a:gs pos="1000">
                  <a:schemeClr val="accent3">
                    <a:lumMod val="50000"/>
                  </a:schemeClr>
                </a:gs>
                <a:gs pos="42000">
                  <a:schemeClr val="accent3"/>
                </a:gs>
                <a:gs pos="74000">
                  <a:schemeClr val="accent2"/>
                </a:gs>
                <a:gs pos="100000">
                  <a:schemeClr val="accent3">
                    <a:lumMod val="86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22225" cap="rnd" cmpd="sng" algn="ctr">
              <a:solidFill>
                <a:srgbClr val="DDEAEE"/>
              </a:solidFill>
              <a:prstDash val="solid"/>
            </a:ln>
            <a:effectLst/>
          </p:spPr>
          <p:txBody>
            <a:bodyPr wrap="none" lIns="10800" tIns="3600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B Sans Display Ext Semibold" panose="02000000000000000000" pitchFamily="2" charset="0"/>
                <a:ea typeface="SB Sans Display Ext Semibold" panose="02000000000000000000" pitchFamily="2" charset="0"/>
                <a:cs typeface="SB Sans Display" panose="020B0503040504020204" pitchFamily="34" charset="0"/>
              </a:endParaRPr>
            </a:p>
          </p:txBody>
        </p:sp>
        <p:sp>
          <p:nvSpPr>
            <p:cNvPr id="18" name="Прямоугольник: скругленные углы 2">
              <a:extLst>
                <a:ext uri="{FF2B5EF4-FFF2-40B4-BE49-F238E27FC236}">
                  <a16:creationId xmlns:a16="http://schemas.microsoft.com/office/drawing/2014/main" id="{07225777-B9BD-2253-34EA-8F2407E9ECD4}"/>
                </a:ext>
              </a:extLst>
            </p:cNvPr>
            <p:cNvSpPr/>
            <p:nvPr/>
          </p:nvSpPr>
          <p:spPr bwMode="auto">
            <a:xfrm>
              <a:off x="4254541" y="3741029"/>
              <a:ext cx="288000" cy="288000"/>
            </a:xfrm>
            <a:prstGeom prst="star4">
              <a:avLst>
                <a:gd name="adj" fmla="val 19941"/>
              </a:avLst>
            </a:prstGeom>
            <a:gradFill flip="none" rotWithShape="1">
              <a:gsLst>
                <a:gs pos="1000">
                  <a:schemeClr val="accent3">
                    <a:lumMod val="50000"/>
                  </a:schemeClr>
                </a:gs>
                <a:gs pos="42000">
                  <a:schemeClr val="accent3"/>
                </a:gs>
                <a:gs pos="74000">
                  <a:schemeClr val="accent2"/>
                </a:gs>
                <a:gs pos="100000">
                  <a:schemeClr val="accent3">
                    <a:lumMod val="86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22225" cap="rnd" cmpd="sng" algn="ctr">
              <a:solidFill>
                <a:srgbClr val="DDEAEE"/>
              </a:solidFill>
              <a:prstDash val="solid"/>
            </a:ln>
            <a:effectLst/>
          </p:spPr>
          <p:txBody>
            <a:bodyPr wrap="none" lIns="10800" tIns="3600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B Sans Display Ext Semibold" panose="02000000000000000000" pitchFamily="2" charset="0"/>
                <a:ea typeface="SB Sans Display Ext Semibold" panose="02000000000000000000" pitchFamily="2" charset="0"/>
                <a:cs typeface="SB Sans Display" panose="020B0503040504020204" pitchFamily="34" charset="0"/>
              </a:endParaRPr>
            </a:p>
          </p:txBody>
        </p:sp>
        <p:sp>
          <p:nvSpPr>
            <p:cNvPr id="19" name="Прямоугольник: скругленные углы 2">
              <a:extLst>
                <a:ext uri="{FF2B5EF4-FFF2-40B4-BE49-F238E27FC236}">
                  <a16:creationId xmlns:a16="http://schemas.microsoft.com/office/drawing/2014/main" id="{19F6E759-A61E-6FA5-73C6-6D014897E404}"/>
                </a:ext>
              </a:extLst>
            </p:cNvPr>
            <p:cNvSpPr/>
            <p:nvPr/>
          </p:nvSpPr>
          <p:spPr bwMode="auto">
            <a:xfrm>
              <a:off x="4254541" y="4690354"/>
              <a:ext cx="288000" cy="288000"/>
            </a:xfrm>
            <a:prstGeom prst="star4">
              <a:avLst>
                <a:gd name="adj" fmla="val 19941"/>
              </a:avLst>
            </a:prstGeom>
            <a:gradFill flip="none" rotWithShape="1">
              <a:gsLst>
                <a:gs pos="1000">
                  <a:schemeClr val="accent3">
                    <a:lumMod val="50000"/>
                  </a:schemeClr>
                </a:gs>
                <a:gs pos="42000">
                  <a:schemeClr val="accent3"/>
                </a:gs>
                <a:gs pos="74000">
                  <a:schemeClr val="accent2"/>
                </a:gs>
                <a:gs pos="100000">
                  <a:schemeClr val="accent3">
                    <a:lumMod val="86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22225" cap="rnd" cmpd="sng" algn="ctr">
              <a:solidFill>
                <a:srgbClr val="DDEAEE"/>
              </a:solidFill>
              <a:prstDash val="solid"/>
            </a:ln>
            <a:effectLst/>
          </p:spPr>
          <p:txBody>
            <a:bodyPr wrap="none" lIns="10800" tIns="3600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B Sans Display Ext Semibold" panose="02000000000000000000" pitchFamily="2" charset="0"/>
                <a:ea typeface="SB Sans Display Ext Semibold" panose="02000000000000000000" pitchFamily="2" charset="0"/>
                <a:cs typeface="SB Sans Display" panose="020B0503040504020204" pitchFamily="34" charset="0"/>
              </a:endParaRPr>
            </a:p>
          </p:txBody>
        </p:sp>
        <p:sp>
          <p:nvSpPr>
            <p:cNvPr id="21" name="Прямоугольник: скругленные углы 2">
              <a:extLst>
                <a:ext uri="{FF2B5EF4-FFF2-40B4-BE49-F238E27FC236}">
                  <a16:creationId xmlns:a16="http://schemas.microsoft.com/office/drawing/2014/main" id="{2EAD21D9-C7C6-1011-6418-FED2E8638A9C}"/>
                </a:ext>
              </a:extLst>
            </p:cNvPr>
            <p:cNvSpPr/>
            <p:nvPr/>
          </p:nvSpPr>
          <p:spPr bwMode="auto">
            <a:xfrm>
              <a:off x="4254541" y="5639679"/>
              <a:ext cx="288000" cy="288000"/>
            </a:xfrm>
            <a:prstGeom prst="star4">
              <a:avLst>
                <a:gd name="adj" fmla="val 19941"/>
              </a:avLst>
            </a:prstGeom>
            <a:gradFill flip="none" rotWithShape="1">
              <a:gsLst>
                <a:gs pos="1000">
                  <a:schemeClr val="accent3">
                    <a:lumMod val="50000"/>
                  </a:schemeClr>
                </a:gs>
                <a:gs pos="42000">
                  <a:schemeClr val="accent3"/>
                </a:gs>
                <a:gs pos="74000">
                  <a:schemeClr val="accent2"/>
                </a:gs>
                <a:gs pos="100000">
                  <a:schemeClr val="accent3">
                    <a:lumMod val="86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22225" cap="rnd" cmpd="sng" algn="ctr">
              <a:solidFill>
                <a:srgbClr val="DDEAEE"/>
              </a:solidFill>
              <a:prstDash val="solid"/>
            </a:ln>
            <a:effectLst/>
          </p:spPr>
          <p:txBody>
            <a:bodyPr wrap="none" lIns="10800" tIns="3600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B Sans Display Ext Semibold" panose="02000000000000000000" pitchFamily="2" charset="0"/>
                <a:ea typeface="SB Sans Display Ext Semibold" panose="02000000000000000000" pitchFamily="2" charset="0"/>
                <a:cs typeface="SB Sans Display" panose="020B0503040504020204" pitchFamily="34" charset="0"/>
              </a:endParaRPr>
            </a:p>
          </p:txBody>
        </p:sp>
      </p:grp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A07CECD-1962-E30F-BC3C-129BBECE000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l="10416" b="25103"/>
          <a:stretch>
            <a:fillRect/>
          </a:stretch>
        </p:blipFill>
        <p:spPr>
          <a:xfrm>
            <a:off x="576072" y="4327976"/>
            <a:ext cx="2337134" cy="1953952"/>
          </a:xfrm>
          <a:custGeom>
            <a:avLst/>
            <a:gdLst>
              <a:gd name="connsiteX0" fmla="*/ 0 w 2337134"/>
              <a:gd name="connsiteY0" fmla="*/ 0 h 1953952"/>
              <a:gd name="connsiteX1" fmla="*/ 2337134 w 2337134"/>
              <a:gd name="connsiteY1" fmla="*/ 0 h 1953952"/>
              <a:gd name="connsiteX2" fmla="*/ 2337134 w 2337134"/>
              <a:gd name="connsiteY2" fmla="*/ 1953952 h 1953952"/>
              <a:gd name="connsiteX3" fmla="*/ 154069 w 2337134"/>
              <a:gd name="connsiteY3" fmla="*/ 1953952 h 1953952"/>
              <a:gd name="connsiteX4" fmla="*/ 0 w 2337134"/>
              <a:gd name="connsiteY4" fmla="*/ 1799883 h 1953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7134" h="1953952">
                <a:moveTo>
                  <a:pt x="0" y="0"/>
                </a:moveTo>
                <a:lnTo>
                  <a:pt x="2337134" y="0"/>
                </a:lnTo>
                <a:lnTo>
                  <a:pt x="2337134" y="1953952"/>
                </a:lnTo>
                <a:lnTo>
                  <a:pt x="154069" y="1953952"/>
                </a:lnTo>
                <a:cubicBezTo>
                  <a:pt x="68979" y="1953952"/>
                  <a:pt x="0" y="1884973"/>
                  <a:pt x="0" y="179988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1929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4">
            <a:extLst>
              <a:ext uri="{FF2B5EF4-FFF2-40B4-BE49-F238E27FC236}">
                <a16:creationId xmlns:a16="http://schemas.microsoft.com/office/drawing/2014/main" id="{4ADE866B-3365-C924-60B6-5341EBDAC04B}"/>
              </a:ext>
            </a:extLst>
          </p:cNvPr>
          <p:cNvSpPr/>
          <p:nvPr/>
        </p:nvSpPr>
        <p:spPr bwMode="auto">
          <a:xfrm>
            <a:off x="457200" y="1371600"/>
            <a:ext cx="11277570" cy="5029200"/>
          </a:xfrm>
          <a:prstGeom prst="roundRect">
            <a:avLst>
              <a:gd name="adj" fmla="val 3975"/>
            </a:avLst>
          </a:prstGeom>
          <a:gradFill flip="none" rotWithShape="1">
            <a:gsLst>
              <a:gs pos="28000">
                <a:schemeClr val="bg2">
                  <a:alpha val="36000"/>
                </a:schemeClr>
              </a:gs>
              <a:gs pos="100000">
                <a:schemeClr val="bg1">
                  <a:lumMod val="0"/>
                  <a:lumOff val="100000"/>
                </a:schemeClr>
              </a:gs>
            </a:gsLst>
            <a:lin ang="10800000" scaled="1"/>
            <a:tileRect/>
          </a:gradFill>
          <a:ln>
            <a:gradFill flip="none" rotWithShape="1">
              <a:gsLst>
                <a:gs pos="2000">
                  <a:schemeClr val="bg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  <a:effectLst>
            <a:outerShdw blurRad="127000" dist="127000" dir="12000000" sx="99000" sy="99000" algn="br" rotWithShape="0">
              <a:schemeClr val="accent3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Sans Display"/>
              <a:ea typeface="+mn-ea"/>
              <a:cs typeface="+mn-cs"/>
            </a:endParaRPr>
          </a:p>
        </p:txBody>
      </p:sp>
      <p:sp>
        <p:nvSpPr>
          <p:cNvPr id="9" name="Rounded table background">
            <a:extLst>
              <a:ext uri="{FF2B5EF4-FFF2-40B4-BE49-F238E27FC236}">
                <a16:creationId xmlns:a16="http://schemas.microsoft.com/office/drawing/2014/main" id="{157B3752-92D7-64D8-CFF0-AF8708582507}"/>
              </a:ext>
            </a:extLst>
          </p:cNvPr>
          <p:cNvSpPr>
            <a:spLocks noGrp="1"/>
          </p:cNvSpPr>
          <p:nvPr/>
        </p:nvSpPr>
        <p:spPr>
          <a:xfrm rot="5400000">
            <a:off x="5939622" y="-2368890"/>
            <a:ext cx="1861718" cy="9534723"/>
          </a:xfrm>
          <a:prstGeom prst="round2SameRect">
            <a:avLst>
              <a:gd name="adj1" fmla="val 7007"/>
              <a:gd name="adj2" fmla="val 0"/>
            </a:avLst>
          </a:prstGeom>
          <a:solidFill>
            <a:schemeClr val="accent2">
              <a:lumMod val="75000"/>
              <a:alpha val="20000"/>
            </a:schemeClr>
          </a:solidFill>
          <a:ln w="6668">
            <a:noFill/>
          </a:ln>
        </p:spPr>
        <p:txBody>
          <a:bodyPr/>
          <a:lstStyle/>
          <a:p>
            <a:endParaRPr lang="ru-RU" sz="1440"/>
          </a:p>
        </p:txBody>
      </p:sp>
      <p:sp>
        <p:nvSpPr>
          <p:cNvPr id="14" name="Rounded table background">
            <a:extLst>
              <a:ext uri="{FF2B5EF4-FFF2-40B4-BE49-F238E27FC236}">
                <a16:creationId xmlns:a16="http://schemas.microsoft.com/office/drawing/2014/main" id="{9B5D06C8-582D-87AD-BB74-A67F58F97EBD}"/>
              </a:ext>
            </a:extLst>
          </p:cNvPr>
          <p:cNvSpPr>
            <a:spLocks noGrp="1"/>
          </p:cNvSpPr>
          <p:nvPr/>
        </p:nvSpPr>
        <p:spPr>
          <a:xfrm rot="5400000">
            <a:off x="5476479" y="137937"/>
            <a:ext cx="2788006" cy="9534723"/>
          </a:xfrm>
          <a:prstGeom prst="round2SameRect">
            <a:avLst>
              <a:gd name="adj1" fmla="val 7007"/>
              <a:gd name="adj2" fmla="val 0"/>
            </a:avLst>
          </a:prstGeom>
          <a:solidFill>
            <a:schemeClr val="accent4">
              <a:lumMod val="20000"/>
              <a:lumOff val="80000"/>
              <a:alpha val="36000"/>
            </a:schemeClr>
          </a:solidFill>
          <a:ln w="6668">
            <a:noFill/>
          </a:ln>
        </p:spPr>
        <p:txBody>
          <a:bodyPr/>
          <a:lstStyle/>
          <a:p>
            <a:endParaRPr lang="ru-RU" sz="1440"/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A5A04760-73F7-1F0D-F3E8-35F1DD9778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4786545"/>
              </p:ext>
            </p:extLst>
          </p:nvPr>
        </p:nvGraphicFramePr>
        <p:xfrm>
          <a:off x="2299716" y="1467612"/>
          <a:ext cx="9297894" cy="1813560"/>
        </p:xfrm>
        <a:graphic>
          <a:graphicData uri="http://schemas.openxmlformats.org/drawingml/2006/table">
            <a:tbl>
              <a:tblPr/>
              <a:tblGrid>
                <a:gridCol w="6533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ВОЗМОЖНЫЙ ВОПРОС</a:t>
                      </a: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ЧТО УЗНАЁМ О ЧЕЛОВЕКЕ</a:t>
                      </a: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«Что привело тебя ко мне: деньги заканчиваются раньше месяца, хочется накопить или просто интересно, куда всё уходит?»</a:t>
                      </a: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111111"/>
                          </a:solidFill>
                        </a:rPr>
                        <a:t>Повод,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Текущий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запрос</a:t>
                      </a:r>
                      <a:endParaRPr sz="1200" dirty="0">
                        <a:solidFill>
                          <a:srgbClr val="111111"/>
                        </a:solidFill>
                      </a:endParaRP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«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Как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у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вас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с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деньгами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сейчас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: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всё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под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контролем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стараемся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не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111111"/>
                          </a:solidFill>
                        </a:rPr>
                        <a:t>c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орить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или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lang="ru-RU" sz="1200" b="0" dirty="0">
                          <a:solidFill>
                            <a:srgbClr val="111111"/>
                          </a:solidFill>
                        </a:rPr>
                        <a:t>"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лучше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не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спрашивай</a:t>
                      </a:r>
                      <a:r>
                        <a:rPr lang="ru-RU" sz="1200" b="0" dirty="0">
                          <a:solidFill>
                            <a:srgbClr val="111111"/>
                          </a:solidFill>
                        </a:rPr>
                        <a:t>"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?»</a:t>
                      </a: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111111"/>
                          </a:solidFill>
                        </a:rPr>
                        <a:t>Отношение к деньгам - 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Самооценка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ситуации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и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эмоциональный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фон</a:t>
                      </a:r>
                      <a:endParaRPr sz="1200" dirty="0">
                        <a:solidFill>
                          <a:srgbClr val="111111"/>
                        </a:solidFill>
                      </a:endParaRP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«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Доход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вырос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а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откладывать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больше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не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получается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. Жизнь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стала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дороже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или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ты</a:t>
                      </a:r>
                      <a:r>
                        <a:rPr lang="ru-RU" sz="1200" b="0" dirty="0">
                          <a:solidFill>
                            <a:srgbClr val="111111"/>
                          </a:solidFill>
                        </a:rPr>
                        <a:t>,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наконец</a:t>
                      </a:r>
                      <a:r>
                        <a:rPr lang="ru-RU" sz="1200" b="0" dirty="0">
                          <a:solidFill>
                            <a:srgbClr val="111111"/>
                          </a:solidFill>
                        </a:rPr>
                        <a:t>,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позволяешь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себе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больше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?»</a:t>
                      </a: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Объяснение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поведения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которого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нет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в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транзакциях</a:t>
                      </a:r>
                      <a:endParaRPr sz="1200" dirty="0">
                        <a:solidFill>
                          <a:srgbClr val="111111"/>
                        </a:solidFill>
                      </a:endParaRP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1A5EAEA0-DBFB-FB08-01F3-4787878C44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9454634"/>
              </p:ext>
            </p:extLst>
          </p:nvPr>
        </p:nvGraphicFramePr>
        <p:xfrm>
          <a:off x="2299716" y="3511296"/>
          <a:ext cx="9297894" cy="2788006"/>
        </p:xfrm>
        <a:graphic>
          <a:graphicData uri="http://schemas.openxmlformats.org/drawingml/2006/table">
            <a:tbl>
              <a:tblPr/>
              <a:tblGrid>
                <a:gridCol w="6533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ВОЗМОЖНЫЙ ВОПРОС</a:t>
                      </a: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ЧТО УЗНАЁМ О ЧЕЛОВЕКЕ</a:t>
                      </a: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403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«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Если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через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три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месяца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мы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исправим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одну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вещь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в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твоих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финансах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—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что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это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должно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быть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?»</a:t>
                      </a: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Приоритетная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цель</a:t>
                      </a:r>
                      <a:endParaRPr sz="1200" dirty="0">
                        <a:solidFill>
                          <a:srgbClr val="111111"/>
                        </a:solidFill>
                      </a:endParaRP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403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«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А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что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это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тебе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даст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: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больше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спокойствия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свободу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сменить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работу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или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возможность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позволить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себе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что-то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важное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?»</a:t>
                      </a: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Мотив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за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финансовой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целью</a:t>
                      </a:r>
                      <a:endParaRPr sz="1200" dirty="0">
                        <a:solidFill>
                          <a:srgbClr val="111111"/>
                        </a:solidFill>
                      </a:endParaRP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40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«На чём ты готов экономить, а что точно оставляем в покое?»</a:t>
                      </a: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111111"/>
                          </a:solidFill>
                        </a:rPr>
                        <a:t>Границы, ц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енности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и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допустимые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компромиссы</a:t>
                      </a:r>
                      <a:endParaRPr sz="1200" dirty="0">
                        <a:solidFill>
                          <a:srgbClr val="111111"/>
                        </a:solidFill>
                      </a:endParaRP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03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«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Что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обычно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ломает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план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: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неожиданные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расходы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покупки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по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настроению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или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слишком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жёсткие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ограничения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?»</a:t>
                      </a: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Барьер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который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нужно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учитывать</a:t>
                      </a:r>
                      <a:endParaRPr sz="1200" b="0" dirty="0">
                        <a:solidFill>
                          <a:srgbClr val="111111"/>
                        </a:solidFill>
                      </a:endParaRP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40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</a:rPr>
                        <a:t>«Когда ты выходишь за бюджет, как лучше: мягко напомнить, сказать прямо или немного прожарить?»</a:t>
                      </a: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Предпочтительный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тон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общения</a:t>
                      </a:r>
                      <a:endParaRPr sz="1200" b="0" dirty="0">
                        <a:solidFill>
                          <a:srgbClr val="111111"/>
                        </a:solidFill>
                      </a:endParaRP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403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«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Начнём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с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одной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небольшой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перемены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или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хочешь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сразу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увидеть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весь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план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?»</a:t>
                      </a: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Предпочтительный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темп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и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формат</a:t>
                      </a:r>
                      <a:r>
                        <a:rPr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11111"/>
                          </a:solidFill>
                        </a:rPr>
                        <a:t>действий</a:t>
                      </a:r>
                      <a:endParaRPr sz="1200" dirty="0">
                        <a:solidFill>
                          <a:srgbClr val="111111"/>
                        </a:solidFill>
                      </a:endParaRPr>
                    </a:p>
                  </a:txBody>
                  <a:tcPr marL="101600" marR="101600" marT="15240" marB="1524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DDDDDD"/>
                      </a:solidFill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5DE1158-AECC-ABDE-9AE2-4753DC7E6126}"/>
              </a:ext>
            </a:extLst>
          </p:cNvPr>
          <p:cNvSpPr txBox="1"/>
          <p:nvPr/>
        </p:nvSpPr>
        <p:spPr>
          <a:xfrm>
            <a:off x="457200" y="566928"/>
            <a:ext cx="11277570" cy="584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sz="1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Гипотезы сценария: от текущего запроса к целям, мотивам и предпочтениям.</a:t>
            </a:r>
          </a:p>
          <a:p>
            <a:pPr>
              <a:defRPr sz="1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На примере </a:t>
            </a:r>
            <a:r>
              <a:rPr lang="en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ToV</a:t>
            </a:r>
            <a:r>
              <a:rPr lang="e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 Cleo – 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в случае запуска пилота требуется адаптация под </a:t>
            </a:r>
            <a:r>
              <a:rPr lang="en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ToV</a:t>
            </a:r>
            <a:r>
              <a:rPr lang="e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 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B Sans Display" panose="020B0503040504020204" pitchFamily="34" charset="0"/>
                <a:ea typeface="Arial"/>
                <a:cs typeface="SB Sans Display" panose="020B0503040504020204" pitchFamily="34" charset="0"/>
              </a:rPr>
              <a:t>Сбера или ДЗО.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8C6F1-A61E-F760-712C-458BB4F28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для знакомства и продолжения диалога</a:t>
            </a:r>
            <a:endParaRPr lang="en-US" dirty="0"/>
          </a:p>
        </p:txBody>
      </p:sp>
      <p:sp>
        <p:nvSpPr>
          <p:cNvPr id="12" name="Прямоугольник 2">
            <a:extLst>
              <a:ext uri="{FF2B5EF4-FFF2-40B4-BE49-F238E27FC236}">
                <a16:creationId xmlns:a16="http://schemas.microsoft.com/office/drawing/2014/main" id="{CAA9596D-E4CD-E16A-DD20-D3992D1C88E5}"/>
              </a:ext>
            </a:extLst>
          </p:cNvPr>
          <p:cNvSpPr>
            <a:spLocks noGrp="1"/>
          </p:cNvSpPr>
          <p:nvPr/>
        </p:nvSpPr>
        <p:spPr>
          <a:xfrm>
            <a:off x="502920" y="1371600"/>
            <a:ext cx="1504188" cy="635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 lIns="27432" tIns="45720" rIns="75895" bIns="45720" anchor="ctr">
            <a:noAutofit/>
          </a:bodyPr>
          <a:lstStyle/>
          <a:p>
            <a:pPr algn="r">
              <a:defRPr sz="1950" b="1">
                <a:solidFill>
                  <a:srgbClr val="111111"/>
                </a:solidFill>
              </a:defRPr>
            </a:pPr>
            <a:r>
              <a:rPr lang="ru-RU" sz="1300" b="1" dirty="0">
                <a:solidFill>
                  <a:schemeClr val="accent2">
                    <a:lumMod val="75000"/>
                  </a:schemeClr>
                </a:solidFill>
              </a:rPr>
              <a:t>ПЕРВОЕ КАСАНИЕ</a:t>
            </a:r>
            <a:endParaRPr lang="ru-RU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Прямоугольник 2">
            <a:extLst>
              <a:ext uri="{FF2B5EF4-FFF2-40B4-BE49-F238E27FC236}">
                <a16:creationId xmlns:a16="http://schemas.microsoft.com/office/drawing/2014/main" id="{3D51B174-6DD4-2209-8071-753B81D8A00A}"/>
              </a:ext>
            </a:extLst>
          </p:cNvPr>
          <p:cNvSpPr>
            <a:spLocks noGrp="1"/>
          </p:cNvSpPr>
          <p:nvPr/>
        </p:nvSpPr>
        <p:spPr>
          <a:xfrm>
            <a:off x="502920" y="3415284"/>
            <a:ext cx="1504188" cy="635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 lIns="27432" tIns="45720" rIns="75895" bIns="45720" anchor="ctr">
            <a:noAutofit/>
          </a:bodyPr>
          <a:lstStyle/>
          <a:p>
            <a:pPr algn="r">
              <a:defRPr sz="1950" b="1">
                <a:solidFill>
                  <a:srgbClr val="111111"/>
                </a:solidFill>
              </a:defRPr>
            </a:pPr>
            <a:r>
              <a:rPr lang="ru-RU" sz="1300" b="1" dirty="0">
                <a:solidFill>
                  <a:schemeClr val="accent5"/>
                </a:solidFill>
              </a:rPr>
              <a:t>ПРОДОЛЖЕНИЕ ВОВЛЕЧЕНИЯ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E0A2784D-5D5E-AE56-1ECF-5CD6BD3BFF1C}"/>
              </a:ext>
            </a:extLst>
          </p:cNvPr>
          <p:cNvCxnSpPr>
            <a:cxnSpLocks/>
          </p:cNvCxnSpPr>
          <p:nvPr/>
        </p:nvCxnSpPr>
        <p:spPr>
          <a:xfrm>
            <a:off x="2103120" y="3511296"/>
            <a:ext cx="0" cy="278800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16910FEC-3035-01C7-C361-15D4015EFC25}"/>
              </a:ext>
            </a:extLst>
          </p:cNvPr>
          <p:cNvCxnSpPr>
            <a:cxnSpLocks/>
          </p:cNvCxnSpPr>
          <p:nvPr/>
        </p:nvCxnSpPr>
        <p:spPr>
          <a:xfrm>
            <a:off x="2103120" y="1467612"/>
            <a:ext cx="0" cy="1861718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D7929F0-6AFA-4F4A-BC95-F5C1F120720E}"/>
              </a:ext>
            </a:extLst>
          </p:cNvPr>
          <p:cNvSpPr txBox="1"/>
          <p:nvPr/>
        </p:nvSpPr>
        <p:spPr>
          <a:xfrm>
            <a:off x="594360" y="3415284"/>
            <a:ext cx="1412748" cy="2884018"/>
          </a:xfrm>
          <a:prstGeom prst="roundRect">
            <a:avLst>
              <a:gd name="adj" fmla="val 11650"/>
            </a:avLst>
          </a:prstGeom>
          <a:gradFill flip="none" rotWithShape="1">
            <a:gsLst>
              <a:gs pos="44000">
                <a:schemeClr val="accent3">
                  <a:lumMod val="50000"/>
                  <a:alpha val="0"/>
                </a:schemeClr>
              </a:gs>
              <a:gs pos="0">
                <a:schemeClr val="accent3">
                  <a:lumMod val="86000"/>
                  <a:alpha val="57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216000" rIns="0" bIns="72000" rtlCol="0" anchor="t">
            <a:noAutofit/>
          </a:bodyPr>
          <a:lstStyle>
            <a:defPPr>
              <a:defRPr lang="ru-RU"/>
            </a:defPPr>
            <a:lvl1pPr algn="ctr">
              <a:spcAft>
                <a:spcPts val="1800"/>
              </a:spcAft>
              <a:defRPr sz="1600" kern="0">
                <a:solidFill>
                  <a:srgbClr val="FFFFFF"/>
                </a:solidFill>
                <a:latin typeface="SB Sans Display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90000"/>
              </a:lnSpc>
              <a:spcAft>
                <a:spcPts val="0"/>
              </a:spcAft>
              <a:defRPr/>
            </a:pPr>
            <a:endParaRPr lang="ru-RU" sz="1200" b="1" dirty="0">
              <a:cs typeface="SB Sans Display" panose="020B05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31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F0773E4-245D-8807-377D-0516BD71B984}"/>
              </a:ext>
            </a:extLst>
          </p:cNvPr>
          <p:cNvSpPr>
            <a:spLocks noGrp="1"/>
          </p:cNvSpPr>
          <p:nvPr/>
        </p:nvSpPr>
        <p:spPr>
          <a:xfrm>
            <a:off x="767580" y="3196590"/>
            <a:ext cx="6619193" cy="464820"/>
          </a:xfrm>
          <a:prstGeom prst="rect">
            <a:avLst/>
          </a:prstGeom>
          <a:noFill/>
          <a:ln w="0">
            <a:noFill/>
          </a:ln>
        </p:spPr>
        <p:txBody>
          <a:bodyPr lIns="0" anchor="ctr">
            <a:noAutofit/>
          </a:bodyPr>
          <a:lstStyle/>
          <a:p>
            <a:pPr defTabSz="731520">
              <a:defRPr sz="5400" b="0" spc="-80">
                <a:solidFill>
                  <a:srgbClr val="111111"/>
                </a:solidFill>
                <a:latin typeface="SB Sans Display Semibold"/>
                <a:ea typeface="SB Sans Display Semibold"/>
                <a:cs typeface="SB Sans Display Semibold"/>
              </a:defRPr>
            </a:pPr>
            <a:r>
              <a:rPr lang="ru-RU" sz="4400" b="0" spc="0" dirty="0">
                <a:solidFill>
                  <a:schemeClr val="tx2"/>
                </a:solidFill>
                <a:latin typeface="+mn-lt"/>
                <a:ea typeface="SB Sans Display Semibold"/>
                <a:cs typeface="SB Sans Display Semibold"/>
              </a:rPr>
              <a:t>Приложение</a:t>
            </a:r>
            <a:endParaRPr sz="4400" b="0" spc="0" dirty="0">
              <a:latin typeface="+mn-lt"/>
              <a:ea typeface="SB Sans Display Semibold"/>
              <a:cs typeface="SB Sans Display Semibold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308ED47-089C-98A2-3B69-0A8406B31A4F}"/>
              </a:ext>
            </a:extLst>
          </p:cNvPr>
          <p:cNvCxnSpPr>
            <a:cxnSpLocks/>
          </p:cNvCxnSpPr>
          <p:nvPr/>
        </p:nvCxnSpPr>
        <p:spPr>
          <a:xfrm flipV="1">
            <a:off x="444361" y="399417"/>
            <a:ext cx="0" cy="6146662"/>
          </a:xfrm>
          <a:prstGeom prst="line">
            <a:avLst/>
          </a:prstGeom>
          <a:ln w="12700" cap="rnd">
            <a:gradFill flip="none" rotWithShape="1">
              <a:gsLst>
                <a:gs pos="99735">
                  <a:schemeClr val="accent3">
                    <a:lumMod val="50000"/>
                    <a:alpha val="0"/>
                  </a:schemeClr>
                </a:gs>
                <a:gs pos="54000">
                  <a:srgbClr val="19A77F"/>
                </a:gs>
                <a:gs pos="0">
                  <a:srgbClr val="19A77F">
                    <a:alpha val="0"/>
                  </a:srgbClr>
                </a:gs>
                <a:gs pos="91000">
                  <a:schemeClr val="accent3">
                    <a:lumMod val="50000"/>
                  </a:schemeClr>
                </a:gs>
              </a:gsLst>
              <a:lin ang="5400000" scaled="1"/>
              <a:tileRect/>
            </a:gradFill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209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Скругленный прямоугольник 4">
            <a:extLst>
              <a:ext uri="{FF2B5EF4-FFF2-40B4-BE49-F238E27FC236}">
                <a16:creationId xmlns:a16="http://schemas.microsoft.com/office/drawing/2014/main" id="{6AD52EA6-20B0-D19A-8327-53163124CCE7}"/>
              </a:ext>
            </a:extLst>
          </p:cNvPr>
          <p:cNvSpPr/>
          <p:nvPr/>
        </p:nvSpPr>
        <p:spPr bwMode="auto">
          <a:xfrm>
            <a:off x="457200" y="1005840"/>
            <a:ext cx="11277570" cy="4366260"/>
          </a:xfrm>
          <a:prstGeom prst="roundRect">
            <a:avLst>
              <a:gd name="adj" fmla="val 3975"/>
            </a:avLst>
          </a:prstGeom>
          <a:gradFill flip="none" rotWithShape="1">
            <a:gsLst>
              <a:gs pos="28000">
                <a:schemeClr val="bg2">
                  <a:alpha val="36000"/>
                </a:schemeClr>
              </a:gs>
              <a:gs pos="100000">
                <a:schemeClr val="bg1">
                  <a:lumMod val="0"/>
                  <a:lumOff val="100000"/>
                </a:schemeClr>
              </a:gs>
            </a:gsLst>
            <a:lin ang="10800000" scaled="1"/>
            <a:tileRect/>
          </a:gradFill>
          <a:ln>
            <a:gradFill flip="none" rotWithShape="1">
              <a:gsLst>
                <a:gs pos="2000">
                  <a:schemeClr val="bg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  <a:effectLst>
            <a:outerShdw blurRad="127000" dist="127000" dir="12000000" sx="99000" sy="99000" algn="br" rotWithShape="0">
              <a:schemeClr val="accent3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Sans Display"/>
              <a:ea typeface="+mn-ea"/>
              <a:cs typeface="+mn-cs"/>
            </a:endParaRP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9C18475-1E03-4CB7-9F5F-A6679143A8C2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11277570" cy="27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wrap="square">
            <a:noAutofit/>
          </a:bodyPr>
          <a:lstStyle/>
          <a:p>
            <a:pPr defTabSz="731520">
              <a:defRPr sz="1400" b="0">
                <a:solidFill>
                  <a:srgbClr val="111111"/>
                </a:solidFill>
              </a:defRPr>
            </a:pP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Механики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удержания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: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заметная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отдача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от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каждого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вложенного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усилия</a:t>
            </a:r>
            <a:endParaRPr sz="1400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900" name="deco-card"/>
          <p:cNvSpPr/>
          <p:nvPr/>
        </p:nvSpPr>
        <p:spPr>
          <a:xfrm>
            <a:off x="9222710" y="1122883"/>
            <a:ext cx="2374900" cy="4132174"/>
          </a:xfrm>
          <a:prstGeom prst="roundRect">
            <a:avLst>
              <a:gd name="adj" fmla="val 9000"/>
            </a:avLst>
          </a:prstGeom>
          <a:gradFill>
            <a:gsLst>
              <a:gs pos="1000">
                <a:schemeClr val="accent3">
                  <a:lumMod val="50000"/>
                </a:schemeClr>
              </a:gs>
              <a:gs pos="47000">
                <a:schemeClr val="accent3"/>
              </a:gs>
              <a:gs pos="100000">
                <a:schemeClr val="accent3">
                  <a:lumMod val="86000"/>
                </a:schemeClr>
              </a:gs>
            </a:gsLst>
          </a:gradFill>
          <a:ln>
            <a:noFill/>
          </a:ln>
        </p:spPr>
        <p:txBody>
          <a:bodyPr/>
          <a:lstStyle/>
          <a:p>
            <a:endParaRPr lang="ru-RU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842E8C51-E927-8228-7CAA-93EF2735FB8F}"/>
              </a:ext>
            </a:extLst>
          </p:cNvPr>
          <p:cNvGrpSpPr/>
          <p:nvPr/>
        </p:nvGrpSpPr>
        <p:grpSpPr>
          <a:xfrm>
            <a:off x="457200" y="5797296"/>
            <a:ext cx="11277570" cy="603504"/>
            <a:chOff x="457200" y="5867400"/>
            <a:chExt cx="11277600" cy="685800"/>
          </a:xfrm>
          <a:gradFill>
            <a:gsLst>
              <a:gs pos="61000">
                <a:schemeClr val="bg1"/>
              </a:gs>
              <a:gs pos="100000">
                <a:srgbClr val="EEF1F5"/>
              </a:gs>
            </a:gsLst>
            <a:lin ang="5100000" scaled="0"/>
          </a:gradFill>
        </p:grpSpPr>
        <p:sp>
          <p:nvSpPr>
            <p:cNvPr id="901" name="deco-card"/>
            <p:cNvSpPr/>
            <p:nvPr/>
          </p:nvSpPr>
          <p:spPr>
            <a:xfrm>
              <a:off x="457200" y="5867400"/>
              <a:ext cx="3657600" cy="685800"/>
            </a:xfrm>
            <a:prstGeom prst="roundRect">
              <a:avLst>
                <a:gd name="adj" fmla="val 22000"/>
              </a:avLst>
            </a:prstGeom>
            <a:gradFill flip="none" rotWithShape="1">
              <a:gsLst>
                <a:gs pos="1000">
                  <a:schemeClr val="accent3">
                    <a:lumMod val="50000"/>
                  </a:schemeClr>
                </a:gs>
                <a:gs pos="49000">
                  <a:schemeClr val="accent3"/>
                </a:gs>
                <a:gs pos="100000">
                  <a:schemeClr val="accent3">
                    <a:lumMod val="8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216000" rIns="0" bIns="7200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endParaRPr lang="ru-RU" sz="1200" b="1" kern="0">
                <a:solidFill>
                  <a:schemeClr val="bg1"/>
                </a:solidFill>
                <a:latin typeface="SB Sans Display"/>
                <a:cs typeface="SB Sans Display" panose="020B0503040504020204" pitchFamily="34" charset="0"/>
              </a:endParaRPr>
            </a:p>
          </p:txBody>
        </p:sp>
        <p:sp>
          <p:nvSpPr>
            <p:cNvPr id="902" name="deco-card"/>
            <p:cNvSpPr/>
            <p:nvPr/>
          </p:nvSpPr>
          <p:spPr>
            <a:xfrm>
              <a:off x="4267200" y="5867400"/>
              <a:ext cx="3657600" cy="685800"/>
            </a:xfrm>
            <a:prstGeom prst="roundRect">
              <a:avLst>
                <a:gd name="adj" fmla="val 22000"/>
              </a:avLst>
            </a:prstGeom>
            <a:gradFill flip="none" rotWithShape="1">
              <a:gsLst>
                <a:gs pos="1000">
                  <a:schemeClr val="accent3">
                    <a:lumMod val="50000"/>
                  </a:schemeClr>
                </a:gs>
                <a:gs pos="49000">
                  <a:schemeClr val="accent3"/>
                </a:gs>
                <a:gs pos="100000">
                  <a:schemeClr val="accent3">
                    <a:lumMod val="8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216000" rIns="0" bIns="7200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endParaRPr lang="ru-RU" sz="1200" b="1" kern="0">
                <a:solidFill>
                  <a:schemeClr val="bg1"/>
                </a:solidFill>
                <a:latin typeface="SB Sans Display"/>
                <a:cs typeface="SB Sans Display" panose="020B0503040504020204" pitchFamily="34" charset="0"/>
              </a:endParaRPr>
            </a:p>
          </p:txBody>
        </p:sp>
        <p:sp>
          <p:nvSpPr>
            <p:cNvPr id="903" name="deco-card"/>
            <p:cNvSpPr/>
            <p:nvPr/>
          </p:nvSpPr>
          <p:spPr>
            <a:xfrm>
              <a:off x="8077200" y="5867400"/>
              <a:ext cx="3657600" cy="685800"/>
            </a:xfrm>
            <a:prstGeom prst="roundRect">
              <a:avLst>
                <a:gd name="adj" fmla="val 22000"/>
              </a:avLst>
            </a:prstGeom>
            <a:gradFill flip="none" rotWithShape="1">
              <a:gsLst>
                <a:gs pos="1000">
                  <a:schemeClr val="accent3">
                    <a:lumMod val="50000"/>
                  </a:schemeClr>
                </a:gs>
                <a:gs pos="47000">
                  <a:schemeClr val="accent3"/>
                </a:gs>
                <a:gs pos="100000">
                  <a:schemeClr val="accent3">
                    <a:lumMod val="86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216000" rIns="0" bIns="7200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endParaRPr lang="ru-RU" sz="1200" b="1" kern="0" dirty="0">
                <a:solidFill>
                  <a:schemeClr val="bg1"/>
                </a:solidFill>
                <a:latin typeface="SB Sans Display"/>
                <a:cs typeface="SB Sans Display" panose="020B0503040504020204" pitchFamily="34" charset="0"/>
              </a:endParaRPr>
            </a:p>
          </p:txBody>
        </p:sp>
      </p:grpSp>
      <p:graphicFrame>
        <p:nvGraphicFramePr>
          <p:cNvPr id="22" name="Таблица 21"/>
          <p:cNvGraphicFramePr/>
          <p:nvPr>
            <p:extLst>
              <p:ext uri="{D42A27DB-BD31-4B8C-83A1-F6EECF244321}">
                <p14:modId xmlns:p14="http://schemas.microsoft.com/office/powerpoint/2010/main" val="588798602"/>
              </p:ext>
            </p:extLst>
          </p:nvPr>
        </p:nvGraphicFramePr>
        <p:xfrm>
          <a:off x="594360" y="1122883"/>
          <a:ext cx="8454614" cy="4132164"/>
        </p:xfrm>
        <a:graphic>
          <a:graphicData uri="http://schemas.openxmlformats.org/drawingml/2006/table">
            <a:tbl>
              <a:tblPr/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465855449"/>
                    </a:ext>
                  </a:extLst>
                </a:gridCol>
                <a:gridCol w="3187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524"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МЕХАНИКА ВОВЛЕЧЕНИЯ</a:t>
                      </a:r>
                      <a:endParaRPr lang="ru-RU" sz="18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>
                      <a:noFill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8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52400" marR="101600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МОТИВАЦИЯ ПОЛЬЗОВАТЕЛЯ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Забота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о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персонаже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: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участие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помогает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питомцу</a:t>
                      </a:r>
                      <a:r>
                        <a:rPr lang="ru-RU"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расти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развиваться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и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отправляться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в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приключения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50" b="0" dirty="0">
                        <a:solidFill>
                          <a:srgbClr val="111111"/>
                        </a:solidFill>
                      </a:endParaRPr>
                    </a:p>
                  </a:txBody>
                  <a:tcPr marL="152400" marR="101600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</a:rPr>
                        <a:t>Мои действия помогают</a:t>
                      </a:r>
                    </a:p>
                    <a:p>
                      <a:r>
                        <a:rPr sz="1150" b="0">
                          <a:solidFill>
                            <a:srgbClr val="111111"/>
                          </a:solidFill>
                        </a:rPr>
                        <a:t>моему персонажу.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0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Коллекция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и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сюрприз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: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за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участие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открываются</a:t>
                      </a:r>
                      <a:r>
                        <a:rPr lang="ru-RU"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новые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персонажи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предметы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и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случайные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награды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50" b="0" dirty="0">
                        <a:solidFill>
                          <a:srgbClr val="111111"/>
                        </a:solidFill>
                      </a:endParaRPr>
                    </a:p>
                  </a:txBody>
                  <a:tcPr marL="152400" marR="101600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</a:rPr>
                        <a:t>Хочу закончить начатое</a:t>
                      </a:r>
                    </a:p>
                    <a:p>
                      <a:r>
                        <a:rPr sz="1150" b="0">
                          <a:solidFill>
                            <a:srgbClr val="111111"/>
                          </a:solidFill>
                        </a:rPr>
                        <a:t>и узнать, какая будет награда.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70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Персональный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результат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: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накопленные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ответы</a:t>
                      </a:r>
                      <a:r>
                        <a:rPr lang="ru-RU"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открывают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портрет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разбор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или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рекомендации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50" b="0" dirty="0">
                        <a:solidFill>
                          <a:srgbClr val="111111"/>
                        </a:solidFill>
                      </a:endParaRPr>
                    </a:p>
                  </a:txBody>
                  <a:tcPr marL="152400" marR="101600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</a:rPr>
                        <a:t>За мои ответы я получу</a:t>
                      </a:r>
                    </a:p>
                    <a:p>
                      <a:r>
                        <a:rPr sz="1150" b="0">
                          <a:solidFill>
                            <a:srgbClr val="111111"/>
                          </a:solidFill>
                        </a:rPr>
                        <a:t>новое знание о себе.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70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Уровни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: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общение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приносит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очки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опыта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,</a:t>
                      </a:r>
                      <a:r>
                        <a:rPr lang="ru-RU"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повышает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уровень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и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открывает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награды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50" b="0" dirty="0">
                        <a:solidFill>
                          <a:srgbClr val="111111"/>
                        </a:solidFill>
                      </a:endParaRPr>
                    </a:p>
                  </a:txBody>
                  <a:tcPr marL="152400" marR="101600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</a:rPr>
                        <a:t>Вижу накопленный вклад</a:t>
                      </a:r>
                    </a:p>
                    <a:p>
                      <a:r>
                        <a:rPr sz="1150" b="0">
                          <a:solidFill>
                            <a:srgbClr val="111111"/>
                          </a:solidFill>
                        </a:rPr>
                        <a:t>в своего ассистента.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70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Серия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: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короткое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ежедневное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действие</a:t>
                      </a:r>
                      <a:r>
                        <a:rPr lang="ru-RU" sz="120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продлевает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непрерывную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серию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участия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50" b="0" dirty="0">
                        <a:solidFill>
                          <a:srgbClr val="111111"/>
                        </a:solidFill>
                      </a:endParaRPr>
                    </a:p>
                  </a:txBody>
                  <a:tcPr marL="152400" marR="101600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</a:rPr>
                        <a:t>Каждое небольшое действие</a:t>
                      </a:r>
                    </a:p>
                    <a:p>
                      <a:r>
                        <a:rPr sz="1150" b="0">
                          <a:solidFill>
                            <a:srgbClr val="111111"/>
                          </a:solidFill>
                        </a:rPr>
                        <a:t>добавляет видимый прогресс.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70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Событие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и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приз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: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регулярная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викторина</a:t>
                      </a:r>
                      <a:r>
                        <a:rPr lang="ru-RU"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или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задание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с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возможностью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выиграть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награду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50" b="0" dirty="0">
                        <a:solidFill>
                          <a:srgbClr val="111111"/>
                        </a:solidFill>
                      </a:endParaRPr>
                    </a:p>
                  </a:txBody>
                  <a:tcPr marL="152400" marR="101600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</a:rPr>
                        <a:t>Жду следующую игру</a:t>
                      </a:r>
                    </a:p>
                    <a:p>
                      <a:r>
                        <a:rPr sz="1150" b="0">
                          <a:solidFill>
                            <a:srgbClr val="111111"/>
                          </a:solidFill>
                        </a:rPr>
                        <a:t>и шанс выиграть.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70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Продолжение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разговора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: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ассистент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возвращается</a:t>
                      </a:r>
                      <a:br>
                        <a:rPr lang="ru-RU" sz="1150" b="0" dirty="0">
                          <a:solidFill>
                            <a:srgbClr val="111111"/>
                          </a:solidFill>
                        </a:rPr>
                      </a:b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к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прошлой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теме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и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предлагает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обсудить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результат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50" b="0" dirty="0">
                        <a:solidFill>
                          <a:srgbClr val="111111"/>
                        </a:solidFill>
                      </a:endParaRPr>
                    </a:p>
                  </a:txBody>
                  <a:tcPr marL="152400" marR="101600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11111"/>
                          </a:solidFill>
                        </a:rPr>
                        <a:t>Хочу вернуться к своей теме</a:t>
                      </a:r>
                    </a:p>
                    <a:p>
                      <a:r>
                        <a:rPr sz="1150" b="0">
                          <a:solidFill>
                            <a:srgbClr val="111111"/>
                          </a:solidFill>
                        </a:rPr>
                        <a:t>и обсудить, что получилось.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70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Совместное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участие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: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общая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цель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или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серия</a:t>
                      </a:r>
                      <a:br>
                        <a:rPr lang="ru-RU" sz="1150" b="0" dirty="0">
                          <a:solidFill>
                            <a:srgbClr val="111111"/>
                          </a:solidFill>
                        </a:rPr>
                      </a:b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с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другом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взаимные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напоминания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и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поддержка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50" b="0" dirty="0">
                        <a:solidFill>
                          <a:srgbClr val="111111"/>
                        </a:solidFill>
                      </a:endParaRPr>
                    </a:p>
                  </a:txBody>
                  <a:tcPr marL="152400" marR="101600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Мой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вклад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важен</a:t>
                      </a:r>
                      <a:endParaRPr sz="120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для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нашего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общего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11111"/>
                          </a:solidFill>
                        </a:rPr>
                        <a:t>результата</a:t>
                      </a:r>
                      <a:r>
                        <a:rPr sz="11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</a:txBody>
                  <a:tcPr marL="152400" marR="101600" marT="38100" marB="381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amagotchi-label">
            <a:extLst>
              <a:ext uri="{FF2B5EF4-FFF2-40B4-BE49-F238E27FC236}">
                <a16:creationId xmlns:a16="http://schemas.microsoft.com/office/drawing/2014/main" id="{F1FB1023-C642-44DD-AE5A-EDA77C76F45D}"/>
              </a:ext>
            </a:extLst>
          </p:cNvPr>
          <p:cNvSpPr>
            <a:spLocks noGrp="1"/>
          </p:cNvSpPr>
          <p:nvPr/>
        </p:nvSpPr>
        <p:spPr>
          <a:xfrm>
            <a:off x="9476710" y="1226887"/>
            <a:ext cx="2235200" cy="57150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defTabSz="731520">
              <a:defRPr sz="2325" b="1">
                <a:solidFill>
                  <a:srgbClr val="111111"/>
                </a:solidFill>
              </a:defRPr>
            </a:pPr>
            <a:r>
              <a:rPr sz="1800" b="1" spc="-3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Мои</a:t>
            </a:r>
            <a:r>
              <a:rPr sz="1800" b="1" spc="-3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800" b="1" spc="-3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ответы</a:t>
            </a:r>
            <a:endParaRPr sz="1800" b="1" spc="-30" dirty="0">
              <a:solidFill>
                <a:schemeClr val="bg1"/>
              </a:solidFill>
              <a:latin typeface="SB Sans Display" panose="020B0503040504020204" pitchFamily="34" charset="0"/>
              <a:cs typeface="SB Sans Display" panose="020B0503040504020204" pitchFamily="34" charset="0"/>
            </a:endParaRPr>
          </a:p>
          <a:p>
            <a:pPr defTabSz="731520">
              <a:defRPr sz="2325" b="1">
                <a:solidFill>
                  <a:srgbClr val="111111"/>
                </a:solidFill>
              </a:defRPr>
            </a:pPr>
            <a:r>
              <a:rPr sz="1800" b="1" spc="-3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что-то</a:t>
            </a:r>
            <a:r>
              <a:rPr sz="1800" b="1" spc="-3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800" b="1" spc="-3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меняют</a:t>
            </a:r>
            <a:endParaRPr sz="1800" b="1" spc="-30" dirty="0">
              <a:solidFill>
                <a:schemeClr val="bg1"/>
              </a:solidFill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7" name="tamagotchi-caption">
            <a:extLst>
              <a:ext uri="{FF2B5EF4-FFF2-40B4-BE49-F238E27FC236}">
                <a16:creationId xmlns:a16="http://schemas.microsoft.com/office/drawing/2014/main" id="{081567BB-DD8D-4261-8391-A74B0602A3D9}"/>
              </a:ext>
            </a:extLst>
          </p:cNvPr>
          <p:cNvSpPr>
            <a:spLocks noGrp="1"/>
          </p:cNvSpPr>
          <p:nvPr/>
        </p:nvSpPr>
        <p:spPr>
          <a:xfrm>
            <a:off x="9472972" y="4459592"/>
            <a:ext cx="1875638" cy="884178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defTabSz="731520">
              <a:defRPr sz="1500" b="0">
                <a:solidFill>
                  <a:srgbClr val="111111"/>
                </a:solidFill>
              </a:defRPr>
            </a:pPr>
            <a:r>
              <a:rPr sz="120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Растёт</a:t>
            </a:r>
            <a:r>
              <a:rPr sz="12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20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персонаж</a:t>
            </a:r>
            <a:r>
              <a:rPr sz="12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,</a:t>
            </a:r>
            <a:br>
              <a:rPr lang="ru-RU" sz="12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</a:br>
            <a:r>
              <a:rPr sz="120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открывается</a:t>
            </a:r>
            <a:r>
              <a:rPr lang="ru-RU" sz="12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20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результат</a:t>
            </a:r>
            <a:r>
              <a:rPr sz="12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,</a:t>
            </a:r>
            <a:br>
              <a:rPr lang="ru-RU" sz="12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</a:br>
            <a:r>
              <a:rPr sz="120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продолжается</a:t>
            </a:r>
            <a:r>
              <a:rPr sz="12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20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история</a:t>
            </a:r>
            <a:r>
              <a:rPr sz="12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.</a:t>
            </a:r>
          </a:p>
        </p:txBody>
      </p:sp>
      <p:sp>
        <p:nvSpPr>
          <p:cNvPr id="8" name="three-title">
            <a:extLst>
              <a:ext uri="{FF2B5EF4-FFF2-40B4-BE49-F238E27FC236}">
                <a16:creationId xmlns:a16="http://schemas.microsoft.com/office/drawing/2014/main" id="{63724ABD-4ACF-40D3-8C49-529F75D977B1}"/>
              </a:ext>
            </a:extLst>
          </p:cNvPr>
          <p:cNvSpPr>
            <a:spLocks noGrp="1"/>
          </p:cNvSpPr>
          <p:nvPr/>
        </p:nvSpPr>
        <p:spPr>
          <a:xfrm>
            <a:off x="457200" y="5472684"/>
            <a:ext cx="11277570" cy="304495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defTabSz="731520">
              <a:defRPr sz="1950" b="1">
                <a:solidFill>
                  <a:srgbClr val="111111"/>
                </a:solidFill>
              </a:defRPr>
            </a:pPr>
            <a:r>
              <a:rPr sz="1600" b="1" dirty="0" err="1">
                <a:gradFill>
                  <a:gsLst>
                    <a:gs pos="1000">
                      <a:srgbClr val="15AFAF">
                        <a:lumMod val="50000"/>
                      </a:srgbClr>
                    </a:gs>
                    <a:gs pos="40000">
                      <a:srgbClr val="15AFAF"/>
                    </a:gs>
                    <a:gs pos="74000">
                      <a:srgbClr val="1CD29E"/>
                    </a:gs>
                    <a:gs pos="94000">
                      <a:srgbClr val="15AFAF">
                        <a:lumMod val="75000"/>
                      </a:srgbClr>
                    </a:gs>
                  </a:gsLst>
                </a:gradFill>
                <a:latin typeface="SB Sans Display" panose="020B0503040504020204" pitchFamily="34" charset="0"/>
                <a:cs typeface="SB Sans Display" panose="020B0503040504020204" pitchFamily="34" charset="0"/>
              </a:rPr>
              <a:t>Три</a:t>
            </a:r>
            <a:r>
              <a:rPr sz="1600" b="1" dirty="0">
                <a:gradFill>
                  <a:gsLst>
                    <a:gs pos="1000">
                      <a:srgbClr val="15AFAF">
                        <a:lumMod val="50000"/>
                      </a:srgbClr>
                    </a:gs>
                    <a:gs pos="40000">
                      <a:srgbClr val="15AFAF"/>
                    </a:gs>
                    <a:gs pos="74000">
                      <a:srgbClr val="1CD29E"/>
                    </a:gs>
                    <a:gs pos="94000">
                      <a:srgbClr val="15AFAF">
                        <a:lumMod val="75000"/>
                      </a:srgbClr>
                    </a:gs>
                  </a:gsLst>
                </a:gra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600" b="1" dirty="0" err="1">
                <a:gradFill>
                  <a:gsLst>
                    <a:gs pos="1000">
                      <a:srgbClr val="15AFAF">
                        <a:lumMod val="50000"/>
                      </a:srgbClr>
                    </a:gs>
                    <a:gs pos="40000">
                      <a:srgbClr val="15AFAF"/>
                    </a:gs>
                    <a:gs pos="74000">
                      <a:srgbClr val="1CD29E"/>
                    </a:gs>
                    <a:gs pos="94000">
                      <a:srgbClr val="15AFAF">
                        <a:lumMod val="75000"/>
                      </a:srgbClr>
                    </a:gs>
                  </a:gsLst>
                </a:gradFill>
                <a:latin typeface="SB Sans Display" panose="020B0503040504020204" pitchFamily="34" charset="0"/>
                <a:cs typeface="SB Sans Display" panose="020B0503040504020204" pitchFamily="34" charset="0"/>
              </a:rPr>
              <a:t>горизонта</a:t>
            </a:r>
            <a:r>
              <a:rPr sz="1600" b="1" dirty="0">
                <a:gradFill>
                  <a:gsLst>
                    <a:gs pos="1000">
                      <a:srgbClr val="15AFAF">
                        <a:lumMod val="50000"/>
                      </a:srgbClr>
                    </a:gs>
                    <a:gs pos="40000">
                      <a:srgbClr val="15AFAF"/>
                    </a:gs>
                    <a:gs pos="74000">
                      <a:srgbClr val="1CD29E"/>
                    </a:gs>
                    <a:gs pos="94000">
                      <a:srgbClr val="15AFAF">
                        <a:lumMod val="75000"/>
                      </a:srgbClr>
                    </a:gs>
                  </a:gsLst>
                </a:gra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600" b="1" dirty="0" err="1">
                <a:gradFill>
                  <a:gsLst>
                    <a:gs pos="1000">
                      <a:srgbClr val="15AFAF">
                        <a:lumMod val="50000"/>
                      </a:srgbClr>
                    </a:gs>
                    <a:gs pos="40000">
                      <a:srgbClr val="15AFAF"/>
                    </a:gs>
                    <a:gs pos="74000">
                      <a:srgbClr val="1CD29E"/>
                    </a:gs>
                    <a:gs pos="94000">
                      <a:srgbClr val="15AFAF">
                        <a:lumMod val="75000"/>
                      </a:srgbClr>
                    </a:gs>
                  </a:gsLst>
                </a:gradFill>
                <a:latin typeface="SB Sans Display" panose="020B0503040504020204" pitchFamily="34" charset="0"/>
                <a:cs typeface="SB Sans Display" panose="020B0503040504020204" pitchFamily="34" charset="0"/>
              </a:rPr>
              <a:t>отдачи</a:t>
            </a:r>
            <a:r>
              <a:rPr sz="1600" b="1" dirty="0">
                <a:gradFill>
                  <a:gsLst>
                    <a:gs pos="1000">
                      <a:srgbClr val="15AFAF">
                        <a:lumMod val="50000"/>
                      </a:srgbClr>
                    </a:gs>
                    <a:gs pos="40000">
                      <a:srgbClr val="15AFAF"/>
                    </a:gs>
                    <a:gs pos="74000">
                      <a:srgbClr val="1CD29E"/>
                    </a:gs>
                    <a:gs pos="94000">
                      <a:srgbClr val="15AFAF">
                        <a:lumMod val="75000"/>
                      </a:srgbClr>
                    </a:gs>
                  </a:gsLst>
                </a:gra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600" b="1" dirty="0" err="1">
                <a:gradFill>
                  <a:gsLst>
                    <a:gs pos="1000">
                      <a:srgbClr val="15AFAF">
                        <a:lumMod val="50000"/>
                      </a:srgbClr>
                    </a:gs>
                    <a:gs pos="40000">
                      <a:srgbClr val="15AFAF"/>
                    </a:gs>
                    <a:gs pos="74000">
                      <a:srgbClr val="1CD29E"/>
                    </a:gs>
                    <a:gs pos="94000">
                      <a:srgbClr val="15AFAF">
                        <a:lumMod val="75000"/>
                      </a:srgbClr>
                    </a:gs>
                  </a:gsLst>
                </a:gradFill>
                <a:latin typeface="SB Sans Display" panose="020B0503040504020204" pitchFamily="34" charset="0"/>
                <a:cs typeface="SB Sans Display" panose="020B0503040504020204" pitchFamily="34" charset="0"/>
              </a:rPr>
              <a:t>для</a:t>
            </a:r>
            <a:r>
              <a:rPr sz="1600" b="1" dirty="0">
                <a:gradFill>
                  <a:gsLst>
                    <a:gs pos="1000">
                      <a:srgbClr val="15AFAF">
                        <a:lumMod val="50000"/>
                      </a:srgbClr>
                    </a:gs>
                    <a:gs pos="40000">
                      <a:srgbClr val="15AFAF"/>
                    </a:gs>
                    <a:gs pos="74000">
                      <a:srgbClr val="1CD29E"/>
                    </a:gs>
                    <a:gs pos="94000">
                      <a:srgbClr val="15AFAF">
                        <a:lumMod val="75000"/>
                      </a:srgbClr>
                    </a:gs>
                  </a:gsLst>
                </a:gra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600" b="1" dirty="0" err="1">
                <a:gradFill>
                  <a:gsLst>
                    <a:gs pos="1000">
                      <a:srgbClr val="15AFAF">
                        <a:lumMod val="50000"/>
                      </a:srgbClr>
                    </a:gs>
                    <a:gs pos="40000">
                      <a:srgbClr val="15AFAF"/>
                    </a:gs>
                    <a:gs pos="74000">
                      <a:srgbClr val="1CD29E"/>
                    </a:gs>
                    <a:gs pos="94000">
                      <a:srgbClr val="15AFAF">
                        <a:lumMod val="75000"/>
                      </a:srgbClr>
                    </a:gs>
                  </a:gsLst>
                </a:gradFill>
                <a:latin typeface="SB Sans Display" panose="020B0503040504020204" pitchFamily="34" charset="0"/>
                <a:cs typeface="SB Sans Display" panose="020B0503040504020204" pitchFamily="34" charset="0"/>
              </a:rPr>
              <a:t>Памяти</a:t>
            </a:r>
            <a:r>
              <a:rPr sz="1600" b="1" dirty="0">
                <a:gradFill>
                  <a:gsLst>
                    <a:gs pos="1000">
                      <a:srgbClr val="15AFAF">
                        <a:lumMod val="50000"/>
                      </a:srgbClr>
                    </a:gs>
                    <a:gs pos="40000">
                      <a:srgbClr val="15AFAF"/>
                    </a:gs>
                    <a:gs pos="74000">
                      <a:srgbClr val="1CD29E"/>
                    </a:gs>
                    <a:gs pos="94000">
                      <a:srgbClr val="15AFAF">
                        <a:lumMod val="75000"/>
                      </a:srgbClr>
                    </a:gs>
                  </a:gsLst>
                </a:gradFill>
                <a:latin typeface="SB Sans Display" panose="020B0503040504020204" pitchFamily="34" charset="0"/>
                <a:cs typeface="SB Sans Display" panose="020B0503040504020204" pitchFamily="34" charset="0"/>
              </a:rPr>
              <a:t>*</a:t>
            </a:r>
          </a:p>
        </p:txBody>
      </p:sp>
      <p:sp>
        <p:nvSpPr>
          <p:cNvPr id="9" name="now-title">
            <a:extLst>
              <a:ext uri="{FF2B5EF4-FFF2-40B4-BE49-F238E27FC236}">
                <a16:creationId xmlns:a16="http://schemas.microsoft.com/office/drawing/2014/main" id="{1F8AE15D-ED84-47A7-B9A0-6869ACD99D00}"/>
              </a:ext>
            </a:extLst>
          </p:cNvPr>
          <p:cNvSpPr>
            <a:spLocks noGrp="1"/>
          </p:cNvSpPr>
          <p:nvPr/>
        </p:nvSpPr>
        <p:spPr>
          <a:xfrm>
            <a:off x="634594" y="5879592"/>
            <a:ext cx="3429000" cy="19812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defTabSz="731520">
              <a:defRPr sz="1425" b="1">
                <a:solidFill>
                  <a:srgbClr val="111111"/>
                </a:solidFill>
              </a:defRPr>
            </a:pPr>
            <a:r>
              <a:rPr sz="1050" b="1" spc="6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СРАЗУ</a:t>
            </a:r>
          </a:p>
        </p:txBody>
      </p:sp>
      <p:sp>
        <p:nvSpPr>
          <p:cNvPr id="10" name="now-body">
            <a:extLst>
              <a:ext uri="{FF2B5EF4-FFF2-40B4-BE49-F238E27FC236}">
                <a16:creationId xmlns:a16="http://schemas.microsoft.com/office/drawing/2014/main" id="{AF44FF07-B304-4243-ACAF-3B4738374179}"/>
              </a:ext>
            </a:extLst>
          </p:cNvPr>
          <p:cNvSpPr>
            <a:spLocks noGrp="1"/>
          </p:cNvSpPr>
          <p:nvPr/>
        </p:nvSpPr>
        <p:spPr>
          <a:xfrm>
            <a:off x="634594" y="6108192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defTabSz="731520">
              <a:defRPr sz="1500" b="0">
                <a:solidFill>
                  <a:srgbClr val="111111"/>
                </a:solidFill>
              </a:defRPr>
            </a:pPr>
            <a:r>
              <a:rPr sz="115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Интересная</a:t>
            </a:r>
            <a:r>
              <a:rPr sz="115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15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реакция</a:t>
            </a:r>
            <a:r>
              <a:rPr sz="115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15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или</a:t>
            </a:r>
            <a:r>
              <a:rPr sz="115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15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маленькое</a:t>
            </a:r>
            <a:r>
              <a:rPr sz="115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150" dirty="0" err="1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открытие</a:t>
            </a:r>
            <a:endParaRPr sz="1200" dirty="0">
              <a:solidFill>
                <a:schemeClr val="bg1"/>
              </a:solidFill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11" name="series-title">
            <a:extLst>
              <a:ext uri="{FF2B5EF4-FFF2-40B4-BE49-F238E27FC236}">
                <a16:creationId xmlns:a16="http://schemas.microsoft.com/office/drawing/2014/main" id="{AC017D4E-CB77-43BB-BC28-94855AAD3320}"/>
              </a:ext>
            </a:extLst>
          </p:cNvPr>
          <p:cNvSpPr>
            <a:spLocks noGrp="1"/>
          </p:cNvSpPr>
          <p:nvPr/>
        </p:nvSpPr>
        <p:spPr>
          <a:xfrm>
            <a:off x="4444898" y="5879592"/>
            <a:ext cx="3429000" cy="19812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defTabSz="731520">
              <a:defRPr sz="1425" b="1">
                <a:solidFill>
                  <a:srgbClr val="111111"/>
                </a:solidFill>
              </a:defRPr>
            </a:pPr>
            <a:r>
              <a:rPr sz="1050" b="1" spc="6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ПОСЛЕ СЕРИИ ОТВЕТОВ</a:t>
            </a:r>
          </a:p>
        </p:txBody>
      </p:sp>
      <p:sp>
        <p:nvSpPr>
          <p:cNvPr id="12" name="series-body">
            <a:extLst>
              <a:ext uri="{FF2B5EF4-FFF2-40B4-BE49-F238E27FC236}">
                <a16:creationId xmlns:a16="http://schemas.microsoft.com/office/drawing/2014/main" id="{16D26AA8-657F-4F25-A5A0-496AD72A1258}"/>
              </a:ext>
            </a:extLst>
          </p:cNvPr>
          <p:cNvSpPr>
            <a:spLocks noGrp="1"/>
          </p:cNvSpPr>
          <p:nvPr/>
        </p:nvSpPr>
        <p:spPr>
          <a:xfrm>
            <a:off x="4444898" y="6108192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defTabSz="731520">
              <a:defRPr sz="1500" b="0">
                <a:solidFill>
                  <a:srgbClr val="111111"/>
                </a:solidFill>
              </a:defRPr>
            </a:pPr>
            <a:r>
              <a:rPr sz="115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Персональный портрет, разбор или подборка</a:t>
            </a:r>
          </a:p>
        </p:txBody>
      </p:sp>
      <p:sp>
        <p:nvSpPr>
          <p:cNvPr id="13" name="long-title">
            <a:extLst>
              <a:ext uri="{FF2B5EF4-FFF2-40B4-BE49-F238E27FC236}">
                <a16:creationId xmlns:a16="http://schemas.microsoft.com/office/drawing/2014/main" id="{3849B4F7-3CCC-4697-A1FD-7211C542AB46}"/>
              </a:ext>
            </a:extLst>
          </p:cNvPr>
          <p:cNvSpPr>
            <a:spLocks noGrp="1"/>
          </p:cNvSpPr>
          <p:nvPr/>
        </p:nvSpPr>
        <p:spPr>
          <a:xfrm>
            <a:off x="8254289" y="5879592"/>
            <a:ext cx="3429000" cy="19812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defTabSz="731520">
              <a:defRPr sz="1425" b="1">
                <a:solidFill>
                  <a:srgbClr val="111111"/>
                </a:solidFill>
              </a:defRPr>
            </a:pPr>
            <a:r>
              <a:rPr sz="1050" b="1" spc="60">
                <a:solidFill>
                  <a:srgbClr val="FFFFFF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СО ВРЕМЕНЕМ</a:t>
            </a:r>
          </a:p>
        </p:txBody>
      </p:sp>
      <p:sp>
        <p:nvSpPr>
          <p:cNvPr id="14" name="long-body">
            <a:extLst>
              <a:ext uri="{FF2B5EF4-FFF2-40B4-BE49-F238E27FC236}">
                <a16:creationId xmlns:a16="http://schemas.microsoft.com/office/drawing/2014/main" id="{CF4B930F-8593-41B5-A316-36D39178CE98}"/>
              </a:ext>
            </a:extLst>
          </p:cNvPr>
          <p:cNvSpPr>
            <a:spLocks noGrp="1"/>
          </p:cNvSpPr>
          <p:nvPr/>
        </p:nvSpPr>
        <p:spPr>
          <a:xfrm>
            <a:off x="8254289" y="6108192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defTabSz="731520">
              <a:defRPr sz="1500" b="0">
                <a:solidFill>
                  <a:srgbClr val="111111"/>
                </a:solidFill>
              </a:defRPr>
            </a:pPr>
            <a:r>
              <a:rPr sz="1150">
                <a:solidFill>
                  <a:srgbClr val="FFFFFF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Всё более «свой» ассистент и общая история</a:t>
            </a:r>
          </a:p>
        </p:txBody>
      </p:sp>
      <p:sp>
        <p:nvSpPr>
          <p:cNvPr id="15" name="footer">
            <a:extLst>
              <a:ext uri="{FF2B5EF4-FFF2-40B4-BE49-F238E27FC236}">
                <a16:creationId xmlns:a16="http://schemas.microsoft.com/office/drawing/2014/main" id="{157008C2-5899-414D-B982-9471C615C991}"/>
              </a:ext>
            </a:extLst>
          </p:cNvPr>
          <p:cNvSpPr>
            <a:spLocks noGrp="1"/>
          </p:cNvSpPr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/>
          <a:p>
            <a:pPr defTabSz="731520">
              <a:defRPr sz="1000" b="0">
                <a:solidFill>
                  <a:srgbClr val="6B6B6B"/>
                </a:solidFill>
              </a:defRPr>
            </a:pPr>
            <a:r>
              <a:rPr sz="1000">
                <a:solidFill>
                  <a:srgbClr val="6B6B6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* Мотивация и применение к Памяти — аналитическая интерпретация. Источники — в заметках к слайду.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E39DCB0-F9F2-4FCC-DDE4-C437308E8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пользователь возвращается и отвечает</a:t>
            </a:r>
            <a:endParaRPr lang="en-US" dirty="0"/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2F40CC96-19D4-2461-744D-E7004DBE45E7}"/>
              </a:ext>
            </a:extLst>
          </p:cNvPr>
          <p:cNvGrpSpPr/>
          <p:nvPr/>
        </p:nvGrpSpPr>
        <p:grpSpPr>
          <a:xfrm>
            <a:off x="4367174" y="1515297"/>
            <a:ext cx="1534475" cy="373946"/>
            <a:chOff x="7723335" y="3820160"/>
            <a:chExt cx="3960665" cy="965200"/>
          </a:xfrm>
        </p:grpSpPr>
        <p:sp>
          <p:nvSpPr>
            <p:cNvPr id="24" name="Lane fast 228">
              <a:extLst>
                <a:ext uri="{FF2B5EF4-FFF2-40B4-BE49-F238E27FC236}">
                  <a16:creationId xmlns:a16="http://schemas.microsoft.com/office/drawing/2014/main" id="{2D208FA2-EF37-C66B-3F17-586438ED3A2F}"/>
                </a:ext>
              </a:extLst>
            </p:cNvPr>
            <p:cNvSpPr/>
            <p:nvPr/>
          </p:nvSpPr>
          <p:spPr>
            <a:xfrm>
              <a:off x="7723335" y="3820160"/>
              <a:ext cx="3729525" cy="965200"/>
            </a:xfrm>
            <a:prstGeom prst="homePlate">
              <a:avLst>
                <a:gd name="adj" fmla="val 40174"/>
              </a:avLst>
            </a:prstGeom>
            <a:gradFill flip="none" rotWithShape="1">
              <a:gsLst>
                <a:gs pos="12000">
                  <a:srgbClr val="F1FDF9">
                    <a:alpha val="0"/>
                  </a:srgbClr>
                </a:gs>
                <a:gs pos="0">
                  <a:schemeClr val="bg1">
                    <a:alpha val="0"/>
                  </a:schemeClr>
                </a:gs>
                <a:gs pos="73000">
                  <a:schemeClr val="accent3">
                    <a:alpha val="46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76200"/>
            </a:effectLst>
          </p:spPr>
          <p:txBody>
            <a:bodyPr wrap="square" lIns="827999" tIns="0" rIns="381000" bIns="0" rtlCol="0" anchor="ctr">
              <a:noAutofit/>
            </a:bodyPr>
            <a:lstStyle/>
            <a:p>
              <a:pPr algn="l"/>
              <a:endParaRPr lang="ru-RU" sz="1200" b="1" dirty="0">
                <a:solidFill>
                  <a:srgbClr val="0B6E4F"/>
                </a:solidFill>
              </a:endParaRPr>
            </a:p>
          </p:txBody>
        </p:sp>
        <p:sp>
          <p:nvSpPr>
            <p:cNvPr id="25" name="Рисунок 63">
              <a:extLst>
                <a:ext uri="{FF2B5EF4-FFF2-40B4-BE49-F238E27FC236}">
                  <a16:creationId xmlns:a16="http://schemas.microsoft.com/office/drawing/2014/main" id="{FA19AF21-8EDD-317C-35DF-A8B89F836DD2}"/>
                </a:ext>
              </a:extLst>
            </p:cNvPr>
            <p:cNvSpPr/>
            <p:nvPr/>
          </p:nvSpPr>
          <p:spPr>
            <a:xfrm rot="16200000">
              <a:off x="10912743" y="4142973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Рисунок 63">
              <a:extLst>
                <a:ext uri="{FF2B5EF4-FFF2-40B4-BE49-F238E27FC236}">
                  <a16:creationId xmlns:a16="http://schemas.microsoft.com/office/drawing/2014/main" id="{4AB37857-2D39-0884-2A7D-E5C6196785CD}"/>
                </a:ext>
              </a:extLst>
            </p:cNvPr>
            <p:cNvSpPr/>
            <p:nvPr/>
          </p:nvSpPr>
          <p:spPr>
            <a:xfrm rot="16200000">
              <a:off x="11128252" y="4142974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00B06097-E3A8-E668-1180-A99913284A73}"/>
              </a:ext>
            </a:extLst>
          </p:cNvPr>
          <p:cNvGrpSpPr/>
          <p:nvPr/>
        </p:nvGrpSpPr>
        <p:grpSpPr>
          <a:xfrm>
            <a:off x="4367174" y="1989002"/>
            <a:ext cx="1534475" cy="373946"/>
            <a:chOff x="7723335" y="3820160"/>
            <a:chExt cx="3960665" cy="965200"/>
          </a:xfrm>
        </p:grpSpPr>
        <p:sp>
          <p:nvSpPr>
            <p:cNvPr id="28" name="Lane fast 228">
              <a:extLst>
                <a:ext uri="{FF2B5EF4-FFF2-40B4-BE49-F238E27FC236}">
                  <a16:creationId xmlns:a16="http://schemas.microsoft.com/office/drawing/2014/main" id="{85D23CC3-B014-5D82-B6B5-84986E4A4C65}"/>
                </a:ext>
              </a:extLst>
            </p:cNvPr>
            <p:cNvSpPr/>
            <p:nvPr/>
          </p:nvSpPr>
          <p:spPr>
            <a:xfrm>
              <a:off x="7723335" y="3820160"/>
              <a:ext cx="3729525" cy="965200"/>
            </a:xfrm>
            <a:prstGeom prst="homePlate">
              <a:avLst>
                <a:gd name="adj" fmla="val 40174"/>
              </a:avLst>
            </a:prstGeom>
            <a:gradFill flip="none" rotWithShape="1">
              <a:gsLst>
                <a:gs pos="12000">
                  <a:srgbClr val="F1FDF9">
                    <a:alpha val="0"/>
                  </a:srgbClr>
                </a:gs>
                <a:gs pos="0">
                  <a:schemeClr val="bg1">
                    <a:alpha val="0"/>
                  </a:schemeClr>
                </a:gs>
                <a:gs pos="73000">
                  <a:schemeClr val="accent3">
                    <a:alpha val="46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76200"/>
            </a:effectLst>
          </p:spPr>
          <p:txBody>
            <a:bodyPr wrap="square" lIns="827999" tIns="0" rIns="381000" bIns="0" rtlCol="0" anchor="ctr">
              <a:noAutofit/>
            </a:bodyPr>
            <a:lstStyle/>
            <a:p>
              <a:pPr algn="l"/>
              <a:endParaRPr lang="ru-RU" sz="1200" b="1" dirty="0">
                <a:solidFill>
                  <a:srgbClr val="0B6E4F"/>
                </a:solidFill>
              </a:endParaRPr>
            </a:p>
          </p:txBody>
        </p:sp>
        <p:sp>
          <p:nvSpPr>
            <p:cNvPr id="29" name="Рисунок 63">
              <a:extLst>
                <a:ext uri="{FF2B5EF4-FFF2-40B4-BE49-F238E27FC236}">
                  <a16:creationId xmlns:a16="http://schemas.microsoft.com/office/drawing/2014/main" id="{E3118BE1-DFE4-15EF-D319-E03A6CF00BB1}"/>
                </a:ext>
              </a:extLst>
            </p:cNvPr>
            <p:cNvSpPr/>
            <p:nvPr/>
          </p:nvSpPr>
          <p:spPr>
            <a:xfrm rot="16200000">
              <a:off x="10912743" y="4142973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Рисунок 63">
              <a:extLst>
                <a:ext uri="{FF2B5EF4-FFF2-40B4-BE49-F238E27FC236}">
                  <a16:creationId xmlns:a16="http://schemas.microsoft.com/office/drawing/2014/main" id="{927B1C32-C6A6-31E2-EC15-6D4F19BFCEC6}"/>
                </a:ext>
              </a:extLst>
            </p:cNvPr>
            <p:cNvSpPr/>
            <p:nvPr/>
          </p:nvSpPr>
          <p:spPr>
            <a:xfrm rot="16200000">
              <a:off x="11128252" y="4142974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52E52607-07D7-CACB-E81F-2AFB311847CF}"/>
              </a:ext>
            </a:extLst>
          </p:cNvPr>
          <p:cNvGrpSpPr/>
          <p:nvPr/>
        </p:nvGrpSpPr>
        <p:grpSpPr>
          <a:xfrm>
            <a:off x="4367174" y="2462707"/>
            <a:ext cx="1534475" cy="373946"/>
            <a:chOff x="7723335" y="3820160"/>
            <a:chExt cx="3960665" cy="965200"/>
          </a:xfrm>
        </p:grpSpPr>
        <p:sp>
          <p:nvSpPr>
            <p:cNvPr id="896" name="Lane fast 228">
              <a:extLst>
                <a:ext uri="{FF2B5EF4-FFF2-40B4-BE49-F238E27FC236}">
                  <a16:creationId xmlns:a16="http://schemas.microsoft.com/office/drawing/2014/main" id="{A78F1CA9-7AD4-DA1C-6C86-74D48EE25EAF}"/>
                </a:ext>
              </a:extLst>
            </p:cNvPr>
            <p:cNvSpPr/>
            <p:nvPr/>
          </p:nvSpPr>
          <p:spPr>
            <a:xfrm>
              <a:off x="7723335" y="3820160"/>
              <a:ext cx="3729525" cy="965200"/>
            </a:xfrm>
            <a:prstGeom prst="homePlate">
              <a:avLst>
                <a:gd name="adj" fmla="val 40174"/>
              </a:avLst>
            </a:prstGeom>
            <a:gradFill flip="none" rotWithShape="1">
              <a:gsLst>
                <a:gs pos="12000">
                  <a:srgbClr val="F1FDF9">
                    <a:alpha val="0"/>
                  </a:srgbClr>
                </a:gs>
                <a:gs pos="0">
                  <a:schemeClr val="bg1">
                    <a:alpha val="0"/>
                  </a:schemeClr>
                </a:gs>
                <a:gs pos="73000">
                  <a:schemeClr val="accent3">
                    <a:alpha val="46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76200"/>
            </a:effectLst>
          </p:spPr>
          <p:txBody>
            <a:bodyPr wrap="square" lIns="827999" tIns="0" rIns="381000" bIns="0" rtlCol="0" anchor="ctr">
              <a:noAutofit/>
            </a:bodyPr>
            <a:lstStyle/>
            <a:p>
              <a:pPr algn="l"/>
              <a:endParaRPr lang="ru-RU" sz="1200" b="1" dirty="0">
                <a:solidFill>
                  <a:srgbClr val="0B6E4F"/>
                </a:solidFill>
              </a:endParaRPr>
            </a:p>
          </p:txBody>
        </p:sp>
        <p:sp>
          <p:nvSpPr>
            <p:cNvPr id="897" name="Рисунок 63">
              <a:extLst>
                <a:ext uri="{FF2B5EF4-FFF2-40B4-BE49-F238E27FC236}">
                  <a16:creationId xmlns:a16="http://schemas.microsoft.com/office/drawing/2014/main" id="{900CBDAA-B9C3-EBC8-459A-C94B5E529B0F}"/>
                </a:ext>
              </a:extLst>
            </p:cNvPr>
            <p:cNvSpPr/>
            <p:nvPr/>
          </p:nvSpPr>
          <p:spPr>
            <a:xfrm rot="16200000">
              <a:off x="10912743" y="4142973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8" name="Рисунок 63">
              <a:extLst>
                <a:ext uri="{FF2B5EF4-FFF2-40B4-BE49-F238E27FC236}">
                  <a16:creationId xmlns:a16="http://schemas.microsoft.com/office/drawing/2014/main" id="{BC14BAB3-ECA8-829E-828B-C4F8EC884DF2}"/>
                </a:ext>
              </a:extLst>
            </p:cNvPr>
            <p:cNvSpPr/>
            <p:nvPr/>
          </p:nvSpPr>
          <p:spPr>
            <a:xfrm rot="16200000">
              <a:off x="11128252" y="4142974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99" name="Группа 898">
            <a:extLst>
              <a:ext uri="{FF2B5EF4-FFF2-40B4-BE49-F238E27FC236}">
                <a16:creationId xmlns:a16="http://schemas.microsoft.com/office/drawing/2014/main" id="{191213E8-0B46-7881-9B40-633D36E277AD}"/>
              </a:ext>
            </a:extLst>
          </p:cNvPr>
          <p:cNvGrpSpPr/>
          <p:nvPr/>
        </p:nvGrpSpPr>
        <p:grpSpPr>
          <a:xfrm>
            <a:off x="4367174" y="2936412"/>
            <a:ext cx="1534475" cy="373946"/>
            <a:chOff x="7723335" y="3820160"/>
            <a:chExt cx="3960665" cy="965200"/>
          </a:xfrm>
        </p:grpSpPr>
        <p:sp>
          <p:nvSpPr>
            <p:cNvPr id="904" name="Lane fast 228">
              <a:extLst>
                <a:ext uri="{FF2B5EF4-FFF2-40B4-BE49-F238E27FC236}">
                  <a16:creationId xmlns:a16="http://schemas.microsoft.com/office/drawing/2014/main" id="{AC9489DC-5FCF-A9B5-C845-FCC86CFC7B08}"/>
                </a:ext>
              </a:extLst>
            </p:cNvPr>
            <p:cNvSpPr/>
            <p:nvPr/>
          </p:nvSpPr>
          <p:spPr>
            <a:xfrm>
              <a:off x="7723335" y="3820160"/>
              <a:ext cx="3729525" cy="965200"/>
            </a:xfrm>
            <a:prstGeom prst="homePlate">
              <a:avLst>
                <a:gd name="adj" fmla="val 40174"/>
              </a:avLst>
            </a:prstGeom>
            <a:gradFill flip="none" rotWithShape="1">
              <a:gsLst>
                <a:gs pos="12000">
                  <a:srgbClr val="F1FDF9">
                    <a:alpha val="0"/>
                  </a:srgbClr>
                </a:gs>
                <a:gs pos="0">
                  <a:schemeClr val="bg1">
                    <a:alpha val="0"/>
                  </a:schemeClr>
                </a:gs>
                <a:gs pos="73000">
                  <a:schemeClr val="accent3">
                    <a:alpha val="46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76200"/>
            </a:effectLst>
          </p:spPr>
          <p:txBody>
            <a:bodyPr wrap="square" lIns="827999" tIns="0" rIns="381000" bIns="0" rtlCol="0" anchor="ctr">
              <a:noAutofit/>
            </a:bodyPr>
            <a:lstStyle/>
            <a:p>
              <a:pPr algn="l"/>
              <a:endParaRPr lang="ru-RU" sz="1200" b="1" dirty="0">
                <a:solidFill>
                  <a:srgbClr val="0B6E4F"/>
                </a:solidFill>
              </a:endParaRPr>
            </a:p>
          </p:txBody>
        </p:sp>
        <p:sp>
          <p:nvSpPr>
            <p:cNvPr id="905" name="Рисунок 63">
              <a:extLst>
                <a:ext uri="{FF2B5EF4-FFF2-40B4-BE49-F238E27FC236}">
                  <a16:creationId xmlns:a16="http://schemas.microsoft.com/office/drawing/2014/main" id="{8E804A1E-4860-AB23-72DC-567D805383F5}"/>
                </a:ext>
              </a:extLst>
            </p:cNvPr>
            <p:cNvSpPr/>
            <p:nvPr/>
          </p:nvSpPr>
          <p:spPr>
            <a:xfrm rot="16200000">
              <a:off x="10912743" y="4142973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6" name="Рисунок 63">
              <a:extLst>
                <a:ext uri="{FF2B5EF4-FFF2-40B4-BE49-F238E27FC236}">
                  <a16:creationId xmlns:a16="http://schemas.microsoft.com/office/drawing/2014/main" id="{BC3CED0C-1E9A-A7FF-D1D1-573C477D4E5A}"/>
                </a:ext>
              </a:extLst>
            </p:cNvPr>
            <p:cNvSpPr/>
            <p:nvPr/>
          </p:nvSpPr>
          <p:spPr>
            <a:xfrm rot="16200000">
              <a:off x="11128252" y="4142974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07" name="Группа 906">
            <a:extLst>
              <a:ext uri="{FF2B5EF4-FFF2-40B4-BE49-F238E27FC236}">
                <a16:creationId xmlns:a16="http://schemas.microsoft.com/office/drawing/2014/main" id="{D415FCAB-01D0-A6D2-7F3A-FE2BAE6A08E0}"/>
              </a:ext>
            </a:extLst>
          </p:cNvPr>
          <p:cNvGrpSpPr/>
          <p:nvPr/>
        </p:nvGrpSpPr>
        <p:grpSpPr>
          <a:xfrm>
            <a:off x="4367174" y="3410117"/>
            <a:ext cx="1534475" cy="373946"/>
            <a:chOff x="7723335" y="3820160"/>
            <a:chExt cx="3960665" cy="965200"/>
          </a:xfrm>
        </p:grpSpPr>
        <p:sp>
          <p:nvSpPr>
            <p:cNvPr id="908" name="Lane fast 228">
              <a:extLst>
                <a:ext uri="{FF2B5EF4-FFF2-40B4-BE49-F238E27FC236}">
                  <a16:creationId xmlns:a16="http://schemas.microsoft.com/office/drawing/2014/main" id="{174C255A-1355-4DBA-D10D-5A7F46634A13}"/>
                </a:ext>
              </a:extLst>
            </p:cNvPr>
            <p:cNvSpPr/>
            <p:nvPr/>
          </p:nvSpPr>
          <p:spPr>
            <a:xfrm>
              <a:off x="7723335" y="3820160"/>
              <a:ext cx="3729525" cy="965200"/>
            </a:xfrm>
            <a:prstGeom prst="homePlate">
              <a:avLst>
                <a:gd name="adj" fmla="val 40174"/>
              </a:avLst>
            </a:prstGeom>
            <a:gradFill flip="none" rotWithShape="1">
              <a:gsLst>
                <a:gs pos="12000">
                  <a:srgbClr val="F1FDF9">
                    <a:alpha val="0"/>
                  </a:srgbClr>
                </a:gs>
                <a:gs pos="0">
                  <a:schemeClr val="bg1">
                    <a:alpha val="0"/>
                  </a:schemeClr>
                </a:gs>
                <a:gs pos="73000">
                  <a:schemeClr val="accent3">
                    <a:alpha val="46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76200"/>
            </a:effectLst>
          </p:spPr>
          <p:txBody>
            <a:bodyPr wrap="square" lIns="827999" tIns="0" rIns="381000" bIns="0" rtlCol="0" anchor="ctr">
              <a:noAutofit/>
            </a:bodyPr>
            <a:lstStyle/>
            <a:p>
              <a:pPr algn="l"/>
              <a:endParaRPr lang="ru-RU" sz="1200" b="1" dirty="0">
                <a:solidFill>
                  <a:srgbClr val="0B6E4F"/>
                </a:solidFill>
              </a:endParaRPr>
            </a:p>
          </p:txBody>
        </p:sp>
        <p:sp>
          <p:nvSpPr>
            <p:cNvPr id="909" name="Рисунок 63">
              <a:extLst>
                <a:ext uri="{FF2B5EF4-FFF2-40B4-BE49-F238E27FC236}">
                  <a16:creationId xmlns:a16="http://schemas.microsoft.com/office/drawing/2014/main" id="{BA2E5441-50F0-3555-4961-24D11F12CFE4}"/>
                </a:ext>
              </a:extLst>
            </p:cNvPr>
            <p:cNvSpPr/>
            <p:nvPr/>
          </p:nvSpPr>
          <p:spPr>
            <a:xfrm rot="16200000">
              <a:off x="10912743" y="4142973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0" name="Рисунок 63">
              <a:extLst>
                <a:ext uri="{FF2B5EF4-FFF2-40B4-BE49-F238E27FC236}">
                  <a16:creationId xmlns:a16="http://schemas.microsoft.com/office/drawing/2014/main" id="{7E02EB86-3A65-7057-7944-BEFCD4B90E19}"/>
                </a:ext>
              </a:extLst>
            </p:cNvPr>
            <p:cNvSpPr/>
            <p:nvPr/>
          </p:nvSpPr>
          <p:spPr>
            <a:xfrm rot="16200000">
              <a:off x="11128252" y="4142974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11" name="Группа 910">
            <a:extLst>
              <a:ext uri="{FF2B5EF4-FFF2-40B4-BE49-F238E27FC236}">
                <a16:creationId xmlns:a16="http://schemas.microsoft.com/office/drawing/2014/main" id="{01A0654F-50A9-22B2-53F4-720680CAFD18}"/>
              </a:ext>
            </a:extLst>
          </p:cNvPr>
          <p:cNvGrpSpPr/>
          <p:nvPr/>
        </p:nvGrpSpPr>
        <p:grpSpPr>
          <a:xfrm>
            <a:off x="4367174" y="3883821"/>
            <a:ext cx="1534475" cy="373946"/>
            <a:chOff x="7723335" y="3820160"/>
            <a:chExt cx="3960665" cy="965200"/>
          </a:xfrm>
        </p:grpSpPr>
        <p:sp>
          <p:nvSpPr>
            <p:cNvPr id="912" name="Lane fast 228">
              <a:extLst>
                <a:ext uri="{FF2B5EF4-FFF2-40B4-BE49-F238E27FC236}">
                  <a16:creationId xmlns:a16="http://schemas.microsoft.com/office/drawing/2014/main" id="{4ECC9AAE-7BF5-2738-3128-1B02F584F9CC}"/>
                </a:ext>
              </a:extLst>
            </p:cNvPr>
            <p:cNvSpPr/>
            <p:nvPr/>
          </p:nvSpPr>
          <p:spPr>
            <a:xfrm>
              <a:off x="7723335" y="3820160"/>
              <a:ext cx="3729525" cy="965200"/>
            </a:xfrm>
            <a:prstGeom prst="homePlate">
              <a:avLst>
                <a:gd name="adj" fmla="val 40174"/>
              </a:avLst>
            </a:prstGeom>
            <a:gradFill flip="none" rotWithShape="1">
              <a:gsLst>
                <a:gs pos="12000">
                  <a:srgbClr val="F1FDF9">
                    <a:alpha val="0"/>
                  </a:srgbClr>
                </a:gs>
                <a:gs pos="0">
                  <a:schemeClr val="bg1">
                    <a:alpha val="0"/>
                  </a:schemeClr>
                </a:gs>
                <a:gs pos="73000">
                  <a:schemeClr val="accent3">
                    <a:alpha val="46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76200"/>
            </a:effectLst>
          </p:spPr>
          <p:txBody>
            <a:bodyPr wrap="square" lIns="827999" tIns="0" rIns="381000" bIns="0" rtlCol="0" anchor="ctr">
              <a:noAutofit/>
            </a:bodyPr>
            <a:lstStyle/>
            <a:p>
              <a:pPr algn="l"/>
              <a:endParaRPr lang="ru-RU" sz="1200" b="1" dirty="0">
                <a:solidFill>
                  <a:srgbClr val="0B6E4F"/>
                </a:solidFill>
              </a:endParaRPr>
            </a:p>
          </p:txBody>
        </p:sp>
        <p:sp>
          <p:nvSpPr>
            <p:cNvPr id="913" name="Рисунок 63">
              <a:extLst>
                <a:ext uri="{FF2B5EF4-FFF2-40B4-BE49-F238E27FC236}">
                  <a16:creationId xmlns:a16="http://schemas.microsoft.com/office/drawing/2014/main" id="{46BBB954-0DC2-BDE3-EAB4-ABA683FAD242}"/>
                </a:ext>
              </a:extLst>
            </p:cNvPr>
            <p:cNvSpPr/>
            <p:nvPr/>
          </p:nvSpPr>
          <p:spPr>
            <a:xfrm rot="16200000">
              <a:off x="10912743" y="4142973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4" name="Рисунок 63">
              <a:extLst>
                <a:ext uri="{FF2B5EF4-FFF2-40B4-BE49-F238E27FC236}">
                  <a16:creationId xmlns:a16="http://schemas.microsoft.com/office/drawing/2014/main" id="{5CD17F6E-9EAB-3033-768F-D1F7840C4A19}"/>
                </a:ext>
              </a:extLst>
            </p:cNvPr>
            <p:cNvSpPr/>
            <p:nvPr/>
          </p:nvSpPr>
          <p:spPr>
            <a:xfrm rot="16200000">
              <a:off x="11128252" y="4142974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15" name="Группа 914">
            <a:extLst>
              <a:ext uri="{FF2B5EF4-FFF2-40B4-BE49-F238E27FC236}">
                <a16:creationId xmlns:a16="http://schemas.microsoft.com/office/drawing/2014/main" id="{B5B4F268-1D37-E23F-CA55-6778D806C270}"/>
              </a:ext>
            </a:extLst>
          </p:cNvPr>
          <p:cNvGrpSpPr/>
          <p:nvPr/>
        </p:nvGrpSpPr>
        <p:grpSpPr>
          <a:xfrm>
            <a:off x="4367174" y="4357526"/>
            <a:ext cx="1534475" cy="373946"/>
            <a:chOff x="7723335" y="3820160"/>
            <a:chExt cx="3960665" cy="965200"/>
          </a:xfrm>
        </p:grpSpPr>
        <p:sp>
          <p:nvSpPr>
            <p:cNvPr id="916" name="Lane fast 228">
              <a:extLst>
                <a:ext uri="{FF2B5EF4-FFF2-40B4-BE49-F238E27FC236}">
                  <a16:creationId xmlns:a16="http://schemas.microsoft.com/office/drawing/2014/main" id="{4FE111CB-EC1D-175C-5EC9-828AFF2E22C4}"/>
                </a:ext>
              </a:extLst>
            </p:cNvPr>
            <p:cNvSpPr/>
            <p:nvPr/>
          </p:nvSpPr>
          <p:spPr>
            <a:xfrm>
              <a:off x="7723335" y="3820160"/>
              <a:ext cx="3729525" cy="965200"/>
            </a:xfrm>
            <a:prstGeom prst="homePlate">
              <a:avLst>
                <a:gd name="adj" fmla="val 40174"/>
              </a:avLst>
            </a:prstGeom>
            <a:gradFill flip="none" rotWithShape="1">
              <a:gsLst>
                <a:gs pos="12000">
                  <a:srgbClr val="F1FDF9">
                    <a:alpha val="0"/>
                  </a:srgbClr>
                </a:gs>
                <a:gs pos="0">
                  <a:schemeClr val="bg1">
                    <a:alpha val="0"/>
                  </a:schemeClr>
                </a:gs>
                <a:gs pos="73000">
                  <a:schemeClr val="accent3">
                    <a:alpha val="46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76200"/>
            </a:effectLst>
          </p:spPr>
          <p:txBody>
            <a:bodyPr wrap="square" lIns="827999" tIns="0" rIns="381000" bIns="0" rtlCol="0" anchor="ctr">
              <a:noAutofit/>
            </a:bodyPr>
            <a:lstStyle/>
            <a:p>
              <a:pPr algn="l"/>
              <a:endParaRPr lang="ru-RU" sz="1200" b="1" dirty="0">
                <a:solidFill>
                  <a:srgbClr val="0B6E4F"/>
                </a:solidFill>
              </a:endParaRPr>
            </a:p>
          </p:txBody>
        </p:sp>
        <p:sp>
          <p:nvSpPr>
            <p:cNvPr id="917" name="Рисунок 63">
              <a:extLst>
                <a:ext uri="{FF2B5EF4-FFF2-40B4-BE49-F238E27FC236}">
                  <a16:creationId xmlns:a16="http://schemas.microsoft.com/office/drawing/2014/main" id="{E0FBD310-1BDC-DD20-07C7-018E472C8DA8}"/>
                </a:ext>
              </a:extLst>
            </p:cNvPr>
            <p:cNvSpPr/>
            <p:nvPr/>
          </p:nvSpPr>
          <p:spPr>
            <a:xfrm rot="16200000">
              <a:off x="10912743" y="4142973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8" name="Рисунок 63">
              <a:extLst>
                <a:ext uri="{FF2B5EF4-FFF2-40B4-BE49-F238E27FC236}">
                  <a16:creationId xmlns:a16="http://schemas.microsoft.com/office/drawing/2014/main" id="{3A68D8CF-471E-EBA7-D9A2-F3C9BDA3BBB1}"/>
                </a:ext>
              </a:extLst>
            </p:cNvPr>
            <p:cNvSpPr/>
            <p:nvPr/>
          </p:nvSpPr>
          <p:spPr>
            <a:xfrm rot="16200000">
              <a:off x="11128252" y="4142974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19" name="Группа 918">
            <a:extLst>
              <a:ext uri="{FF2B5EF4-FFF2-40B4-BE49-F238E27FC236}">
                <a16:creationId xmlns:a16="http://schemas.microsoft.com/office/drawing/2014/main" id="{2A251595-D97E-BFE2-8BB2-0C6719CD2B76}"/>
              </a:ext>
            </a:extLst>
          </p:cNvPr>
          <p:cNvGrpSpPr/>
          <p:nvPr/>
        </p:nvGrpSpPr>
        <p:grpSpPr>
          <a:xfrm>
            <a:off x="4367174" y="4831231"/>
            <a:ext cx="1534475" cy="373946"/>
            <a:chOff x="7723335" y="3820160"/>
            <a:chExt cx="3960665" cy="965200"/>
          </a:xfrm>
        </p:grpSpPr>
        <p:sp>
          <p:nvSpPr>
            <p:cNvPr id="920" name="Lane fast 228">
              <a:extLst>
                <a:ext uri="{FF2B5EF4-FFF2-40B4-BE49-F238E27FC236}">
                  <a16:creationId xmlns:a16="http://schemas.microsoft.com/office/drawing/2014/main" id="{C394D86D-011D-3F02-EF6C-F9F1E5C71432}"/>
                </a:ext>
              </a:extLst>
            </p:cNvPr>
            <p:cNvSpPr/>
            <p:nvPr/>
          </p:nvSpPr>
          <p:spPr>
            <a:xfrm>
              <a:off x="7723335" y="3820160"/>
              <a:ext cx="3729525" cy="965200"/>
            </a:xfrm>
            <a:prstGeom prst="homePlate">
              <a:avLst>
                <a:gd name="adj" fmla="val 40174"/>
              </a:avLst>
            </a:prstGeom>
            <a:gradFill flip="none" rotWithShape="1">
              <a:gsLst>
                <a:gs pos="12000">
                  <a:srgbClr val="F1FDF9">
                    <a:alpha val="0"/>
                  </a:srgbClr>
                </a:gs>
                <a:gs pos="0">
                  <a:schemeClr val="bg1">
                    <a:alpha val="0"/>
                  </a:schemeClr>
                </a:gs>
                <a:gs pos="73000">
                  <a:schemeClr val="accent3">
                    <a:alpha val="46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softEdge rad="76200"/>
            </a:effectLst>
          </p:spPr>
          <p:txBody>
            <a:bodyPr wrap="square" lIns="827999" tIns="0" rIns="381000" bIns="0" rtlCol="0" anchor="ctr">
              <a:noAutofit/>
            </a:bodyPr>
            <a:lstStyle/>
            <a:p>
              <a:pPr algn="l"/>
              <a:endParaRPr lang="ru-RU" sz="1200" b="1" dirty="0">
                <a:solidFill>
                  <a:srgbClr val="0B6E4F"/>
                </a:solidFill>
              </a:endParaRPr>
            </a:p>
          </p:txBody>
        </p:sp>
        <p:sp>
          <p:nvSpPr>
            <p:cNvPr id="921" name="Рисунок 63">
              <a:extLst>
                <a:ext uri="{FF2B5EF4-FFF2-40B4-BE49-F238E27FC236}">
                  <a16:creationId xmlns:a16="http://schemas.microsoft.com/office/drawing/2014/main" id="{AF5CA77D-F2F2-2714-5077-02C1E6CA93BA}"/>
                </a:ext>
              </a:extLst>
            </p:cNvPr>
            <p:cNvSpPr/>
            <p:nvPr/>
          </p:nvSpPr>
          <p:spPr>
            <a:xfrm rot="16200000">
              <a:off x="10912743" y="4142973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2" name="Рисунок 63">
              <a:extLst>
                <a:ext uri="{FF2B5EF4-FFF2-40B4-BE49-F238E27FC236}">
                  <a16:creationId xmlns:a16="http://schemas.microsoft.com/office/drawing/2014/main" id="{C59A1AF4-974A-B037-99D3-73C9A8E493D9}"/>
                </a:ext>
              </a:extLst>
            </p:cNvPr>
            <p:cNvSpPr/>
            <p:nvPr/>
          </p:nvSpPr>
          <p:spPr>
            <a:xfrm rot="16200000">
              <a:off x="11128252" y="4142974"/>
              <a:ext cx="791925" cy="319571"/>
            </a:xfrm>
            <a:custGeom>
              <a:avLst/>
              <a:gdLst>
                <a:gd name="connsiteX0" fmla="*/ 395964 w 791925"/>
                <a:gd name="connsiteY0" fmla="*/ 319571 h 319571"/>
                <a:gd name="connsiteX1" fmla="*/ 370515 w 791925"/>
                <a:gd name="connsiteY1" fmla="*/ 311768 h 319571"/>
                <a:gd name="connsiteX2" fmla="*/ 10549 w 791925"/>
                <a:gd name="connsiteY2" fmla="*/ 45460 h 319571"/>
                <a:gd name="connsiteX3" fmla="*/ 10549 w 791925"/>
                <a:gd name="connsiteY3" fmla="*/ 7804 h 319571"/>
                <a:gd name="connsiteX4" fmla="*/ 61448 w 791925"/>
                <a:gd name="connsiteY4" fmla="*/ 7804 h 319571"/>
                <a:gd name="connsiteX5" fmla="*/ 395964 w 791925"/>
                <a:gd name="connsiteY5" fmla="*/ 255284 h 319571"/>
                <a:gd name="connsiteX6" fmla="*/ 730481 w 791925"/>
                <a:gd name="connsiteY6" fmla="*/ 7804 h 319571"/>
                <a:gd name="connsiteX7" fmla="*/ 781380 w 791925"/>
                <a:gd name="connsiteY7" fmla="*/ 7804 h 319571"/>
                <a:gd name="connsiteX8" fmla="*/ 781380 w 791925"/>
                <a:gd name="connsiteY8" fmla="*/ 45460 h 319571"/>
                <a:gd name="connsiteX9" fmla="*/ 421414 w 791925"/>
                <a:gd name="connsiteY9" fmla="*/ 311768 h 319571"/>
                <a:gd name="connsiteX10" fmla="*/ 395964 w 791925"/>
                <a:gd name="connsiteY10" fmla="*/ 319571 h 31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925" h="319571">
                  <a:moveTo>
                    <a:pt x="395964" y="319571"/>
                  </a:moveTo>
                  <a:cubicBezTo>
                    <a:pt x="386758" y="319571"/>
                    <a:pt x="377543" y="316968"/>
                    <a:pt x="370515" y="311768"/>
                  </a:cubicBezTo>
                  <a:lnTo>
                    <a:pt x="10549" y="45460"/>
                  </a:lnTo>
                  <a:cubicBezTo>
                    <a:pt x="-3516" y="35054"/>
                    <a:pt x="-3516" y="18204"/>
                    <a:pt x="10549" y="7804"/>
                  </a:cubicBezTo>
                  <a:cubicBezTo>
                    <a:pt x="24615" y="-2595"/>
                    <a:pt x="47392" y="-2601"/>
                    <a:pt x="61448" y="7804"/>
                  </a:cubicBezTo>
                  <a:lnTo>
                    <a:pt x="395964" y="255284"/>
                  </a:lnTo>
                  <a:lnTo>
                    <a:pt x="730481" y="7804"/>
                  </a:lnTo>
                  <a:cubicBezTo>
                    <a:pt x="744546" y="-2601"/>
                    <a:pt x="767323" y="-2601"/>
                    <a:pt x="781380" y="7804"/>
                  </a:cubicBezTo>
                  <a:cubicBezTo>
                    <a:pt x="795436" y="18210"/>
                    <a:pt x="795445" y="35061"/>
                    <a:pt x="781380" y="45460"/>
                  </a:cubicBezTo>
                  <a:lnTo>
                    <a:pt x="421414" y="311768"/>
                  </a:lnTo>
                  <a:cubicBezTo>
                    <a:pt x="414386" y="316968"/>
                    <a:pt x="405171" y="319571"/>
                    <a:pt x="395964" y="319571"/>
                  </a:cubicBezTo>
                  <a:close/>
                </a:path>
              </a:pathLst>
            </a:custGeom>
            <a:gradFill>
              <a:gsLst>
                <a:gs pos="98000">
                  <a:schemeClr val="accent3">
                    <a:lumMod val="31000"/>
                  </a:schemeClr>
                </a:gs>
                <a:gs pos="52000">
                  <a:schemeClr val="accent3"/>
                </a:gs>
                <a:gs pos="26000">
                  <a:schemeClr val="accent2"/>
                </a:gs>
                <a:gs pos="0">
                  <a:schemeClr val="accent3">
                    <a:lumMod val="97000"/>
                    <a:lumOff val="3000"/>
                  </a:schemeClr>
                </a:gs>
              </a:gsLst>
              <a:path path="circle">
                <a:fillToRect l="100000" t="100000"/>
              </a:path>
            </a:gra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924" name="Рисунок 923">
            <a:extLst>
              <a:ext uri="{FF2B5EF4-FFF2-40B4-BE49-F238E27FC236}">
                <a16:creationId xmlns:a16="http://schemas.microsoft.com/office/drawing/2014/main" id="{74B4BD65-F688-5321-13DD-1450EE4AF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621" y="1906691"/>
            <a:ext cx="2336564" cy="2336564"/>
          </a:xfrm>
          <a:prstGeom prst="rect">
            <a:avLst/>
          </a:prstGeom>
          <a:effectLst>
            <a:outerShdw blurRad="101600" dist="38100" dir="2700000" algn="tl" rotWithShape="0">
              <a:schemeClr val="bg1">
                <a:alpha val="40000"/>
              </a:schemeClr>
            </a:outerShdw>
          </a:effectLst>
        </p:spPr>
      </p:pic>
      <p:cxnSp>
        <p:nvCxnSpPr>
          <p:cNvPr id="926" name="Прямая соединительная линия 925">
            <a:extLst>
              <a:ext uri="{FF2B5EF4-FFF2-40B4-BE49-F238E27FC236}">
                <a16:creationId xmlns:a16="http://schemas.microsoft.com/office/drawing/2014/main" id="{E3A4ADA0-CF88-2774-0A93-426BEF5A3F4C}"/>
              </a:ext>
            </a:extLst>
          </p:cNvPr>
          <p:cNvCxnSpPr/>
          <p:nvPr/>
        </p:nvCxnSpPr>
        <p:spPr>
          <a:xfrm>
            <a:off x="9472972" y="4444790"/>
            <a:ext cx="1726088" cy="0"/>
          </a:xfrm>
          <a:prstGeom prst="line">
            <a:avLst/>
          </a:prstGeom>
          <a:ln w="12700">
            <a:solidFill>
              <a:schemeClr val="bg1">
                <a:alpha val="85000"/>
              </a:schemeClr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78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Скругленный прямоугольник 4">
            <a:extLst>
              <a:ext uri="{FF2B5EF4-FFF2-40B4-BE49-F238E27FC236}">
                <a16:creationId xmlns:a16="http://schemas.microsoft.com/office/drawing/2014/main" id="{A9F75FCD-37B8-0391-8404-10B7B152C5ED}"/>
              </a:ext>
            </a:extLst>
          </p:cNvPr>
          <p:cNvSpPr/>
          <p:nvPr/>
        </p:nvSpPr>
        <p:spPr bwMode="auto">
          <a:xfrm>
            <a:off x="457200" y="1371600"/>
            <a:ext cx="11277570" cy="5029200"/>
          </a:xfrm>
          <a:prstGeom prst="roundRect">
            <a:avLst>
              <a:gd name="adj" fmla="val 3975"/>
            </a:avLst>
          </a:prstGeom>
          <a:gradFill flip="none" rotWithShape="1">
            <a:gsLst>
              <a:gs pos="28000">
                <a:schemeClr val="bg2">
                  <a:alpha val="0"/>
                </a:schemeClr>
              </a:gs>
              <a:gs pos="100000">
                <a:schemeClr val="bg1">
                  <a:lumMod val="0"/>
                  <a:lumOff val="100000"/>
                </a:schemeClr>
              </a:gs>
            </a:gsLst>
            <a:lin ang="10800000" scaled="1"/>
            <a:tileRect/>
          </a:gradFill>
          <a:ln>
            <a:gradFill flip="none" rotWithShape="1">
              <a:gsLst>
                <a:gs pos="2000">
                  <a:schemeClr val="bg1"/>
                </a:gs>
                <a:gs pos="100000">
                  <a:schemeClr val="accent3"/>
                </a:gs>
              </a:gsLst>
              <a:lin ang="2700000" scaled="1"/>
              <a:tileRect/>
            </a:gradFill>
          </a:ln>
          <a:effectLst>
            <a:outerShdw blurRad="127000" dist="127000" dir="12000000" sx="99000" sy="99000" algn="br" rotWithShape="0">
              <a:schemeClr val="accent3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B Sans Display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BC3FA7-BDEF-77A1-352C-06FA51C0CD3D}"/>
              </a:ext>
            </a:extLst>
          </p:cNvPr>
          <p:cNvSpPr txBox="1"/>
          <p:nvPr/>
        </p:nvSpPr>
        <p:spPr>
          <a:xfrm flipV="1">
            <a:off x="594360" y="1412748"/>
            <a:ext cx="1371600" cy="3062326"/>
          </a:xfrm>
          <a:prstGeom prst="roundRect">
            <a:avLst>
              <a:gd name="adj" fmla="val 11650"/>
            </a:avLst>
          </a:prstGeom>
          <a:gradFill flip="none" rotWithShape="1">
            <a:gsLst>
              <a:gs pos="44000">
                <a:schemeClr val="accent3">
                  <a:lumMod val="50000"/>
                  <a:alpha val="0"/>
                </a:schemeClr>
              </a:gs>
              <a:gs pos="0">
                <a:schemeClr val="accent3">
                  <a:lumMod val="86000"/>
                  <a:alpha val="57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216000" rIns="0" bIns="72000" rtlCol="0" anchor="t">
            <a:noAutofit/>
          </a:bodyPr>
          <a:lstStyle>
            <a:defPPr>
              <a:defRPr lang="ru-RU"/>
            </a:defPPr>
            <a:lvl1pPr algn="ctr">
              <a:spcAft>
                <a:spcPts val="1800"/>
              </a:spcAft>
              <a:defRPr sz="1600" kern="0">
                <a:solidFill>
                  <a:srgbClr val="FFFFFF"/>
                </a:solidFill>
                <a:latin typeface="SB Sans Display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90000"/>
              </a:lnSpc>
              <a:spcAft>
                <a:spcPts val="0"/>
              </a:spcAft>
              <a:defRPr/>
            </a:pPr>
            <a:endParaRPr lang="ru-RU" sz="1200" b="1" dirty="0">
              <a:cs typeface="SB Sans Display" panose="020B0503040504020204" pitchFamily="34" charset="0"/>
            </a:endParaRP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450D952-C79A-41B9-ADDA-6212F97D7CFA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1127757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defTabSz="609630">
              <a:defRPr sz="1400" b="0">
                <a:solidFill>
                  <a:srgbClr val="111111"/>
                </a:solidFill>
              </a:defRPr>
            </a:pP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В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опубликованном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онбординге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Claude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ответы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о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себе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формируют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первый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запрос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. ChatGPT, Gemini</a:t>
            </a:r>
          </a:p>
          <a:p>
            <a:pPr defTabSz="609630">
              <a:defRPr sz="1400" b="0">
                <a:solidFill>
                  <a:srgbClr val="111111"/>
                </a:solidFill>
              </a:defRPr>
            </a:pP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и Copilot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используют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настройки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общения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,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личный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контекст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 и </a:t>
            </a:r>
            <a:r>
              <a:rPr sz="1400" b="0" dirty="0" err="1">
                <a:latin typeface="SB Sans Display" panose="020B0503040504020204" pitchFamily="34" charset="0"/>
                <a:cs typeface="SB Sans Display" panose="020B0503040504020204" pitchFamily="34" charset="0"/>
              </a:rPr>
              <a:t>память</a:t>
            </a:r>
            <a:r>
              <a:rPr sz="1400" b="0" dirty="0">
                <a:latin typeface="SB Sans Display" panose="020B0503040504020204" pitchFamily="34" charset="0"/>
                <a:cs typeface="SB Sans Display" panose="020B0503040504020204" pitchFamily="34" charset="0"/>
              </a:rPr>
              <a:t>.</a:t>
            </a:r>
          </a:p>
        </p:txBody>
      </p:sp>
      <p:sp>
        <p:nvSpPr>
          <p:cNvPr id="5" name="claude-column">
            <a:extLst>
              <a:ext uri="{FF2B5EF4-FFF2-40B4-BE49-F238E27FC236}">
                <a16:creationId xmlns:a16="http://schemas.microsoft.com/office/drawing/2014/main" id="{748B38E8-BC4E-41ED-814E-75D53777787A}"/>
              </a:ext>
            </a:extLst>
          </p:cNvPr>
          <p:cNvSpPr>
            <a:spLocks noGrp="1"/>
          </p:cNvSpPr>
          <p:nvPr/>
        </p:nvSpPr>
        <p:spPr>
          <a:xfrm>
            <a:off x="2061972" y="1440180"/>
            <a:ext cx="1848606" cy="4892040"/>
          </a:xfrm>
          <a:prstGeom prst="roundRect">
            <a:avLst>
              <a:gd name="adj" fmla="val 9000"/>
            </a:avLst>
          </a:prstGeom>
          <a:solidFill>
            <a:schemeClr val="accent2">
              <a:lumMod val="75000"/>
              <a:alpha val="28000"/>
            </a:schemeClr>
          </a:solidFill>
          <a:ln w="12383">
            <a:noFill/>
          </a:ln>
        </p:spPr>
        <p:txBody>
          <a:bodyPr/>
          <a:lstStyle/>
          <a:p>
            <a:pPr defTabSz="609630"/>
            <a:endParaRPr lang="ru-RU" sz="1200">
              <a:solidFill>
                <a:srgbClr val="111111"/>
              </a:solidFill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pic>
        <p:nvPicPr>
          <p:cNvPr id="41" name="Рисунок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71700" y="1618386"/>
            <a:ext cx="393700" cy="393700"/>
          </a:xfrm>
          <a:prstGeom prst="roundRect">
            <a:avLst>
              <a:gd name="adj" fmla="val 20968"/>
            </a:avLst>
          </a:prstGeom>
        </p:spPr>
      </p:pic>
      <p:sp>
        <p:nvSpPr>
          <p:cNvPr id="7" name="claude-name">
            <a:extLst>
              <a:ext uri="{FF2B5EF4-FFF2-40B4-BE49-F238E27FC236}">
                <a16:creationId xmlns:a16="http://schemas.microsoft.com/office/drawing/2014/main" id="{7B059000-3029-4F7D-AA35-74F85BA27760}"/>
              </a:ext>
            </a:extLst>
          </p:cNvPr>
          <p:cNvSpPr>
            <a:spLocks noGrp="1"/>
          </p:cNvSpPr>
          <p:nvPr/>
        </p:nvSpPr>
        <p:spPr>
          <a:xfrm>
            <a:off x="2653589" y="1675536"/>
            <a:ext cx="1212850" cy="387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3225" b="1" u="sng">
                <a:solidFill>
                  <a:srgbClr val="6B6B6B"/>
                </a:solidFill>
              </a:defRPr>
            </a:pPr>
            <a:r>
              <a:rPr sz="1800" b="1" spc="-30" dirty="0">
                <a:latin typeface="SB Sans Display" panose="020B0503040504020204" pitchFamily="34" charset="0"/>
                <a:cs typeface="SB Sans Display" panose="020B0503040504020204" pitchFamily="34" charset="0"/>
              </a:rPr>
              <a:t>Claude</a:t>
            </a:r>
          </a:p>
        </p:txBody>
      </p:sp>
      <p:sp>
        <p:nvSpPr>
          <p:cNvPr id="8" name="claude-kind">
            <a:extLst>
              <a:ext uri="{FF2B5EF4-FFF2-40B4-BE49-F238E27FC236}">
                <a16:creationId xmlns:a16="http://schemas.microsoft.com/office/drawing/2014/main" id="{869A6C0F-20EF-47E3-9983-9A5BDCA805A3}"/>
              </a:ext>
            </a:extLst>
          </p:cNvPr>
          <p:cNvSpPr>
            <a:spLocks noGrp="1"/>
          </p:cNvSpPr>
          <p:nvPr/>
        </p:nvSpPr>
        <p:spPr>
          <a:xfrm>
            <a:off x="2171700" y="2120036"/>
            <a:ext cx="16891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1650" b="0">
                <a:solidFill>
                  <a:srgbClr val="6B6B6B"/>
                </a:solidFill>
              </a:defRPr>
            </a:pPr>
            <a:r>
              <a:rPr sz="1000">
                <a:solidFill>
                  <a:srgbClr val="6B6B6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AI-ассистент Anthropic</a:t>
            </a:r>
          </a:p>
        </p:txBody>
      </p:sp>
      <p:sp>
        <p:nvSpPr>
          <p:cNvPr id="9" name="claude-description">
            <a:extLst>
              <a:ext uri="{FF2B5EF4-FFF2-40B4-BE49-F238E27FC236}">
                <a16:creationId xmlns:a16="http://schemas.microsoft.com/office/drawing/2014/main" id="{E4E2CBC7-D2A7-4902-AC26-8AD707BBCB04}"/>
              </a:ext>
            </a:extLst>
          </p:cNvPr>
          <p:cNvSpPr>
            <a:spLocks noGrp="1"/>
          </p:cNvSpPr>
          <p:nvPr/>
        </p:nvSpPr>
        <p:spPr>
          <a:xfrm>
            <a:off x="2171700" y="2354986"/>
            <a:ext cx="1689100" cy="469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187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Для текстов, анализа</a:t>
            </a:r>
          </a:p>
          <a:p>
            <a:pPr defTabSz="609630">
              <a:defRPr sz="187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и работы с кодом</a:t>
            </a:r>
          </a:p>
        </p:txBody>
      </p:sp>
      <p:sp>
        <p:nvSpPr>
          <p:cNvPr id="700" name="cell-block"/>
          <p:cNvSpPr/>
          <p:nvPr/>
        </p:nvSpPr>
        <p:spPr>
          <a:xfrm>
            <a:off x="2138142" y="2964485"/>
            <a:ext cx="1696175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01" name="cell-block"/>
          <p:cNvSpPr/>
          <p:nvPr/>
        </p:nvSpPr>
        <p:spPr>
          <a:xfrm>
            <a:off x="2138142" y="4823826"/>
            <a:ext cx="1696175" cy="14321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45" name="Таблица 44"/>
          <p:cNvGraphicFramePr/>
          <p:nvPr>
            <p:extLst>
              <p:ext uri="{D42A27DB-BD31-4B8C-83A1-F6EECF244321}">
                <p14:modId xmlns:p14="http://schemas.microsoft.com/office/powerpoint/2010/main" val="3213725659"/>
              </p:ext>
            </p:extLst>
          </p:nvPr>
        </p:nvGraphicFramePr>
        <p:xfrm>
          <a:off x="2138142" y="2964485"/>
          <a:ext cx="1696175" cy="3367735"/>
        </p:xfrm>
        <a:graphic>
          <a:graphicData uri="http://schemas.openxmlformats.org/drawingml/2006/table">
            <a:tbl>
              <a:tblPr/>
              <a:tblGrid>
                <a:gridCol w="169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9341">
                <a:tc>
                  <a:txBody>
                    <a:bodyPr/>
                    <a:lstStyle/>
                    <a:p>
                      <a:r>
                        <a:rPr lang="ru-RU" sz="1050" b="0" dirty="0">
                          <a:solidFill>
                            <a:srgbClr val="111111"/>
                          </a:solidFill>
                        </a:rPr>
                        <a:t>И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мя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,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интересы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тип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задачи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помогают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подготовить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первый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запрос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.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Его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можно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отправить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или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изменить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394">
                <a:tc>
                  <a:txBody>
                    <a:bodyPr/>
                    <a:lstStyle/>
                    <a:p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Прямой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аналог</a:t>
                      </a:r>
                      <a:endParaRPr sz="1050" b="1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Ответы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о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себе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сразу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определяют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первое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взаимодействие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Пользователь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получает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начало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разговора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hatgpt-column">
            <a:extLst>
              <a:ext uri="{FF2B5EF4-FFF2-40B4-BE49-F238E27FC236}">
                <a16:creationId xmlns:a16="http://schemas.microsoft.com/office/drawing/2014/main" id="{68B40029-6D01-4424-AD65-0EAEC6E510FF}"/>
              </a:ext>
            </a:extLst>
          </p:cNvPr>
          <p:cNvSpPr>
            <a:spLocks noGrp="1"/>
          </p:cNvSpPr>
          <p:nvPr/>
        </p:nvSpPr>
        <p:spPr>
          <a:xfrm>
            <a:off x="3983730" y="1440180"/>
            <a:ext cx="1848606" cy="4892040"/>
          </a:xfrm>
          <a:prstGeom prst="roundRect">
            <a:avLst>
              <a:gd name="adj" fmla="val 9000"/>
            </a:avLst>
          </a:prstGeom>
          <a:solidFill>
            <a:schemeClr val="accent4">
              <a:lumMod val="60000"/>
              <a:lumOff val="40000"/>
              <a:alpha val="25000"/>
            </a:schemeClr>
          </a:solidFill>
          <a:ln w="12383">
            <a:noFill/>
          </a:ln>
        </p:spPr>
        <p:txBody>
          <a:bodyPr/>
          <a:lstStyle/>
          <a:p>
            <a:pPr defTabSz="609630"/>
            <a:endParaRPr lang="ru-RU" sz="1200">
              <a:solidFill>
                <a:srgbClr val="111111"/>
              </a:solidFill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pic>
        <p:nvPicPr>
          <p:cNvPr id="47" name="Рисунок 4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93458" y="1618386"/>
            <a:ext cx="393700" cy="393700"/>
          </a:xfrm>
          <a:prstGeom prst="roundRect">
            <a:avLst>
              <a:gd name="adj" fmla="val 20968"/>
            </a:avLst>
          </a:prstGeom>
        </p:spPr>
      </p:pic>
      <p:sp>
        <p:nvSpPr>
          <p:cNvPr id="13" name="chatgpt-name">
            <a:extLst>
              <a:ext uri="{FF2B5EF4-FFF2-40B4-BE49-F238E27FC236}">
                <a16:creationId xmlns:a16="http://schemas.microsoft.com/office/drawing/2014/main" id="{DF37046B-0C21-4559-90BC-E6DF9F833760}"/>
              </a:ext>
            </a:extLst>
          </p:cNvPr>
          <p:cNvSpPr>
            <a:spLocks noGrp="1"/>
          </p:cNvSpPr>
          <p:nvPr/>
        </p:nvSpPr>
        <p:spPr>
          <a:xfrm>
            <a:off x="4575347" y="1675536"/>
            <a:ext cx="1212850" cy="387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3000" b="1" u="sng">
                <a:solidFill>
                  <a:srgbClr val="6B6B6B"/>
                </a:solidFill>
              </a:defRPr>
            </a:pPr>
            <a:r>
              <a:rPr sz="1800" b="1" spc="-30">
                <a:latin typeface="SB Sans Display" panose="020B0503040504020204" pitchFamily="34" charset="0"/>
                <a:cs typeface="SB Sans Display" panose="020B0503040504020204" pitchFamily="34" charset="0"/>
              </a:rPr>
              <a:t>ChatGPT</a:t>
            </a:r>
          </a:p>
        </p:txBody>
      </p:sp>
      <p:sp>
        <p:nvSpPr>
          <p:cNvPr id="14" name="chatgpt-kind">
            <a:extLst>
              <a:ext uri="{FF2B5EF4-FFF2-40B4-BE49-F238E27FC236}">
                <a16:creationId xmlns:a16="http://schemas.microsoft.com/office/drawing/2014/main" id="{C1DDBEAF-7A2C-4BDA-BD09-5E7D03461863}"/>
              </a:ext>
            </a:extLst>
          </p:cNvPr>
          <p:cNvSpPr>
            <a:spLocks noGrp="1"/>
          </p:cNvSpPr>
          <p:nvPr/>
        </p:nvSpPr>
        <p:spPr>
          <a:xfrm>
            <a:off x="4093458" y="2120036"/>
            <a:ext cx="16891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1650" b="0">
                <a:solidFill>
                  <a:srgbClr val="6B6B6B"/>
                </a:solidFill>
              </a:defRPr>
            </a:pPr>
            <a:r>
              <a:rPr sz="1000">
                <a:solidFill>
                  <a:srgbClr val="6B6B6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AI-ассистент OpenAI</a:t>
            </a:r>
          </a:p>
        </p:txBody>
      </p:sp>
      <p:sp>
        <p:nvSpPr>
          <p:cNvPr id="15" name="chatgpt-description">
            <a:extLst>
              <a:ext uri="{FF2B5EF4-FFF2-40B4-BE49-F238E27FC236}">
                <a16:creationId xmlns:a16="http://schemas.microsoft.com/office/drawing/2014/main" id="{FA0F5581-CAFE-492E-BE30-18D544F8ECE5}"/>
              </a:ext>
            </a:extLst>
          </p:cNvPr>
          <p:cNvSpPr>
            <a:spLocks noGrp="1"/>
          </p:cNvSpPr>
          <p:nvPr/>
        </p:nvSpPr>
        <p:spPr>
          <a:xfrm>
            <a:off x="4093458" y="2354986"/>
            <a:ext cx="1689100" cy="469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187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Для рабочих и</a:t>
            </a:r>
          </a:p>
          <a:p>
            <a:pPr defTabSz="609630">
              <a:defRPr sz="187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повседневных задач</a:t>
            </a:r>
          </a:p>
        </p:txBody>
      </p:sp>
      <p:sp>
        <p:nvSpPr>
          <p:cNvPr id="702" name="cell-block"/>
          <p:cNvSpPr/>
          <p:nvPr/>
        </p:nvSpPr>
        <p:spPr>
          <a:xfrm>
            <a:off x="4059899" y="2964485"/>
            <a:ext cx="1696175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03" name="cell-block"/>
          <p:cNvSpPr/>
          <p:nvPr/>
        </p:nvSpPr>
        <p:spPr>
          <a:xfrm>
            <a:off x="4059899" y="4823826"/>
            <a:ext cx="1696175" cy="14321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51" name="Таблица 50"/>
          <p:cNvGraphicFramePr/>
          <p:nvPr>
            <p:extLst>
              <p:ext uri="{D42A27DB-BD31-4B8C-83A1-F6EECF244321}">
                <p14:modId xmlns:p14="http://schemas.microsoft.com/office/powerpoint/2010/main" val="1492642488"/>
              </p:ext>
            </p:extLst>
          </p:nvPr>
        </p:nvGraphicFramePr>
        <p:xfrm>
          <a:off x="4059899" y="2964485"/>
          <a:ext cx="1696175" cy="3367735"/>
        </p:xfrm>
        <a:graphic>
          <a:graphicData uri="http://schemas.openxmlformats.org/drawingml/2006/table">
            <a:tbl>
              <a:tblPr/>
              <a:tblGrid>
                <a:gridCol w="169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9341">
                <a:tc>
                  <a:txBody>
                    <a:bodyPr/>
                    <a:lstStyle/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Выбор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характера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общения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персональные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инструкции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.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Память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переносит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предпочтения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полезный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контекст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между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разговорами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394">
                <a:tc>
                  <a:txBody>
                    <a:bodyPr/>
                    <a:lstStyle/>
                    <a:p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Частичный</a:t>
                      </a:r>
                      <a:r>
                        <a:rPr sz="1050" b="1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11111"/>
                          </a:solidFill>
                        </a:rPr>
                        <a:t>аналог</a:t>
                      </a:r>
                      <a:endParaRPr sz="1050" b="1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Настройка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под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себя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Обязательное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интервью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на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старте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не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подтверждено</a:t>
                      </a:r>
                      <a:endParaRPr sz="1050" b="0" dirty="0">
                        <a:solidFill>
                          <a:srgbClr val="111111"/>
                        </a:solidFill>
                      </a:endParaRPr>
                    </a:p>
                    <a:p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в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11111"/>
                          </a:solidFill>
                        </a:rPr>
                        <a:t>документации</a:t>
                      </a:r>
                      <a:r>
                        <a:rPr sz="1050" b="0" dirty="0">
                          <a:solidFill>
                            <a:srgbClr val="111111"/>
                          </a:solidFill>
                        </a:rPr>
                        <a:t>.</a:t>
                      </a: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gemini-column">
            <a:extLst>
              <a:ext uri="{FF2B5EF4-FFF2-40B4-BE49-F238E27FC236}">
                <a16:creationId xmlns:a16="http://schemas.microsoft.com/office/drawing/2014/main" id="{DC8EAB4D-E03D-4F3C-93E8-26C4C826D313}"/>
              </a:ext>
            </a:extLst>
          </p:cNvPr>
          <p:cNvSpPr>
            <a:spLocks noGrp="1"/>
          </p:cNvSpPr>
          <p:nvPr/>
        </p:nvSpPr>
        <p:spPr>
          <a:xfrm>
            <a:off x="5905488" y="1440180"/>
            <a:ext cx="1848606" cy="4892040"/>
          </a:xfrm>
          <a:prstGeom prst="roundRect">
            <a:avLst>
              <a:gd name="adj" fmla="val 9000"/>
            </a:avLst>
          </a:prstGeom>
          <a:solidFill>
            <a:schemeClr val="accent4">
              <a:lumMod val="60000"/>
              <a:lumOff val="40000"/>
              <a:alpha val="25000"/>
            </a:schemeClr>
          </a:solidFill>
          <a:ln w="12383">
            <a:noFill/>
          </a:ln>
        </p:spPr>
        <p:txBody>
          <a:bodyPr/>
          <a:lstStyle/>
          <a:p>
            <a:pPr defTabSz="609630"/>
            <a:endParaRPr lang="ru-RU" sz="1200">
              <a:solidFill>
                <a:srgbClr val="111111"/>
              </a:solidFill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pic>
        <p:nvPicPr>
          <p:cNvPr id="53" name="Рисунок 5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15216" y="1618386"/>
            <a:ext cx="393700" cy="393700"/>
          </a:xfrm>
          <a:prstGeom prst="roundRect">
            <a:avLst>
              <a:gd name="adj" fmla="val 20968"/>
            </a:avLst>
          </a:prstGeom>
        </p:spPr>
      </p:pic>
      <p:sp>
        <p:nvSpPr>
          <p:cNvPr id="19" name="gemini-name">
            <a:extLst>
              <a:ext uri="{FF2B5EF4-FFF2-40B4-BE49-F238E27FC236}">
                <a16:creationId xmlns:a16="http://schemas.microsoft.com/office/drawing/2014/main" id="{B48CB3B5-47F5-4E90-83C7-A3D82DC10C8C}"/>
              </a:ext>
            </a:extLst>
          </p:cNvPr>
          <p:cNvSpPr>
            <a:spLocks noGrp="1"/>
          </p:cNvSpPr>
          <p:nvPr/>
        </p:nvSpPr>
        <p:spPr>
          <a:xfrm>
            <a:off x="6497105" y="1675536"/>
            <a:ext cx="1212850" cy="387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3225" b="1" u="sng">
                <a:solidFill>
                  <a:srgbClr val="6B6B6B"/>
                </a:solidFill>
              </a:defRPr>
            </a:pPr>
            <a:r>
              <a:rPr sz="1800" b="1" spc="-30" dirty="0">
                <a:latin typeface="SB Sans Display" panose="020B0503040504020204" pitchFamily="34" charset="0"/>
                <a:cs typeface="SB Sans Display" panose="020B0503040504020204" pitchFamily="34" charset="0"/>
              </a:rPr>
              <a:t>Gemini</a:t>
            </a:r>
          </a:p>
        </p:txBody>
      </p:sp>
      <p:sp>
        <p:nvSpPr>
          <p:cNvPr id="20" name="gemini-kind">
            <a:extLst>
              <a:ext uri="{FF2B5EF4-FFF2-40B4-BE49-F238E27FC236}">
                <a16:creationId xmlns:a16="http://schemas.microsoft.com/office/drawing/2014/main" id="{1BC1200F-DE04-4031-A597-2AB74D60D395}"/>
              </a:ext>
            </a:extLst>
          </p:cNvPr>
          <p:cNvSpPr>
            <a:spLocks noGrp="1"/>
          </p:cNvSpPr>
          <p:nvPr/>
        </p:nvSpPr>
        <p:spPr>
          <a:xfrm>
            <a:off x="6015216" y="2120036"/>
            <a:ext cx="16891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1650" b="0">
                <a:solidFill>
                  <a:srgbClr val="6B6B6B"/>
                </a:solidFill>
              </a:defRPr>
            </a:pPr>
            <a:r>
              <a:rPr sz="1000">
                <a:solidFill>
                  <a:srgbClr val="6B6B6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AI-ассистент Google</a:t>
            </a:r>
          </a:p>
        </p:txBody>
      </p:sp>
      <p:sp>
        <p:nvSpPr>
          <p:cNvPr id="21" name="gemini-description">
            <a:extLst>
              <a:ext uri="{FF2B5EF4-FFF2-40B4-BE49-F238E27FC236}">
                <a16:creationId xmlns:a16="http://schemas.microsoft.com/office/drawing/2014/main" id="{E23DA356-9ADF-4A12-8506-C14096ADD7D9}"/>
              </a:ext>
            </a:extLst>
          </p:cNvPr>
          <p:cNvSpPr>
            <a:spLocks noGrp="1"/>
          </p:cNvSpPr>
          <p:nvPr/>
        </p:nvSpPr>
        <p:spPr>
          <a:xfrm>
            <a:off x="6015216" y="2354986"/>
            <a:ext cx="1689100" cy="469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187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Помощник в экосистеме</a:t>
            </a:r>
          </a:p>
          <a:p>
            <a:pPr defTabSz="609630">
              <a:defRPr sz="187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сервисов Google</a:t>
            </a:r>
          </a:p>
        </p:txBody>
      </p:sp>
      <p:sp>
        <p:nvSpPr>
          <p:cNvPr id="704" name="cell-block"/>
          <p:cNvSpPr/>
          <p:nvPr/>
        </p:nvSpPr>
        <p:spPr>
          <a:xfrm>
            <a:off x="5981657" y="2964485"/>
            <a:ext cx="1696175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05" name="cell-block"/>
          <p:cNvSpPr/>
          <p:nvPr/>
        </p:nvSpPr>
        <p:spPr>
          <a:xfrm>
            <a:off x="5981657" y="4823826"/>
            <a:ext cx="1696175" cy="14321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57" name="Таблица 56"/>
          <p:cNvGraphicFramePr/>
          <p:nvPr>
            <p:extLst>
              <p:ext uri="{D42A27DB-BD31-4B8C-83A1-F6EECF244321}">
                <p14:modId xmlns:p14="http://schemas.microsoft.com/office/powerpoint/2010/main" val="57113022"/>
              </p:ext>
            </p:extLst>
          </p:nvPr>
        </p:nvGraphicFramePr>
        <p:xfrm>
          <a:off x="5981657" y="2964485"/>
          <a:ext cx="1696175" cy="3367735"/>
        </p:xfrm>
        <a:graphic>
          <a:graphicData uri="http://schemas.openxmlformats.org/drawingml/2006/table">
            <a:tbl>
              <a:tblPr/>
              <a:tblGrid>
                <a:gridCol w="169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934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Личный контекст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из сервисов Google.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Импорт памяти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другого ассистента: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интересы, предпочтения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и сведения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об отношениях.</a:t>
                      </a: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39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Готовый контекст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Персональный опыт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можно получить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без повторного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заполнения анкеты.</a:t>
                      </a: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copilot-column">
            <a:extLst>
              <a:ext uri="{FF2B5EF4-FFF2-40B4-BE49-F238E27FC236}">
                <a16:creationId xmlns:a16="http://schemas.microsoft.com/office/drawing/2014/main" id="{AA17D79A-6B1E-4475-A611-5EB0168629BE}"/>
              </a:ext>
            </a:extLst>
          </p:cNvPr>
          <p:cNvSpPr>
            <a:spLocks noGrp="1"/>
          </p:cNvSpPr>
          <p:nvPr/>
        </p:nvSpPr>
        <p:spPr>
          <a:xfrm>
            <a:off x="7827246" y="1440180"/>
            <a:ext cx="1848606" cy="4892040"/>
          </a:xfrm>
          <a:prstGeom prst="roundRect">
            <a:avLst>
              <a:gd name="adj" fmla="val 9000"/>
            </a:avLst>
          </a:prstGeom>
          <a:solidFill>
            <a:schemeClr val="accent4">
              <a:lumMod val="60000"/>
              <a:lumOff val="40000"/>
              <a:alpha val="25000"/>
            </a:schemeClr>
          </a:solidFill>
          <a:ln w="12383">
            <a:noFill/>
          </a:ln>
        </p:spPr>
        <p:txBody>
          <a:bodyPr/>
          <a:lstStyle/>
          <a:p>
            <a:pPr defTabSz="609630"/>
            <a:endParaRPr lang="ru-RU" sz="1200">
              <a:solidFill>
                <a:srgbClr val="111111"/>
              </a:solidFill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pic>
        <p:nvPicPr>
          <p:cNvPr id="59" name="Рисунок 5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936974" y="1618386"/>
            <a:ext cx="393700" cy="393700"/>
          </a:xfrm>
          <a:prstGeom prst="roundRect">
            <a:avLst>
              <a:gd name="adj" fmla="val 20968"/>
            </a:avLst>
          </a:prstGeom>
        </p:spPr>
      </p:pic>
      <p:sp>
        <p:nvSpPr>
          <p:cNvPr id="25" name="copilot-name">
            <a:extLst>
              <a:ext uri="{FF2B5EF4-FFF2-40B4-BE49-F238E27FC236}">
                <a16:creationId xmlns:a16="http://schemas.microsoft.com/office/drawing/2014/main" id="{6EDF48C2-146C-4F65-B93A-16B13E407A6F}"/>
              </a:ext>
            </a:extLst>
          </p:cNvPr>
          <p:cNvSpPr>
            <a:spLocks noGrp="1"/>
          </p:cNvSpPr>
          <p:nvPr/>
        </p:nvSpPr>
        <p:spPr>
          <a:xfrm>
            <a:off x="8418863" y="1675536"/>
            <a:ext cx="1212850" cy="387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3225" b="1" u="sng">
                <a:solidFill>
                  <a:srgbClr val="6B6B6B"/>
                </a:solidFill>
              </a:defRPr>
            </a:pPr>
            <a:r>
              <a:rPr sz="1800" b="1" spc="-30">
                <a:latin typeface="SB Sans Display" panose="020B0503040504020204" pitchFamily="34" charset="0"/>
                <a:cs typeface="SB Sans Display" panose="020B0503040504020204" pitchFamily="34" charset="0"/>
              </a:rPr>
              <a:t>Copilot</a:t>
            </a:r>
          </a:p>
        </p:txBody>
      </p:sp>
      <p:sp>
        <p:nvSpPr>
          <p:cNvPr id="26" name="copilot-kind">
            <a:extLst>
              <a:ext uri="{FF2B5EF4-FFF2-40B4-BE49-F238E27FC236}">
                <a16:creationId xmlns:a16="http://schemas.microsoft.com/office/drawing/2014/main" id="{6D8D4F84-5673-4DE6-AA30-87810397E0CE}"/>
              </a:ext>
            </a:extLst>
          </p:cNvPr>
          <p:cNvSpPr>
            <a:spLocks noGrp="1"/>
          </p:cNvSpPr>
          <p:nvPr/>
        </p:nvSpPr>
        <p:spPr>
          <a:xfrm>
            <a:off x="7936974" y="2120036"/>
            <a:ext cx="16891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1650" b="0">
                <a:solidFill>
                  <a:srgbClr val="6B6B6B"/>
                </a:solidFill>
              </a:defRPr>
            </a:pPr>
            <a:r>
              <a:rPr sz="1000">
                <a:solidFill>
                  <a:srgbClr val="6B6B6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AI-ассистент Microsoft</a:t>
            </a:r>
          </a:p>
        </p:txBody>
      </p:sp>
      <p:sp>
        <p:nvSpPr>
          <p:cNvPr id="27" name="copilot-description">
            <a:extLst>
              <a:ext uri="{FF2B5EF4-FFF2-40B4-BE49-F238E27FC236}">
                <a16:creationId xmlns:a16="http://schemas.microsoft.com/office/drawing/2014/main" id="{DC8BB040-1124-4CC6-823F-734C0F3C77A9}"/>
              </a:ext>
            </a:extLst>
          </p:cNvPr>
          <p:cNvSpPr>
            <a:spLocks noGrp="1"/>
          </p:cNvSpPr>
          <p:nvPr/>
        </p:nvSpPr>
        <p:spPr>
          <a:xfrm>
            <a:off x="7936974" y="2354986"/>
            <a:ext cx="1689100" cy="469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187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Для повседневных</a:t>
            </a:r>
          </a:p>
          <a:p>
            <a:pPr defTabSz="609630">
              <a:defRPr sz="187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задач и поиска идей</a:t>
            </a:r>
          </a:p>
        </p:txBody>
      </p:sp>
      <p:sp>
        <p:nvSpPr>
          <p:cNvPr id="706" name="cell-block"/>
          <p:cNvSpPr/>
          <p:nvPr/>
        </p:nvSpPr>
        <p:spPr>
          <a:xfrm>
            <a:off x="7903415" y="2964485"/>
            <a:ext cx="1696175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07" name="cell-block"/>
          <p:cNvSpPr/>
          <p:nvPr/>
        </p:nvSpPr>
        <p:spPr>
          <a:xfrm>
            <a:off x="7903415" y="4823826"/>
            <a:ext cx="1696175" cy="14321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63" name="Таблица 62"/>
          <p:cNvGraphicFramePr/>
          <p:nvPr>
            <p:extLst>
              <p:ext uri="{D42A27DB-BD31-4B8C-83A1-F6EECF244321}">
                <p14:modId xmlns:p14="http://schemas.microsoft.com/office/powerpoint/2010/main" val="2276925914"/>
              </p:ext>
            </p:extLst>
          </p:nvPr>
        </p:nvGraphicFramePr>
        <p:xfrm>
          <a:off x="7903415" y="2964485"/>
          <a:ext cx="1696175" cy="3367735"/>
        </p:xfrm>
        <a:graphic>
          <a:graphicData uri="http://schemas.openxmlformats.org/drawingml/2006/table">
            <a:tbl>
              <a:tblPr/>
              <a:tblGrid>
                <a:gridCol w="169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934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В первых разговорах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показывает уведомление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о персонализации.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При включённой функции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запоминает имя,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интересы и цели.</a:t>
                      </a: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39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Постепенное</a:t>
                      </a:r>
                    </a:p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знакомство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Объясняет, что будет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запоминать. Контекст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о пользователе собирает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по ходу общения.</a:t>
                      </a: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deepseek-column">
            <a:extLst>
              <a:ext uri="{FF2B5EF4-FFF2-40B4-BE49-F238E27FC236}">
                <a16:creationId xmlns:a16="http://schemas.microsoft.com/office/drawing/2014/main" id="{A671984A-B6FE-4FD8-A661-1ADC9F629CDE}"/>
              </a:ext>
            </a:extLst>
          </p:cNvPr>
          <p:cNvSpPr>
            <a:spLocks noGrp="1"/>
          </p:cNvSpPr>
          <p:nvPr/>
        </p:nvSpPr>
        <p:spPr>
          <a:xfrm>
            <a:off x="9749004" y="1440180"/>
            <a:ext cx="1848606" cy="4892040"/>
          </a:xfrm>
          <a:prstGeom prst="roundRect">
            <a:avLst>
              <a:gd name="adj" fmla="val 9000"/>
            </a:avLst>
          </a:prstGeom>
          <a:solidFill>
            <a:schemeClr val="accent4">
              <a:lumMod val="60000"/>
              <a:lumOff val="40000"/>
              <a:alpha val="25000"/>
            </a:schemeClr>
          </a:solidFill>
          <a:ln w="12383">
            <a:noFill/>
          </a:ln>
        </p:spPr>
        <p:txBody>
          <a:bodyPr/>
          <a:lstStyle/>
          <a:p>
            <a:pPr defTabSz="609630"/>
            <a:endParaRPr lang="ru-RU" sz="1200">
              <a:solidFill>
                <a:srgbClr val="111111"/>
              </a:solidFill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pic>
        <p:nvPicPr>
          <p:cNvPr id="65" name="Рисунок 6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858732" y="1618386"/>
            <a:ext cx="393700" cy="393700"/>
          </a:xfrm>
          <a:prstGeom prst="roundRect">
            <a:avLst>
              <a:gd name="adj" fmla="val 20968"/>
            </a:avLst>
          </a:prstGeom>
        </p:spPr>
      </p:pic>
      <p:sp>
        <p:nvSpPr>
          <p:cNvPr id="31" name="deepseek-name">
            <a:extLst>
              <a:ext uri="{FF2B5EF4-FFF2-40B4-BE49-F238E27FC236}">
                <a16:creationId xmlns:a16="http://schemas.microsoft.com/office/drawing/2014/main" id="{76B19AD1-F37E-4759-99D3-CA159EEAE829}"/>
              </a:ext>
            </a:extLst>
          </p:cNvPr>
          <p:cNvSpPr>
            <a:spLocks noGrp="1"/>
          </p:cNvSpPr>
          <p:nvPr/>
        </p:nvSpPr>
        <p:spPr>
          <a:xfrm>
            <a:off x="10340620" y="1675536"/>
            <a:ext cx="1212850" cy="387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2850" b="1" u="sng">
                <a:solidFill>
                  <a:srgbClr val="6B6B6B"/>
                </a:solidFill>
              </a:defRPr>
            </a:pPr>
            <a:r>
              <a:rPr sz="1800" b="1" spc="-30">
                <a:latin typeface="SB Sans Display" panose="020B0503040504020204" pitchFamily="34" charset="0"/>
                <a:cs typeface="SB Sans Display" panose="020B0503040504020204" pitchFamily="34" charset="0"/>
              </a:rPr>
              <a:t>DeepSeek</a:t>
            </a:r>
          </a:p>
        </p:txBody>
      </p:sp>
      <p:sp>
        <p:nvSpPr>
          <p:cNvPr id="32" name="deepseek-kind">
            <a:extLst>
              <a:ext uri="{FF2B5EF4-FFF2-40B4-BE49-F238E27FC236}">
                <a16:creationId xmlns:a16="http://schemas.microsoft.com/office/drawing/2014/main" id="{1BC54571-D000-4B09-80B0-C5046A12C8E5}"/>
              </a:ext>
            </a:extLst>
          </p:cNvPr>
          <p:cNvSpPr>
            <a:spLocks noGrp="1"/>
          </p:cNvSpPr>
          <p:nvPr/>
        </p:nvSpPr>
        <p:spPr>
          <a:xfrm>
            <a:off x="9858732" y="2120036"/>
            <a:ext cx="16891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1500" b="0">
                <a:solidFill>
                  <a:srgbClr val="6B6B6B"/>
                </a:solidFill>
              </a:defRPr>
            </a:pPr>
            <a:r>
              <a:rPr sz="900">
                <a:solidFill>
                  <a:srgbClr val="6B6B6B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Универсальный AI-ассистент</a:t>
            </a:r>
          </a:p>
        </p:txBody>
      </p:sp>
      <p:sp>
        <p:nvSpPr>
          <p:cNvPr id="33" name="deepseek-description">
            <a:extLst>
              <a:ext uri="{FF2B5EF4-FFF2-40B4-BE49-F238E27FC236}">
                <a16:creationId xmlns:a16="http://schemas.microsoft.com/office/drawing/2014/main" id="{7CB1C53C-5396-4A39-9515-D27C6B3CCE0A}"/>
              </a:ext>
            </a:extLst>
          </p:cNvPr>
          <p:cNvSpPr>
            <a:spLocks noGrp="1"/>
          </p:cNvSpPr>
          <p:nvPr/>
        </p:nvSpPr>
        <p:spPr>
          <a:xfrm>
            <a:off x="9858732" y="2354986"/>
            <a:ext cx="1689100" cy="469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defTabSz="609630">
              <a:defRPr sz="187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Для поиска ответов,</a:t>
            </a:r>
          </a:p>
          <a:p>
            <a:pPr defTabSz="609630">
              <a:defRPr sz="1875" b="0">
                <a:solidFill>
                  <a:srgbClr val="111111"/>
                </a:solidFill>
              </a:defRPr>
            </a:pPr>
            <a:r>
              <a:rPr sz="1150">
                <a:solidFill>
                  <a:srgbClr val="111111"/>
                </a:solidFill>
                <a:latin typeface="SB Sans Display" panose="020B0503040504020204" pitchFamily="34" charset="0"/>
                <a:cs typeface="SB Sans Display" panose="020B0503040504020204" pitchFamily="34" charset="0"/>
              </a:rPr>
              <a:t>рассуждений и кода</a:t>
            </a:r>
          </a:p>
        </p:txBody>
      </p:sp>
      <p:sp>
        <p:nvSpPr>
          <p:cNvPr id="708" name="cell-block"/>
          <p:cNvSpPr/>
          <p:nvPr/>
        </p:nvSpPr>
        <p:spPr>
          <a:xfrm>
            <a:off x="9825173" y="2964485"/>
            <a:ext cx="1696175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09" name="cell-block"/>
          <p:cNvSpPr/>
          <p:nvPr/>
        </p:nvSpPr>
        <p:spPr>
          <a:xfrm>
            <a:off x="9825173" y="4823826"/>
            <a:ext cx="1696175" cy="14321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69" name="Таблица 68"/>
          <p:cNvGraphicFramePr/>
          <p:nvPr>
            <p:extLst>
              <p:ext uri="{D42A27DB-BD31-4B8C-83A1-F6EECF244321}">
                <p14:modId xmlns:p14="http://schemas.microsoft.com/office/powerpoint/2010/main" val="2927604515"/>
              </p:ext>
            </p:extLst>
          </p:nvPr>
        </p:nvGraphicFramePr>
        <p:xfrm>
          <a:off x="9825173" y="2964485"/>
          <a:ext cx="1696175" cy="3367735"/>
        </p:xfrm>
        <a:graphic>
          <a:graphicData uri="http://schemas.openxmlformats.org/drawingml/2006/table">
            <a:tbl>
              <a:tblPr/>
              <a:tblGrid>
                <a:gridCol w="169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5934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Специальный сценарий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знакомства с вопросами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о пользователе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не подтверждён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в проверенных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материалах.</a:t>
                      </a: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39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Не подтверждён</a:t>
                      </a:r>
                    </a:p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как референс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Недостаток сведений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не доказывает отсутствие</a:t>
                      </a:r>
                    </a:p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механики во всех версиях.</a:t>
                      </a:r>
                    </a:p>
                  </a:txBody>
                  <a:tcPr marL="114300" marR="76200" marT="88900" marB="25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Прямоугольник 2">
            <a:extLst>
              <a:ext uri="{FF2B5EF4-FFF2-40B4-BE49-F238E27FC236}">
                <a16:creationId xmlns:a16="http://schemas.microsoft.com/office/drawing/2014/main" id="{3B6A34D2-C777-B305-BC1C-2534F247080E}"/>
              </a:ext>
            </a:extLst>
          </p:cNvPr>
          <p:cNvSpPr>
            <a:spLocks noGrp="1"/>
          </p:cNvSpPr>
          <p:nvPr/>
        </p:nvSpPr>
        <p:spPr>
          <a:xfrm>
            <a:off x="594360" y="3490265"/>
            <a:ext cx="1371600" cy="73152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r">
              <a:defRPr sz="1950" b="1">
                <a:solidFill>
                  <a:srgbClr val="111111"/>
                </a:solidFill>
              </a:defRPr>
            </a:pPr>
            <a:r>
              <a:rPr lang="ru-RU" sz="1000" b="1" dirty="0">
                <a:solidFill>
                  <a:schemeClr val="accent2">
                    <a:lumMod val="75000"/>
                  </a:schemeClr>
                </a:solidFill>
              </a:rPr>
              <a:t>МЕХАНИКИ</a:t>
            </a:r>
          </a:p>
          <a:p>
            <a:pPr algn="r">
              <a:defRPr sz="1950" b="1">
                <a:solidFill>
                  <a:srgbClr val="111111"/>
                </a:solidFill>
              </a:defRPr>
            </a:pPr>
            <a:r>
              <a:rPr lang="ru-RU" sz="1000" b="1" dirty="0">
                <a:solidFill>
                  <a:schemeClr val="accent2">
                    <a:lumMod val="75000"/>
                  </a:schemeClr>
                </a:solidFill>
              </a:rPr>
              <a:t>ЗНАКОМСТВА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0B131638-ACE8-10BC-BB62-07D72CD28C48}"/>
              </a:ext>
            </a:extLst>
          </p:cNvPr>
          <p:cNvCxnSpPr>
            <a:cxnSpLocks/>
          </p:cNvCxnSpPr>
          <p:nvPr/>
        </p:nvCxnSpPr>
        <p:spPr>
          <a:xfrm>
            <a:off x="2011680" y="2964485"/>
            <a:ext cx="0" cy="1783080"/>
          </a:xfrm>
          <a:prstGeom prst="line">
            <a:avLst/>
          </a:prstGeom>
          <a:ln w="158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2">
            <a:extLst>
              <a:ext uri="{FF2B5EF4-FFF2-40B4-BE49-F238E27FC236}">
                <a16:creationId xmlns:a16="http://schemas.microsoft.com/office/drawing/2014/main" id="{C2BB1D3C-BEB1-0FF1-6A2A-AC0DB1DCDE99}"/>
              </a:ext>
            </a:extLst>
          </p:cNvPr>
          <p:cNvSpPr>
            <a:spLocks noGrp="1"/>
          </p:cNvSpPr>
          <p:nvPr/>
        </p:nvSpPr>
        <p:spPr>
          <a:xfrm>
            <a:off x="594360" y="4945532"/>
            <a:ext cx="1371600" cy="118872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r">
              <a:defRPr sz="1950" b="1">
                <a:solidFill>
                  <a:srgbClr val="111111"/>
                </a:solidFill>
              </a:defRPr>
            </a:pPr>
            <a:r>
              <a:rPr lang="ru-RU" sz="1000" b="1" dirty="0">
                <a:solidFill>
                  <a:schemeClr val="accent2">
                    <a:lumMod val="75000"/>
                  </a:schemeClr>
                </a:solidFill>
              </a:rPr>
              <a:t>БЛИЗОСТЬ</a:t>
            </a:r>
          </a:p>
          <a:p>
            <a:pPr algn="r">
              <a:defRPr sz="1950" b="1">
                <a:solidFill>
                  <a:srgbClr val="111111"/>
                </a:solidFill>
              </a:defRPr>
            </a:pPr>
            <a:r>
              <a:rPr lang="ru-RU" sz="1000" b="1" dirty="0">
                <a:solidFill>
                  <a:schemeClr val="accent2">
                    <a:lumMod val="75000"/>
                  </a:schemeClr>
                </a:solidFill>
              </a:rPr>
              <a:t>К СЦЕНАРИЮ, ПРИ КОТОРОМ ЗНАКОМСТВО ОПРЕДЕЛЯЕТ ПЕРСОНАЛИЗАЦИЮ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2F71B28-D1E1-2ABD-AE5D-914159ABF546}"/>
              </a:ext>
            </a:extLst>
          </p:cNvPr>
          <p:cNvCxnSpPr>
            <a:cxnSpLocks/>
          </p:cNvCxnSpPr>
          <p:nvPr/>
        </p:nvCxnSpPr>
        <p:spPr>
          <a:xfrm>
            <a:off x="2011680" y="4823826"/>
            <a:ext cx="0" cy="1432133"/>
          </a:xfrm>
          <a:prstGeom prst="line">
            <a:avLst/>
          </a:prstGeom>
          <a:ln w="158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A46976D-AE8A-1BD8-4604-7EA3AFDE1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рынка: знакомство с AI-ассистентами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422004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Data Summer 26">
      <a:dk1>
        <a:sysClr val="windowText" lastClr="000000"/>
      </a:dk1>
      <a:lt1>
        <a:sysClr val="window" lastClr="FFFFFF"/>
      </a:lt1>
      <a:dk2>
        <a:srgbClr val="2B353E"/>
      </a:dk2>
      <a:lt2>
        <a:srgbClr val="E5F3FF"/>
      </a:lt2>
      <a:accent1>
        <a:srgbClr val="33E325"/>
      </a:accent1>
      <a:accent2>
        <a:srgbClr val="1CD29E"/>
      </a:accent2>
      <a:accent3>
        <a:srgbClr val="15AFAF"/>
      </a:accent3>
      <a:accent4>
        <a:srgbClr val="326FDE"/>
      </a:accent4>
      <a:accent5>
        <a:srgbClr val="6841F9"/>
      </a:accent5>
      <a:accent6>
        <a:srgbClr val="5A7098"/>
      </a:accent6>
      <a:hlink>
        <a:srgbClr val="191F24"/>
      </a:hlink>
      <a:folHlink>
        <a:srgbClr val="191F24"/>
      </a:folHlink>
    </a:clrScheme>
    <a:fontScheme name="Другая 1">
      <a:majorFont>
        <a:latin typeface="SB Sans Display Semibold"/>
        <a:ea typeface=""/>
        <a:cs typeface=""/>
      </a:majorFont>
      <a:minorFont>
        <a:latin typeface="SB Sans Displa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ap="flat" cmpd="sng" algn="ctr">
          <a:noFill/>
          <a:prstDash val="solid"/>
          <a:miter lim="800000"/>
        </a:ln>
        <a:effectLst/>
      </a:spPr>
      <a:bodyPr spcFirstLastPara="0" vert="horz" wrap="square" lIns="0" tIns="0" rIns="0" bIns="0" numCol="1" spcCol="1270" rtlCol="0" anchor="ctr" anchorCtr="0">
        <a:spAutoFit/>
      </a:bodyPr>
      <a:lstStyle>
        <a:defPPr algn="l">
          <a:defRPr b="1" dirty="0">
            <a:gradFill>
              <a:gsLst>
                <a:gs pos="1000">
                  <a:srgbClr val="004720"/>
                </a:gs>
                <a:gs pos="76000">
                  <a:srgbClr val="005727"/>
                </a:gs>
                <a:gs pos="35000">
                  <a:srgbClr val="00873D">
                    <a:lumMod val="97000"/>
                  </a:srgbClr>
                </a:gs>
                <a:gs pos="94000">
                  <a:srgbClr val="00B050"/>
                </a:gs>
              </a:gsLst>
            </a:gradFill>
            <a:latin typeface="SB Sans Display" panose="020B0503040504020204" pitchFamily="34" charset="0"/>
            <a:cs typeface="SB Sans Display" panose="020B0503040504020204" pitchFamily="34" charset="0"/>
          </a:defRPr>
        </a:defPPr>
      </a:lstStyle>
    </a:spDef>
    <a:lnDef>
      <a:spPr>
        <a:ln w="12700">
          <a:solidFill>
            <a:schemeClr val="accent4">
              <a:alpha val="85000"/>
            </a:schemeClr>
          </a:solidFill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Шаблон UNIT_DATA_3 в 1 v2.pptx" id="{01A10ADE-A6A9-4002-A9CA-309FC65F68E9}" vid="{B55C1658-980D-4276-9C2F-CCBCE9C44217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C19FA3E-B104-7E40-8D4C-3E226388AA1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e05d9e4-17cf-49b1-8760-ac1cdd434f5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3013</TotalTime>
  <Words>2255</Words>
  <Application>Microsoft Macintosh PowerPoint</Application>
  <PresentationFormat>Широкоэкранный</PresentationFormat>
  <Paragraphs>357</Paragraphs>
  <Slides>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Aptos</vt:lpstr>
      <vt:lpstr>Arial</vt:lpstr>
      <vt:lpstr>Calibri</vt:lpstr>
      <vt:lpstr>SB Sans Display</vt:lpstr>
      <vt:lpstr>SB Sans Display Ext Semibold</vt:lpstr>
      <vt:lpstr>SB Sans Display Light</vt:lpstr>
      <vt:lpstr>SB Sans Display Semibold</vt:lpstr>
      <vt:lpstr>1_Тема Office</vt:lpstr>
      <vt:lpstr>ChatGPT</vt:lpstr>
      <vt:lpstr>Презентация PowerPoint</vt:lpstr>
      <vt:lpstr>Анализ рынка – механики вовлечения при первом касании</vt:lpstr>
      <vt:lpstr>Финансовый ИИ-ассистент, который превращает обсуждение финансов в личный, эмоциональный разговор</vt:lpstr>
      <vt:lpstr>Презентация PowerPoint</vt:lpstr>
      <vt:lpstr>Контур и концептуальное описание пилота</vt:lpstr>
      <vt:lpstr>Вопросы для знакомства и продолжения диалога</vt:lpstr>
      <vt:lpstr>Презентация PowerPoint</vt:lpstr>
      <vt:lpstr>Почему пользователь возвращается и отвечает</vt:lpstr>
      <vt:lpstr>Анализ рынка: знакомство с AI-ассистентами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Xc 7735</dc:creator>
  <cp:lastModifiedBy>Chris Green</cp:lastModifiedBy>
  <cp:revision>20</cp:revision>
  <dcterms:created xsi:type="dcterms:W3CDTF">2026-09-29T20:15:32Z</dcterms:created>
  <dcterms:modified xsi:type="dcterms:W3CDTF">2026-10-07T14:54:14Z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2026-10-07T14:53:52Z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23aae6ee-1709-4abb-92d2-6f3d9c931ad2</vt:lpwstr>
  </property>
  <property fmtid="{D5CDD505-2E9C-101B-9397-08002B2CF9AE}" pid="7" name="MSIP_Label_defa4170-0d19-0005-0004-bc88714345d2_ActionId">
    <vt:lpwstr>d76c265a-c56e-4d83-9e33-c763958d1757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