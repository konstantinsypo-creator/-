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24384305" cy="13716000"/>
  <p:notesSz cx="13716000" cy="243843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1f7559a7-dddc-708f-c45e-735c0c679157}">
          <p14:sldIdLst>
            <p14:sldId id="256"/>
            <p14:sldId id="257"/>
          </p14:sldIdLst>
        </p14:section>
        <p14:section name="Методология исследования" id="{cec07527-b5d7-1c15-33ad-da18a95b3fa3}">
          <p14:sldIdLst>
            <p14:sldId id="258"/>
          </p14:sldIdLst>
        </p14:section>
        <p14:section name="Ключевые выводы и рекомендации" id="{7772bea4-b56f-c0a1-4df0-ff4b26050f72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Гипотезы для SberCampaigning" id="{60bf2ca1-971c-3c41-b530-2c8110941c5b}">
          <p14:sldIdLst>
            <p14:sldId id="266"/>
            <p14:sldId id="267"/>
            <p14:sldId id="268"/>
            <p14:sldId id="269"/>
          </p14:sldIdLst>
        </p14:section>
        <p14:section name="Приложения" id="{9eeebbb8-cea2-fee2-49d3-c81ae9cf1730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Методология воспроизведена со слайда 4 исходного отчета. 40 участников рассчитано как 8 групп × 5 человек согласно описанию, отдельной проверки явки нет. МВС оставлено в исходном написании: расшифровка в отчете не дана. Цель и темы систематизированы по слайдам 3–4 и содержанию отчета. В представленном материале нет дат полевого этапа, матрицы групп, гайда, стимулов, стенограмм и описания процедуры анализа. ИИ представлен ограниченными реакциями на сортировку писем, не самостоятельным тестом автономного агента. Сегментные и количественные выводы не делались. Вводные о 40 млн адресов и 80% неоткрытий не перенесены как результат исследования: для них нужны источник, период и определение показателей.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почты: 11–12 (архив, история, документы); 13–14 (проверка под задачу, сортировка); 17 (поиск предложений при возникновении потребности); 21 (разные ящики для разных задач). Две практики — аналитическое обобщение описаний слайда 7, без оценок распространенности и возрастного распределения. Частота проверки не равна вниманию к банковской рекламе. Цитаты воспроизведены как точные фрагменты из 11 и 13. Слово «всё» сохранено внутри прямой цитаты. Вывод о связи с событием и повторном обращении — рекомендация по итогам исследования, не измеренный эффект.
[Текст из исходной презентации, который находился за пределами слайда или под другими объектами]
попросить дать кейсы, какие рассылки от брендов ждут, например, колесо альфа банк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 уточняет чрезмерно общий тезис исходника о том, что банковские письма не читают. Причины игнорирования представлены на 27; дополнительное восприятие Сбера на 8, оно не подтверждает объективное отставание от других банков и не является рейтингом. Положительные случаи на 28 и полезное обновление приложения на 29 показывают чтение в конкретных ситуациях. Прямая цитата из 28 — единичный описанный случай действия после письма, не доказательство причинного эффекта или конверсии. Правая колонка намеренно показывает и барьер, и положительный случай. Рекомендация о структуре сервисного письма требует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Для Сбера
была цитата про то, что если есть фразы конкретные только для вас, то воспринимается очень фальшиво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четыре реакции приведены по 30–31. Они относятся к формулировкам и идеям, показанным в исходном исследовании; полный стимульный материал не представлен. Поэтому не следует заключать, что сами продукты отвергнуты или спрос отсутствует. Направления усиления в третьем столбце — интерпретация при пересборке. На 18 описано недоверие к имени и слову «персональный» в массовой рассылке; персонализация понимается через содержание. Цитаты точными фрагментами из 30 и 31. Идеи налогового вычета, калькулятора вклада и выбора тем взяты из 29–31. Они не являются финансовыми советами конкретному клиенту или утверждениями о наличии готового сервиса: условия и реализация должны быть проверены отдельно. Не приписывается потребность всей клиентской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конкурентов»
20–29 лет, Екатеринбург
«А я страхуюсь от клеща каждый год, конечно, я оформила. Но не сразу через письмо, я на сайт зашла по сбер id»
45–55 лет, Екатеринбург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Гипотезы для дальнейшей проработки SberCampaigning, не результаты проведенных экспериментов и не согласованный план работ. Основание: текущий отчет, слайды 6–11; исходный отчет, слайды 6–9, 16–18, 27–34. Исследование качественное, распространенность предпочтений и эффект изменений не измерены. Предлагаются контролируемые сравнения с текущей практикой. Для сопоставимости следует заранее зафиксировать аудиторию, действие и условия. Не заданы вымышленные KPI, сроки, владельцы, конверсии или объем эффекта.
[Текст из исходной презентации, который находился за пределами слайда или под другими объектами]
hypothesis 0: Связь с текущим продуктом повышаетполезность письма
test 0: Для одного продуктового события сравнить текущий шаблон с письмом, где ясно указаны изменение, последствия и действие
metric 0: Больше завершенных целевых действий без роста отписок
hypothesis 1: Объяснение личной выгоды помогает принять решение
test 1: Для одинакового предложения сравнить общий текст и объяснение на основе ситуации клиента. Пример: выбор категории кешбэка
metric 1: Больше активаций или выборов подходящей опции
hypothesis 2: Выгода для действующих клиентов поддерживает интерес
test 2: В используемом сервисе экосистемы проверить письмо с предложением для постоянного клиента против группы без такого письма
metric 2: Дополнительные покупки или продления с учетом стоимости выгоды
hypothesis 0: Выбор тем делает письма более ожидаемыми
test 0: Предложить выбор тем и продуктов в приложении. Сравнить всю приглашенную группу с контрольной, включая тех, кто ничего не выбрал
metric 0: Больше целевых действий при меньшем числе жалоб и отписок
hypothesis 1: Анонс важного письма помогает его заметить
test 1: Сравнить одно и то же полезное письмо с коротким анонсом в приложении или пуше и без анонса. Учесть дополнительный контакт
metric 1: Прирост целевых действий оправдывает дополнительный контакт
hypothesis 2: Согласование контактов между каналами снижает раздражение
test 2: Сравнить текущие рассылки с вариантом без повторов после действия клиента и с ограничением общей частоты по каналам
metric 2: Меньше отписок и жалоб без снижения числа целевых действий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Предложения команды отчета по мотивам качественного исследования, а не установленные эффекты ИИ. Основание: текущий отчет, слайды 6–11; исходный отчет, слайды 6–9, 17–18, 27–34. В группах обсуждались конкретная польза, рекомендации по своим продуктам и тратам, возможность выбора тем, понятность и следующий шаг. Три ИИ-сценария, распределение ролей каналов и критерии эксперимента являются новыми гипотезами. Анонс через пуш не означает доказанное превосходство канала. Расчеты и условия продуктов должны поступать из актуальных систем банка; роль ИИ — объяснение и сопровождение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9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9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1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1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63040"/>
            <a:ext cx="2743200" cy="7498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160520"/>
            <a:ext cx="9692640" cy="1051560"/>
          </a:xfrm>
          <a:prstGeom prst="rect">
            <a:avLst/>
          </a:prstGeom>
        </p:spPr>
      </p:pic>
      <p:sp>
        <p:nvSpPr>
          <p:cNvPr id="4" name="report type"/>
          <p:cNvSpPr txBox="1"/>
          <p:nvPr/>
        </p:nvSpPr>
        <p:spPr>
          <a:xfrm>
            <a:off x="1737360" y="41605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Отчет по качественному исследованию</a:t>
            </a:r>
            <a:endParaRPr lang="en-US" sz="3200" dirty="0"/>
          </a:p>
        </p:txBody>
      </p:sp>
      <p:sp>
        <p:nvSpPr>
          <p:cNvPr id="5" name="title"/>
          <p:cNvSpPr txBox="1"/>
          <p:nvPr/>
        </p:nvSpPr>
        <p:spPr>
          <a:xfrm>
            <a:off x="1737360" y="5669280"/>
            <a:ext cx="13167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Восприятие email-коммуникаций Сбера и направления развития канала</a:t>
            </a:r>
            <a:endParaRPr lang="en-US" sz="6600" dirty="0"/>
          </a:p>
        </p:txBody>
      </p:sp>
      <p:sp>
        <p:nvSpPr>
          <p:cNvPr id="6" name="date"/>
          <p:cNvSpPr txBox="1"/>
          <p:nvPr/>
        </p:nvSpPr>
        <p:spPr>
          <a:xfrm>
            <a:off x="1737360" y="1188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chemeClr val="accent6"/>
                </a:solidFill>
              </a:rPr>
              <a:t>Сентябрь 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Содержание</a:t>
            </a:r>
            <a:endParaRPr lang="en-US" sz="4000" dirty="0"/>
          </a:p>
        </p:txBody>
      </p:sp>
      <p:pic>
        <p:nvPicPr>
          <p:cNvPr id="3" name="Image 0" descr="/tmp/claude-0/-home-user--/79b729a8-3fa1-5cbb-8e3b-0cd80d582848/scratchpad/build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0" y="457200"/>
            <a:ext cx="3657600" cy="3685032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1005840" y="4572000"/>
            <a:ext cx="22372625" cy="1737360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5" name="section number"/>
          <p:cNvSpPr txBox="1"/>
          <p:nvPr/>
        </p:nvSpPr>
        <p:spPr>
          <a:xfrm>
            <a:off x="1645920" y="4572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section title"/>
          <p:cNvSpPr txBox="1"/>
          <p:nvPr/>
        </p:nvSpPr>
        <p:spPr>
          <a:xfrm>
            <a:off x="4480560" y="45720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Методология исследования</a:t>
            </a:r>
            <a:endParaRPr lang="en-US" sz="3800" dirty="0"/>
          </a:p>
        </p:txBody>
      </p:sp>
      <p:sp>
        <p:nvSpPr>
          <p:cNvPr id="7" name="section pages"/>
          <p:cNvSpPr txBox="1"/>
          <p:nvPr/>
        </p:nvSpPr>
        <p:spPr>
          <a:xfrm>
            <a:off x="19080785" y="45720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3</a:t>
            </a:r>
            <a:endParaRPr lang="en-US" sz="3800" dirty="0"/>
          </a:p>
        </p:txBody>
      </p:sp>
      <p:sp>
        <p:nvSpPr>
          <p:cNvPr id="8" name="card"/>
          <p:cNvSpPr/>
          <p:nvPr/>
        </p:nvSpPr>
        <p:spPr>
          <a:xfrm>
            <a:off x="1005840" y="6629400"/>
            <a:ext cx="22372625" cy="1737360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9" name="section number"/>
          <p:cNvSpPr txBox="1"/>
          <p:nvPr/>
        </p:nvSpPr>
        <p:spPr>
          <a:xfrm>
            <a:off x="1645920" y="66294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section title"/>
          <p:cNvSpPr txBox="1"/>
          <p:nvPr/>
        </p:nvSpPr>
        <p:spPr>
          <a:xfrm>
            <a:off x="4480560" y="66294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Ключевые выводы и рекомендации</a:t>
            </a:r>
            <a:endParaRPr lang="en-US" sz="3800" dirty="0"/>
          </a:p>
        </p:txBody>
      </p:sp>
      <p:sp>
        <p:nvSpPr>
          <p:cNvPr id="11" name="section pages"/>
          <p:cNvSpPr txBox="1"/>
          <p:nvPr/>
        </p:nvSpPr>
        <p:spPr>
          <a:xfrm>
            <a:off x="19080785" y="66294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4–10</a:t>
            </a:r>
            <a:endParaRPr lang="en-US" sz="3800" dirty="0"/>
          </a:p>
        </p:txBody>
      </p:sp>
      <p:sp>
        <p:nvSpPr>
          <p:cNvPr id="12" name="card"/>
          <p:cNvSpPr/>
          <p:nvPr/>
        </p:nvSpPr>
        <p:spPr>
          <a:xfrm>
            <a:off x="1005840" y="8686800"/>
            <a:ext cx="22372625" cy="1737360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13" name="section number"/>
          <p:cNvSpPr txBox="1"/>
          <p:nvPr/>
        </p:nvSpPr>
        <p:spPr>
          <a:xfrm>
            <a:off x="1645920" y="8686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600" dirty="0"/>
          </a:p>
        </p:txBody>
      </p:sp>
      <p:sp>
        <p:nvSpPr>
          <p:cNvPr id="14" name="section title"/>
          <p:cNvSpPr txBox="1"/>
          <p:nvPr/>
        </p:nvSpPr>
        <p:spPr>
          <a:xfrm>
            <a:off x="4480560" y="86868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Гипотезы для SberCampaigning</a:t>
            </a:r>
            <a:endParaRPr lang="en-US" sz="3800" dirty="0"/>
          </a:p>
        </p:txBody>
      </p:sp>
      <p:sp>
        <p:nvSpPr>
          <p:cNvPr id="15" name="section pages"/>
          <p:cNvSpPr txBox="1"/>
          <p:nvPr/>
        </p:nvSpPr>
        <p:spPr>
          <a:xfrm>
            <a:off x="19080785" y="86868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11–13</a:t>
            </a:r>
            <a:endParaRPr lang="en-US" sz="3800" dirty="0"/>
          </a:p>
        </p:txBody>
      </p:sp>
      <p:sp>
        <p:nvSpPr>
          <p:cNvPr id="16" name="card"/>
          <p:cNvSpPr/>
          <p:nvPr/>
        </p:nvSpPr>
        <p:spPr>
          <a:xfrm>
            <a:off x="1005840" y="10744200"/>
            <a:ext cx="22372625" cy="1737360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17" name="section number"/>
          <p:cNvSpPr txBox="1"/>
          <p:nvPr/>
        </p:nvSpPr>
        <p:spPr>
          <a:xfrm>
            <a:off x="1645920" y="10744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600" dirty="0"/>
          </a:p>
        </p:txBody>
      </p:sp>
      <p:sp>
        <p:nvSpPr>
          <p:cNvPr id="18" name="section title"/>
          <p:cNvSpPr txBox="1"/>
          <p:nvPr/>
        </p:nvSpPr>
        <p:spPr>
          <a:xfrm>
            <a:off x="4480560" y="107442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Приложения</a:t>
            </a:r>
            <a:endParaRPr lang="en-US" sz="3800" dirty="0"/>
          </a:p>
        </p:txBody>
      </p:sp>
      <p:sp>
        <p:nvSpPr>
          <p:cNvPr id="19" name="section pages"/>
          <p:cNvSpPr txBox="1"/>
          <p:nvPr/>
        </p:nvSpPr>
        <p:spPr>
          <a:xfrm>
            <a:off x="19080785" y="107442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15–25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МЕТОДОЛОГИЯ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Методология исследования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22372625" cy="1600200"/>
          </a:xfrm>
          <a:prstGeom prst="rect">
            <a:avLst/>
          </a:prstGeom>
        </p:spPr>
      </p:pic>
      <p:sp>
        <p:nvSpPr>
          <p:cNvPr id="5" name="goal"/>
          <p:cNvSpPr txBox="1"/>
          <p:nvPr/>
        </p:nvSpPr>
        <p:spPr>
          <a:xfrm>
            <a:off x="1645920" y="2240280"/>
            <a:ext cx="2109246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</a:rPr>
              <a:t>Цель: </a:t>
            </a:r>
            <a:pPr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понять роль email в жизни клиентов, причины игнорирования банковских писем и направления для повышения утилизации и ценности email-рассылок для клиентов Сбера</a:t>
            </a:r>
            <a:endParaRPr lang="en-US" sz="2700" dirty="0"/>
          </a:p>
        </p:txBody>
      </p:sp>
      <p:sp>
        <p:nvSpPr>
          <p:cNvPr id="6" name="card"/>
          <p:cNvSpPr/>
          <p:nvPr/>
        </p:nvSpPr>
        <p:spPr>
          <a:xfrm>
            <a:off x="1005840" y="4114800"/>
            <a:ext cx="7040880" cy="3977640"/>
          </a:xfrm>
          <a:prstGeom prst="roundRect">
            <a:avLst>
              <a:gd name="adj" fmla="val 6897"/>
            </a:avLst>
          </a:prstGeom>
          <a:solidFill>
            <a:srgbClr val="F4F7FC"/>
          </a:solidFill>
          <a:ln/>
        </p:spPr>
      </p:sp>
      <p:sp>
        <p:nvSpPr>
          <p:cNvPr id="7" name="label"/>
          <p:cNvSpPr txBox="1"/>
          <p:nvPr/>
        </p:nvSpPr>
        <p:spPr>
          <a:xfrm>
            <a:off x="1554480" y="4480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МЕТОД ИССЛЕДОВАНИЯ:</a:t>
            </a:r>
            <a:endParaRPr lang="en-US" sz="1700" dirty="0"/>
          </a:p>
        </p:txBody>
      </p:sp>
      <p:sp>
        <p:nvSpPr>
          <p:cNvPr id="8" name="stat"/>
          <p:cNvSpPr txBox="1"/>
          <p:nvPr/>
        </p:nvSpPr>
        <p:spPr>
          <a:xfrm>
            <a:off x="1554480" y="489204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фокус-групп</a:t>
            </a:r>
            <a:endParaRPr lang="en-US" sz="11000" dirty="0"/>
          </a:p>
        </p:txBody>
      </p:sp>
      <p:sp>
        <p:nvSpPr>
          <p:cNvPr id="9" name="method facts"/>
          <p:cNvSpPr txBox="1"/>
          <p:nvPr/>
        </p:nvSpPr>
        <p:spPr>
          <a:xfrm>
            <a:off x="1554480" y="653796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В онлайн-формата</a:t>
            </a:r>
            <a:endParaRPr lang="en-US" sz="220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Длительность каждой группы: 2 часа</a:t>
            </a:r>
            <a:endParaRPr lang="en-US" sz="220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Количество участников на группе: 5</a:t>
            </a:r>
            <a:endParaRPr lang="en-US" sz="2200" dirty="0"/>
          </a:p>
        </p:txBody>
      </p:sp>
      <p:sp>
        <p:nvSpPr>
          <p:cNvPr id="10" name="card"/>
          <p:cNvSpPr/>
          <p:nvPr/>
        </p:nvSpPr>
        <p:spPr>
          <a:xfrm>
            <a:off x="8321040" y="4114800"/>
            <a:ext cx="15057425" cy="3977640"/>
          </a:xfrm>
          <a:prstGeom prst="roundRect">
            <a:avLst>
              <a:gd name="adj" fmla="val 6897"/>
            </a:avLst>
          </a:prstGeom>
          <a:solidFill>
            <a:srgbClr val="F4F7FC"/>
          </a:solidFill>
          <a:ln/>
        </p:spPr>
      </p:sp>
      <p:sp>
        <p:nvSpPr>
          <p:cNvPr id="11" name="label"/>
          <p:cNvSpPr txBox="1"/>
          <p:nvPr/>
        </p:nvSpPr>
        <p:spPr>
          <a:xfrm>
            <a:off x="886968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ЦЕЛЕВАЯ АУДИТОРИЯ</a:t>
            </a:r>
            <a:endParaRPr lang="en-US" sz="1700" dirty="0"/>
          </a:p>
        </p:txBody>
      </p:sp>
      <p:sp>
        <p:nvSpPr>
          <p:cNvPr id="12" name="audience 1"/>
          <p:cNvSpPr txBox="1"/>
          <p:nvPr/>
        </p:nvSpPr>
        <p:spPr>
          <a:xfrm>
            <a:off x="8869680" y="52120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Мужчины и женщины 20-55 лет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Представители сегментов: Массовый, МВС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Различный уровень дохода и цифровой активности</a:t>
            </a:r>
            <a:endParaRPr lang="en-US" sz="2200" dirty="0"/>
          </a:p>
        </p:txBody>
      </p:sp>
      <p:sp>
        <p:nvSpPr>
          <p:cNvPr id="13" name="audience 2"/>
          <p:cNvSpPr txBox="1"/>
          <p:nvPr/>
        </p:nvSpPr>
        <p:spPr>
          <a:xfrm>
            <a:off x="14173200" y="52120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Активные пользователи электронной почты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Клиенты СБЕРа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Пользователи экосистемы СБЕРа</a:t>
            </a:r>
            <a:endParaRPr lang="en-US" sz="2200" dirty="0"/>
          </a:p>
        </p:txBody>
      </p:sp>
      <p:sp>
        <p:nvSpPr>
          <p:cNvPr id="14" name="label"/>
          <p:cNvSpPr txBox="1"/>
          <p:nvPr/>
        </p:nvSpPr>
        <p:spPr>
          <a:xfrm>
            <a:off x="1929384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ГЕОГРАФИЯ:</a:t>
            </a:r>
            <a:endParaRPr lang="en-US" sz="1700" dirty="0"/>
          </a:p>
        </p:txBody>
      </p:sp>
      <p:sp>
        <p:nvSpPr>
          <p:cNvPr id="15" name="geography"/>
          <p:cNvSpPr txBox="1"/>
          <p:nvPr/>
        </p:nvSpPr>
        <p:spPr>
          <a:xfrm>
            <a:off x="19293840" y="4983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Москва, Екатеринбург</a:t>
            </a:r>
            <a:endParaRPr lang="en-US" sz="2600" dirty="0"/>
          </a:p>
        </p:txBody>
      </p:sp>
      <p:pic>
        <p:nvPicPr>
          <p:cNvPr id="16" name="Image 1" descr="/tmp/claude-0/-home-user--/79b729a8-3fa1-5cbb-8e3b-0cd80d582848/scratchpad/build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0" y="5715000"/>
            <a:ext cx="3657600" cy="1828800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1005840" y="8366760"/>
            <a:ext cx="10972800" cy="4572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18" name="label"/>
          <p:cNvSpPr txBox="1"/>
          <p:nvPr/>
        </p:nvSpPr>
        <p:spPr>
          <a:xfrm>
            <a:off x="1554480" y="8732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ОБСУЖДАЕМЫЕ ТЕМЫ</a:t>
            </a:r>
            <a:endParaRPr lang="en-US" sz="1700" dirty="0"/>
          </a:p>
        </p:txBody>
      </p:sp>
      <p:sp>
        <p:nvSpPr>
          <p:cNvPr id="19" name="topic"/>
          <p:cNvSpPr txBox="1"/>
          <p:nvPr/>
        </p:nvSpPr>
        <p:spPr>
          <a:xfrm>
            <a:off x="1554480" y="9509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spc="100" kern="0" dirty="0">
                <a:solidFill>
                  <a:schemeClr val="accent2"/>
                </a:solidFill>
              </a:rPr>
              <a:t>ПРИВЫЧКИ</a:t>
            </a:r>
            <a:endParaRPr lang="en-US" sz="1800" dirty="0"/>
          </a:p>
        </p:txBody>
      </p:sp>
      <p:sp>
        <p:nvSpPr>
          <p:cNvPr id="20" name="topic text"/>
          <p:cNvSpPr txBox="1"/>
          <p:nvPr/>
        </p:nvSpPr>
        <p:spPr>
          <a:xfrm>
            <a:off x="5120640" y="9464040"/>
            <a:ext cx="6400800" cy="1114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Задачи, решаемые в почте, регулярность проверки, сортировка, отношение к рассылкам</a:t>
            </a:r>
            <a:endParaRPr lang="en-US" sz="2200" dirty="0"/>
          </a:p>
        </p:txBody>
      </p:sp>
      <p:sp>
        <p:nvSpPr>
          <p:cNvPr id="21" name="topic"/>
          <p:cNvSpPr txBox="1"/>
          <p:nvPr/>
        </p:nvSpPr>
        <p:spPr>
          <a:xfrm>
            <a:off x="1554480" y="1069263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spc="100" kern="0" dirty="0">
                <a:solidFill>
                  <a:schemeClr val="accent2"/>
                </a:solidFill>
              </a:rPr>
              <a:t>БАНКОВСКИЕ ПИСЬМА</a:t>
            </a:r>
            <a:endParaRPr lang="en-US" sz="1800" dirty="0"/>
          </a:p>
        </p:txBody>
      </p:sp>
      <p:sp>
        <p:nvSpPr>
          <p:cNvPr id="22" name="topic text"/>
          <p:cNvSpPr txBox="1"/>
          <p:nvPr/>
        </p:nvSpPr>
        <p:spPr>
          <a:xfrm>
            <a:off x="5120640" y="10646918"/>
            <a:ext cx="6400800" cy="743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Причины открытия и игнорирования; реакции на темы и форматы, вовлекающие механики</a:t>
            </a:r>
            <a:endParaRPr lang="en-US" sz="2200" dirty="0"/>
          </a:p>
        </p:txBody>
      </p:sp>
      <p:sp>
        <p:nvSpPr>
          <p:cNvPr id="23" name="topic"/>
          <p:cNvSpPr txBox="1"/>
          <p:nvPr/>
        </p:nvSpPr>
        <p:spPr>
          <a:xfrm>
            <a:off x="1554480" y="1150391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spc="100" kern="0" dirty="0">
                <a:solidFill>
                  <a:schemeClr val="accent2"/>
                </a:solidFill>
              </a:rPr>
              <a:t>ПРОДУКТОВЫЕ ВОЗМОЖНОСТИ</a:t>
            </a:r>
            <a:endParaRPr lang="en-US" sz="1800" dirty="0"/>
          </a:p>
        </p:txBody>
      </p:sp>
      <p:sp>
        <p:nvSpPr>
          <p:cNvPr id="24" name="topic text"/>
          <p:cNvSpPr txBox="1"/>
          <p:nvPr/>
        </p:nvSpPr>
        <p:spPr>
          <a:xfrm>
            <a:off x="5120640" y="11458194"/>
            <a:ext cx="6400800" cy="1114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Идеи персонализации рассылок, коммуникации экосистемы, Rambler и сортировка писем с ИИ</a:t>
            </a:r>
            <a:endParaRPr lang="en-US" sz="2200" dirty="0"/>
          </a:p>
        </p:txBody>
      </p:sp>
      <p:sp>
        <p:nvSpPr>
          <p:cNvPr id="25" name="card"/>
          <p:cNvSpPr/>
          <p:nvPr/>
        </p:nvSpPr>
        <p:spPr>
          <a:xfrm>
            <a:off x="12252960" y="8366760"/>
            <a:ext cx="11125505" cy="4572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26" name="label"/>
          <p:cNvSpPr txBox="1"/>
          <p:nvPr/>
        </p:nvSpPr>
        <p:spPr>
          <a:xfrm>
            <a:off x="12801600" y="8732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ЦЕЛИ ИССЛЕДОВАНИЯ</a:t>
            </a:r>
            <a:endParaRPr lang="en-US" sz="1700" dirty="0"/>
          </a:p>
        </p:txBody>
      </p:sp>
      <p:sp>
        <p:nvSpPr>
          <p:cNvPr id="27" name="icon disc"/>
          <p:cNvSpPr/>
          <p:nvPr/>
        </p:nvSpPr>
        <p:spPr>
          <a:xfrm>
            <a:off x="12909316" y="9590044"/>
            <a:ext cx="351495" cy="35149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190" y="9677918"/>
            <a:ext cx="175748" cy="175748"/>
          </a:xfrm>
          <a:prstGeom prst="rect">
            <a:avLst/>
          </a:prstGeom>
        </p:spPr>
      </p:pic>
      <p:sp>
        <p:nvSpPr>
          <p:cNvPr id="29" name="goal text"/>
          <p:cNvSpPr txBox="1"/>
          <p:nvPr/>
        </p:nvSpPr>
        <p:spPr>
          <a:xfrm>
            <a:off x="13624560" y="9464040"/>
            <a:ext cx="7285025" cy="743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Изучить привычки и предпочтения аудитории при пользовании e-mail-сервисами</a:t>
            </a:r>
            <a:endParaRPr lang="en-US" sz="2200" dirty="0"/>
          </a:p>
        </p:txBody>
      </p:sp>
      <p:sp>
        <p:nvSpPr>
          <p:cNvPr id="30" name="icon disc"/>
          <p:cNvSpPr/>
          <p:nvPr/>
        </p:nvSpPr>
        <p:spPr>
          <a:xfrm>
            <a:off x="12909316" y="10401320"/>
            <a:ext cx="351495" cy="35149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7190" y="10489194"/>
            <a:ext cx="175748" cy="175748"/>
          </a:xfrm>
          <a:prstGeom prst="rect">
            <a:avLst/>
          </a:prstGeom>
        </p:spPr>
      </p:pic>
      <p:sp>
        <p:nvSpPr>
          <p:cNvPr id="32" name="goal text"/>
          <p:cNvSpPr txBox="1"/>
          <p:nvPr/>
        </p:nvSpPr>
        <p:spPr>
          <a:xfrm>
            <a:off x="13624560" y="10275316"/>
            <a:ext cx="7285025" cy="1114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Изучить сценарии использования, понять, какая коммуникация привлекает пользователей, какие темы или механики интересны</a:t>
            </a:r>
            <a:endParaRPr lang="en-US" sz="2200" dirty="0"/>
          </a:p>
        </p:txBody>
      </p:sp>
      <p:sp>
        <p:nvSpPr>
          <p:cNvPr id="33" name="icon disc"/>
          <p:cNvSpPr/>
          <p:nvPr/>
        </p:nvSpPr>
        <p:spPr>
          <a:xfrm>
            <a:off x="12909316" y="11584198"/>
            <a:ext cx="351495" cy="35149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7190" y="11672072"/>
            <a:ext cx="175748" cy="175748"/>
          </a:xfrm>
          <a:prstGeom prst="rect">
            <a:avLst/>
          </a:prstGeom>
        </p:spPr>
      </p:pic>
      <p:sp>
        <p:nvSpPr>
          <p:cNvPr id="35" name="goal text"/>
          <p:cNvSpPr txBox="1"/>
          <p:nvPr/>
        </p:nvSpPr>
        <p:spPr>
          <a:xfrm>
            <a:off x="13624560" y="11458194"/>
            <a:ext cx="7285025" cy="1114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Разработать рекомендации для повышения интереса клиентов к каналу e-mail и к рассылкам банка, в частности</a:t>
            </a:r>
            <a:endParaRPr lang="en-US" sz="2200" dirty="0"/>
          </a:p>
        </p:txBody>
      </p:sp>
      <p:pic>
        <p:nvPicPr>
          <p:cNvPr id="36" name="Image 5" descr="/tmp/claude-0/-home-user--/79b729a8-3fa1-5cbb-8e3b-0cd80d582848/scratchpad/build/image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6785" y="10287000"/>
            <a:ext cx="1554480" cy="20391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Ключевые выводы</a:t>
            </a:r>
            <a:endParaRPr lang="en-US" sz="9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и рекомендации</a:t>
            </a:r>
            <a:endParaRPr lang="en-US" sz="9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Респонденты чаще заходят в почту за ожидаемым сообщением или для решения конкретной задачи</a:t>
            </a:r>
            <a:endParaRPr lang="en-US" sz="4200" dirty="0"/>
          </a:p>
        </p:txBody>
      </p:sp>
      <p:sp>
        <p:nvSpPr>
          <p:cNvPr id="5" name="lead"/>
          <p:cNvSpPr txBox="1"/>
          <p:nvPr/>
        </p:nvSpPr>
        <p:spPr>
          <a:xfrm>
            <a:off x="1005840" y="2834640"/>
            <a:ext cx="2237262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Электронная почта ассоциируется с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огромным количеством рассылок и спама, поэтому респонденты склоны не заходить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в почту без намерения. </a:t>
            </a:r>
            <a:pPr indent="0" marL="0">
              <a:lnSpc>
                <a:spcPct val="112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Встречаются кейсы, когда пользователи забрасывают ящик из-за переполненности</a:t>
            </a:r>
            <a:endParaRPr lang="en-US" sz="2500" dirty="0"/>
          </a:p>
        </p:txBody>
      </p:sp>
      <p:sp>
        <p:nvSpPr>
          <p:cNvPr id="6" name="card"/>
          <p:cNvSpPr/>
          <p:nvPr/>
        </p:nvSpPr>
        <p:spPr>
          <a:xfrm>
            <a:off x="1005840" y="4251960"/>
            <a:ext cx="14264640" cy="2560320"/>
          </a:xfrm>
          <a:prstGeom prst="roundRect">
            <a:avLst>
              <a:gd name="adj" fmla="val 10714"/>
            </a:avLst>
          </a:prstGeom>
          <a:solidFill>
            <a:srgbClr val="F4F7FC"/>
          </a:solidFill>
          <a:ln/>
        </p:spPr>
      </p:sp>
      <p:sp>
        <p:nvSpPr>
          <p:cNvPr id="7" name="label"/>
          <p:cNvSpPr txBox="1"/>
          <p:nvPr/>
        </p:nvSpPr>
        <p:spPr>
          <a:xfrm>
            <a:off x="1554480" y="4617720"/>
            <a:ext cx="1316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ДВА НАБЛЮДАЕМЫХ СПОСОБА РАБОТЫ С ПОЧТОЙ</a:t>
            </a:r>
            <a:endParaRPr lang="en-US" sz="1700" dirty="0"/>
          </a:p>
        </p:txBody>
      </p:sp>
      <p:sp>
        <p:nvSpPr>
          <p:cNvPr id="8" name="icon disc"/>
          <p:cNvSpPr/>
          <p:nvPr/>
        </p:nvSpPr>
        <p:spPr>
          <a:xfrm>
            <a:off x="1710842" y="5551322"/>
            <a:ext cx="510235" cy="510235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401" y="5678881"/>
            <a:ext cx="255118" cy="255118"/>
          </a:xfrm>
          <a:prstGeom prst="rect">
            <a:avLst/>
          </a:prstGeom>
        </p:spPr>
      </p:pic>
      <p:sp>
        <p:nvSpPr>
          <p:cNvPr id="10" name="way"/>
          <p:cNvSpPr txBox="1"/>
          <p:nvPr/>
        </p:nvSpPr>
        <p:spPr>
          <a:xfrm>
            <a:off x="2606040" y="5349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chemeClr val="tx1"/>
                </a:solidFill>
              </a:rPr>
              <a:t>Методичная проверка и фильтры: </a:t>
            </a:r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случайные письма отсеиваются</a:t>
            </a:r>
            <a:endParaRPr lang="en-US" sz="2300" dirty="0"/>
          </a:p>
        </p:txBody>
      </p:sp>
      <p:sp>
        <p:nvSpPr>
          <p:cNvPr id="11" name="icon disc"/>
          <p:cNvSpPr/>
          <p:nvPr/>
        </p:nvSpPr>
        <p:spPr>
          <a:xfrm>
            <a:off x="8568842" y="5551322"/>
            <a:ext cx="510235" cy="510235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401" y="5678881"/>
            <a:ext cx="255118" cy="255118"/>
          </a:xfrm>
          <a:prstGeom prst="rect">
            <a:avLst/>
          </a:prstGeom>
        </p:spPr>
      </p:pic>
      <p:sp>
        <p:nvSpPr>
          <p:cNvPr id="13" name="way"/>
          <p:cNvSpPr txBox="1"/>
          <p:nvPr/>
        </p:nvSpPr>
        <p:spPr>
          <a:xfrm>
            <a:off x="9464040" y="5349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chemeClr val="tx1"/>
                </a:solidFill>
              </a:rPr>
              <a:t>Проверка под задачу: </a:t>
            </a:r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остальное читают, когда есть время</a:t>
            </a:r>
            <a:endParaRPr lang="en-US" sz="2300" dirty="0"/>
          </a:p>
        </p:txBody>
      </p:sp>
      <p:sp>
        <p:nvSpPr>
          <p:cNvPr id="14" name="card"/>
          <p:cNvSpPr/>
          <p:nvPr/>
        </p:nvSpPr>
        <p:spPr>
          <a:xfrm>
            <a:off x="1005840" y="7086600"/>
            <a:ext cx="14264640" cy="5852160"/>
          </a:xfrm>
          <a:prstGeom prst="roundRect">
            <a:avLst>
              <a:gd name="adj" fmla="val 4688"/>
            </a:avLst>
          </a:prstGeom>
          <a:solidFill>
            <a:srgbClr val="F4F7FC"/>
          </a:solidFill>
          <a:ln/>
        </p:spPr>
      </p:sp>
      <p:sp>
        <p:nvSpPr>
          <p:cNvPr id="15" name="label"/>
          <p:cNvSpPr txBox="1"/>
          <p:nvPr/>
        </p:nvSpPr>
        <p:spPr>
          <a:xfrm>
            <a:off x="1554480" y="7452360"/>
            <a:ext cx="1316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ЗАЧЕМ КЛИЕНТЫ ЗАХОДЯТ В ПОЧТУ</a:t>
            </a:r>
            <a:endParaRPr lang="en-US" sz="1700" dirty="0"/>
          </a:p>
        </p:txBody>
      </p:sp>
      <p:sp>
        <p:nvSpPr>
          <p:cNvPr id="16" name="icon disc"/>
          <p:cNvSpPr/>
          <p:nvPr/>
        </p:nvSpPr>
        <p:spPr>
          <a:xfrm>
            <a:off x="1728216" y="8449056"/>
            <a:ext cx="566928" cy="566928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948" y="8590788"/>
            <a:ext cx="283464" cy="283464"/>
          </a:xfrm>
          <a:prstGeom prst="rect">
            <a:avLst/>
          </a:prstGeom>
        </p:spPr>
      </p:pic>
      <p:sp>
        <p:nvSpPr>
          <p:cNvPr id="18" name="reason"/>
          <p:cNvSpPr txBox="1"/>
          <p:nvPr/>
        </p:nvSpPr>
        <p:spPr>
          <a:xfrm>
            <a:off x="1554480" y="9509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Архив и подтверждение</a:t>
            </a:r>
            <a:endParaRPr lang="en-US" sz="2700" dirty="0"/>
          </a:p>
        </p:txBody>
      </p:sp>
      <p:sp>
        <p:nvSpPr>
          <p:cNvPr id="19" name="reason text"/>
          <p:cNvSpPr txBox="1"/>
          <p:nvPr/>
        </p:nvSpPr>
        <p:spPr>
          <a:xfrm>
            <a:off x="1554480" y="106070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Переписка, чеки, билеты и документы сохраняются на годы; к ним возвращаются по необходимости</a:t>
            </a:r>
            <a:endParaRPr lang="en-US" sz="2300" dirty="0"/>
          </a:p>
        </p:txBody>
      </p:sp>
      <p:sp>
        <p:nvSpPr>
          <p:cNvPr id="20" name="icon disc"/>
          <p:cNvSpPr/>
          <p:nvPr/>
        </p:nvSpPr>
        <p:spPr>
          <a:xfrm>
            <a:off x="6254496" y="8449056"/>
            <a:ext cx="566928" cy="566928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8590788"/>
            <a:ext cx="283464" cy="283464"/>
          </a:xfrm>
          <a:prstGeom prst="rect">
            <a:avLst/>
          </a:prstGeom>
        </p:spPr>
      </p:pic>
      <p:sp>
        <p:nvSpPr>
          <p:cNvPr id="22" name="reason"/>
          <p:cNvSpPr txBox="1"/>
          <p:nvPr/>
        </p:nvSpPr>
        <p:spPr>
          <a:xfrm>
            <a:off x="6080760" y="9509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Ожидаемое сообщение</a:t>
            </a:r>
            <a:endParaRPr lang="en-US" sz="2700" dirty="0"/>
          </a:p>
        </p:txBody>
      </p:sp>
      <p:sp>
        <p:nvSpPr>
          <p:cNvPr id="23" name="reason text"/>
          <p:cNvSpPr txBox="1"/>
          <p:nvPr/>
        </p:nvSpPr>
        <p:spPr>
          <a:xfrm>
            <a:off x="6080760" y="106070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Работа, учеба, семейные дела, регистрация или информация по текущему продукту</a:t>
            </a:r>
            <a:endParaRPr lang="en-US" sz="2300" dirty="0"/>
          </a:p>
        </p:txBody>
      </p:sp>
      <p:sp>
        <p:nvSpPr>
          <p:cNvPr id="24" name="icon disc"/>
          <p:cNvSpPr/>
          <p:nvPr/>
        </p:nvSpPr>
        <p:spPr>
          <a:xfrm>
            <a:off x="10780776" y="8449056"/>
            <a:ext cx="566928" cy="566928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508" y="8590788"/>
            <a:ext cx="283464" cy="283464"/>
          </a:xfrm>
          <a:prstGeom prst="rect">
            <a:avLst/>
          </a:prstGeom>
        </p:spPr>
      </p:pic>
      <p:sp>
        <p:nvSpPr>
          <p:cNvPr id="26" name="reason"/>
          <p:cNvSpPr txBox="1"/>
          <p:nvPr/>
        </p:nvSpPr>
        <p:spPr>
          <a:xfrm>
            <a:off x="10607040" y="9509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Поиск подходящей выгоды</a:t>
            </a:r>
            <a:endParaRPr lang="en-US" sz="2700" dirty="0"/>
          </a:p>
        </p:txBody>
      </p:sp>
      <p:sp>
        <p:nvSpPr>
          <p:cNvPr id="27" name="reason text"/>
          <p:cNvSpPr txBox="1"/>
          <p:nvPr/>
        </p:nvSpPr>
        <p:spPr>
          <a:xfrm>
            <a:off x="10607040" y="106070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При появлении потребности ищут письма магазинов и сервисов по названию, акции или скидке</a:t>
            </a:r>
            <a:endParaRPr lang="en-US" sz="2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0" y="4251960"/>
            <a:ext cx="7742225" cy="2103120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20288" y="4581144"/>
            <a:ext cx="310896" cy="310896"/>
          </a:xfrm>
          <a:prstGeom prst="rect">
            <a:avLst/>
          </a:prstGeom>
        </p:spPr>
      </p:pic>
      <p:sp>
        <p:nvSpPr>
          <p:cNvPr id="30" name="quote text"/>
          <p:cNvSpPr txBox="1"/>
          <p:nvPr/>
        </p:nvSpPr>
        <p:spPr>
          <a:xfrm>
            <a:off x="16687800" y="4526280"/>
            <a:ext cx="627918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«Переписку можно копнуть и за 5, и за 7 лет назад, и вот, пожалуйста, мы договаривались. Так что это доказательство»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30–44 года, Екатеринбург</a:t>
            </a:r>
            <a:endParaRPr lang="en-US" sz="2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36240" y="6537960"/>
            <a:ext cx="7742225" cy="2103120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20288" y="6867144"/>
            <a:ext cx="310896" cy="310896"/>
          </a:xfrm>
          <a:prstGeom prst="rect">
            <a:avLst/>
          </a:prstGeom>
        </p:spPr>
      </p:pic>
      <p:sp>
        <p:nvSpPr>
          <p:cNvPr id="33" name="quote text"/>
          <p:cNvSpPr txBox="1"/>
          <p:nvPr/>
        </p:nvSpPr>
        <p:spPr>
          <a:xfrm>
            <a:off x="16687800" y="6812280"/>
            <a:ext cx="627918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«А если я не жду никакого сообщения, то я, в принципе, на почту не захожу. Вот всё лето не заходила»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20–29 лет, Екатеринбург</a:t>
            </a:r>
            <a:endParaRPr lang="en-US" sz="21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36240" y="8823960"/>
            <a:ext cx="7742225" cy="4114800"/>
          </a:xfrm>
          <a:prstGeom prst="rect">
            <a:avLst/>
          </a:prstGeom>
        </p:spPr>
      </p:pic>
      <p:sp>
        <p:nvSpPr>
          <p:cNvPr id="35" name="conclusion label"/>
          <p:cNvSpPr txBox="1"/>
          <p:nvPr/>
        </p:nvSpPr>
        <p:spPr>
          <a:xfrm>
            <a:off x="16093440" y="9144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36" name="conclusion"/>
          <p:cNvSpPr txBox="1"/>
          <p:nvPr/>
        </p:nvSpPr>
        <p:spPr>
          <a:xfrm>
            <a:off x="16093440" y="9829800"/>
            <a:ext cx="682782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Отношение аудитории к электронной почте отличается при использовании почты по собственной инициативе и при получении рассылок</a:t>
            </a:r>
            <a:endParaRPr lang="en-US" sz="2100" dirty="0"/>
          </a:p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Возможность привлечь внимание клиента в нужный момент ограничена. Шанс на прочтение выше, если письмо ожидаемо или связано с актуальной задачей клиента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Аудитория склонна игнорировать письма и рассылки от банков</a:t>
            </a:r>
            <a:endParaRPr lang="en-US" sz="4200" dirty="0"/>
          </a:p>
        </p:txBody>
      </p:sp>
      <p:sp>
        <p:nvSpPr>
          <p:cNvPr id="5" name="hypothesis"/>
          <p:cNvSpPr txBox="1"/>
          <p:nvPr/>
        </p:nvSpPr>
        <p:spPr>
          <a:xfrm>
            <a:off x="1005840" y="2240280"/>
            <a:ext cx="1453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chemeClr val="accent3"/>
                </a:solidFill>
              </a:rPr>
              <a:t>Гипотеза о том, что потребители не читают рассылки из банков, подтвердилась</a:t>
            </a:r>
            <a:endParaRPr lang="en-US" sz="2800" dirty="0"/>
          </a:p>
        </p:txBody>
      </p:sp>
      <p:sp>
        <p:nvSpPr>
          <p:cNvPr id="6" name="exception"/>
          <p:cNvSpPr txBox="1"/>
          <p:nvPr/>
        </p:nvSpPr>
        <p:spPr>
          <a:xfrm>
            <a:off x="1005840" y="3063240"/>
            <a:ext cx="1453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Исключение составляют письма, информирующие, например, о приближающихся сроках оплаты кредита, или об изменениях условий обслуживания по их продуктам. Иногда обращают внимание на письма, сообщающие о выгодных акциях.</a:t>
            </a:r>
            <a:endParaRPr lang="en-US" sz="2400" dirty="0"/>
          </a:p>
        </p:txBody>
      </p:sp>
      <p:sp>
        <p:nvSpPr>
          <p:cNvPr id="7" name="label"/>
          <p:cNvSpPr txBox="1"/>
          <p:nvPr/>
        </p:nvSpPr>
        <p:spPr>
          <a:xfrm>
            <a:off x="1005840" y="457200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ПРИЧИНЫ ИГНОРИРОВАНИЯ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1005840" y="5166360"/>
            <a:ext cx="14538960" cy="2011680"/>
          </a:xfrm>
          <a:prstGeom prst="roundRect">
            <a:avLst>
              <a:gd name="adj" fmla="val 13636"/>
            </a:avLst>
          </a:prstGeom>
          <a:solidFill>
            <a:srgbClr val="F4F7FC"/>
          </a:solidFill>
          <a:ln/>
        </p:spPr>
      </p:sp>
      <p:sp>
        <p:nvSpPr>
          <p:cNvPr id="9" name="icon disc"/>
          <p:cNvSpPr/>
          <p:nvPr/>
        </p:nvSpPr>
        <p:spPr>
          <a:xfrm>
            <a:off x="1628089" y="5880049"/>
            <a:ext cx="538582" cy="538582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735" y="6014695"/>
            <a:ext cx="269291" cy="269291"/>
          </a:xfrm>
          <a:prstGeom prst="rect">
            <a:avLst/>
          </a:prstGeom>
        </p:spPr>
      </p:pic>
      <p:sp>
        <p:nvSpPr>
          <p:cNvPr id="11" name="cause"/>
          <p:cNvSpPr txBox="1"/>
          <p:nvPr/>
        </p:nvSpPr>
        <p:spPr>
          <a:xfrm>
            <a:off x="2697480" y="544068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Ожидание продажи</a:t>
            </a:r>
            <a:endParaRPr lang="en-US" sz="2700" dirty="0"/>
          </a:p>
        </p:txBody>
      </p:sp>
      <p:sp>
        <p:nvSpPr>
          <p:cNvPr id="12" name="cause text"/>
          <p:cNvSpPr txBox="1"/>
          <p:nvPr/>
        </p:nvSpPr>
        <p:spPr>
          <a:xfrm>
            <a:off x="2697480" y="6062472"/>
            <a:ext cx="1243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Предложения кредитов и других продуктов не совпадают с текущей потребностью; рассылку считают выгодной прежде всего банку</a:t>
            </a:r>
            <a:endParaRPr lang="en-US" sz="2300" dirty="0"/>
          </a:p>
        </p:txBody>
      </p:sp>
      <p:sp>
        <p:nvSpPr>
          <p:cNvPr id="13" name="card"/>
          <p:cNvSpPr/>
          <p:nvPr/>
        </p:nvSpPr>
        <p:spPr>
          <a:xfrm>
            <a:off x="1005840" y="7360920"/>
            <a:ext cx="14538960" cy="2011680"/>
          </a:xfrm>
          <a:prstGeom prst="roundRect">
            <a:avLst>
              <a:gd name="adj" fmla="val 13636"/>
            </a:avLst>
          </a:prstGeom>
          <a:solidFill>
            <a:srgbClr val="F4F7FC"/>
          </a:solidFill>
          <a:ln/>
        </p:spPr>
      </p:sp>
      <p:sp>
        <p:nvSpPr>
          <p:cNvPr id="14" name="icon disc"/>
          <p:cNvSpPr/>
          <p:nvPr/>
        </p:nvSpPr>
        <p:spPr>
          <a:xfrm>
            <a:off x="1628089" y="8074609"/>
            <a:ext cx="538582" cy="538582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735" y="8209255"/>
            <a:ext cx="269291" cy="269291"/>
          </a:xfrm>
          <a:prstGeom prst="rect">
            <a:avLst/>
          </a:prstGeom>
        </p:spPr>
      </p:pic>
      <p:sp>
        <p:nvSpPr>
          <p:cNvPr id="16" name="cause"/>
          <p:cNvSpPr txBox="1"/>
          <p:nvPr/>
        </p:nvSpPr>
        <p:spPr>
          <a:xfrm>
            <a:off x="2697480" y="763524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Сильная привычка к приложению</a:t>
            </a:r>
            <a:endParaRPr lang="en-US" sz="2700" dirty="0"/>
          </a:p>
        </p:txBody>
      </p:sp>
      <p:sp>
        <p:nvSpPr>
          <p:cNvPr id="17" name="cause text"/>
          <p:cNvSpPr txBox="1"/>
          <p:nvPr/>
        </p:nvSpPr>
        <p:spPr>
          <a:xfrm>
            <a:off x="2697480" y="8257032"/>
            <a:ext cx="1243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Сведения о своих продуктах и важные уведомления привычнее получать в приложении; отдельная роль письма неочевидна</a:t>
            </a:r>
            <a:endParaRPr lang="en-US" sz="2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0" y="2240280"/>
            <a:ext cx="7467905" cy="420624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4608" y="2569464"/>
            <a:ext cx="310896" cy="310896"/>
          </a:xfrm>
          <a:prstGeom prst="rect">
            <a:avLst/>
          </a:prstGeom>
        </p:spPr>
      </p:pic>
      <p:sp>
        <p:nvSpPr>
          <p:cNvPr id="20" name="quote text"/>
          <p:cNvSpPr txBox="1"/>
          <p:nvPr/>
        </p:nvSpPr>
        <p:spPr>
          <a:xfrm>
            <a:off x="16322040" y="3264408"/>
            <a:ext cx="6644945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45-55, Москва</a:t>
            </a:r>
            <a:endParaRPr lang="en-US" sz="2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0560" y="6629400"/>
            <a:ext cx="7467905" cy="274320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94608" y="6958584"/>
            <a:ext cx="310896" cy="310896"/>
          </a:xfrm>
          <a:prstGeom prst="rect">
            <a:avLst/>
          </a:prstGeom>
        </p:spPr>
      </p:pic>
      <p:sp>
        <p:nvSpPr>
          <p:cNvPr id="23" name="quote text"/>
          <p:cNvSpPr txBox="1"/>
          <p:nvPr/>
        </p:nvSpPr>
        <p:spPr>
          <a:xfrm>
            <a:off x="16322040" y="7653528"/>
            <a:ext cx="6644945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20–29 лет, Москва</a:t>
            </a:r>
            <a:endParaRPr lang="en-US" sz="2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9601200"/>
            <a:ext cx="22372625" cy="3337560"/>
          </a:xfrm>
          <a:prstGeom prst="rect">
            <a:avLst/>
          </a:prstGeom>
        </p:spPr>
      </p:pic>
      <p:sp>
        <p:nvSpPr>
          <p:cNvPr id="25" name="conclusion label"/>
          <p:cNvSpPr txBox="1"/>
          <p:nvPr/>
        </p:nvSpPr>
        <p:spPr>
          <a:xfrm>
            <a:off x="1554480" y="9921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26" name="conclusion"/>
          <p:cNvSpPr txBox="1"/>
          <p:nvPr/>
        </p:nvSpPr>
        <p:spPr>
          <a:xfrm>
            <a:off x="1554480" y="10652760"/>
            <a:ext cx="102719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К рассылкам от Сбера предъявляют и дополнительные претензии: в отличие от, например, рассылок от Т-банка или Оzon-банка рассылки от Сбера оцениваются как слишком общие, формальные, без персональных рекомендаций и предложений. Они ничем не выделяются из потока рассылок и не вызывают желание с ними ознакомиться.</a:t>
            </a:r>
            <a:endParaRPr lang="en-US" sz="2300" dirty="0"/>
          </a:p>
        </p:txBody>
      </p:sp>
      <p:sp>
        <p:nvSpPr>
          <p:cNvPr id="27" name="conclusion"/>
          <p:cNvSpPr txBox="1"/>
          <p:nvPr/>
        </p:nvSpPr>
        <p:spPr>
          <a:xfrm>
            <a:off x="12557912" y="10652760"/>
            <a:ext cx="102719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Потребители чаще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Повысить интерес к использованию почтового канала и к email рассылкам банка сложно, но возможно</a:t>
            </a:r>
            <a:endParaRPr lang="en-US" sz="4200" dirty="0"/>
          </a:p>
        </p:txBody>
      </p:sp>
      <p:sp>
        <p:nvSpPr>
          <p:cNvPr id="4" name="card"/>
          <p:cNvSpPr/>
          <p:nvPr/>
        </p:nvSpPr>
        <p:spPr>
          <a:xfrm>
            <a:off x="1005840" y="3017520"/>
            <a:ext cx="7223760" cy="8595360"/>
          </a:xfrm>
          <a:prstGeom prst="roundRect">
            <a:avLst>
              <a:gd name="adj" fmla="val 3797"/>
            </a:avLst>
          </a:prstGeom>
          <a:solidFill>
            <a:srgbClr val="F4F7FC"/>
          </a:solidFill>
          <a:ln/>
        </p:spPr>
      </p:sp>
      <p:sp>
        <p:nvSpPr>
          <p:cNvPr id="5" name="card"/>
          <p:cNvSpPr/>
          <p:nvPr/>
        </p:nvSpPr>
        <p:spPr>
          <a:xfrm>
            <a:off x="1280160" y="3291840"/>
            <a:ext cx="6675120" cy="2011680"/>
          </a:xfrm>
          <a:prstGeom prst="roundRect">
            <a:avLst>
              <a:gd name="adj" fmla="val 13636"/>
            </a:avLst>
          </a:prstGeom>
          <a:solidFill>
            <a:srgbClr val="E6ECF5"/>
          </a:solidFill>
          <a:ln/>
        </p:spPr>
      </p:sp>
      <p:sp>
        <p:nvSpPr>
          <p:cNvPr id="6" name="problem"/>
          <p:cNvSpPr txBox="1"/>
          <p:nvPr/>
        </p:nvSpPr>
        <p:spPr>
          <a:xfrm>
            <a:off x="1645920" y="32918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Аудитория привыкла считать, что </a:t>
            </a:r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рассылки – это общие стандартные предложения, навязывание ненужных продуктов и услуг</a:t>
            </a:r>
            <a:endParaRPr lang="en-US" sz="2400" dirty="0"/>
          </a:p>
        </p:txBody>
      </p:sp>
      <p:sp>
        <p:nvSpPr>
          <p:cNvPr id="7" name="ideas intro"/>
          <p:cNvSpPr txBox="1"/>
          <p:nvPr/>
        </p:nvSpPr>
        <p:spPr>
          <a:xfrm>
            <a:off x="1463040" y="5577840"/>
            <a:ext cx="6309360" cy="120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Однако в ходе дискуссий с потребителями было выявлено несколько идей как повысить к ним интерес:</a:t>
            </a:r>
            <a:endParaRPr lang="en-US" sz="2200" dirty="0"/>
          </a:p>
        </p:txBody>
      </p:sp>
      <p:sp>
        <p:nvSpPr>
          <p:cNvPr id="8" name="icon disc"/>
          <p:cNvSpPr/>
          <p:nvPr/>
        </p:nvSpPr>
        <p:spPr>
          <a:xfrm>
            <a:off x="1584655" y="7180021"/>
            <a:ext cx="396850" cy="39685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868" y="7279234"/>
            <a:ext cx="198425" cy="198425"/>
          </a:xfrm>
          <a:prstGeom prst="rect">
            <a:avLst/>
          </a:prstGeom>
        </p:spPr>
      </p:pic>
      <p:sp>
        <p:nvSpPr>
          <p:cNvPr id="10" name="idea"/>
          <p:cNvSpPr txBox="1"/>
          <p:nvPr/>
        </p:nvSpPr>
        <p:spPr>
          <a:xfrm>
            <a:off x="2331720" y="7012686"/>
            <a:ext cx="5486400" cy="100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Дать возможность </a:t>
            </a:r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настроить рассылку — выбрать в приложении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получать ли письма, на какие темы и по каким продуктам</a:t>
            </a:r>
            <a:endParaRPr lang="en-US" sz="1900" dirty="0"/>
          </a:p>
        </p:txBody>
      </p:sp>
      <p:sp>
        <p:nvSpPr>
          <p:cNvPr id="11" name="icon disc"/>
          <p:cNvSpPr/>
          <p:nvPr/>
        </p:nvSpPr>
        <p:spPr>
          <a:xfrm>
            <a:off x="1584655" y="8334451"/>
            <a:ext cx="396850" cy="39685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868" y="8433664"/>
            <a:ext cx="198425" cy="198425"/>
          </a:xfrm>
          <a:prstGeom prst="rect">
            <a:avLst/>
          </a:prstGeom>
        </p:spPr>
      </p:pic>
      <p:sp>
        <p:nvSpPr>
          <p:cNvPr id="13" name="idea"/>
          <p:cNvSpPr txBox="1"/>
          <p:nvPr/>
        </p:nvSpPr>
        <p:spPr>
          <a:xfrm>
            <a:off x="2331720" y="8167116"/>
            <a:ext cx="5486400" cy="132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Заранее обозначать ценность письма 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</a:t>
            </a:r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анонсировать важное сообщение в приложении или СМС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объясняя, что клиент найдет в почте</a:t>
            </a:r>
            <a:endParaRPr lang="en-US" sz="1900" dirty="0"/>
          </a:p>
        </p:txBody>
      </p:sp>
      <p:sp>
        <p:nvSpPr>
          <p:cNvPr id="14" name="icon disc"/>
          <p:cNvSpPr/>
          <p:nvPr/>
        </p:nvSpPr>
        <p:spPr>
          <a:xfrm>
            <a:off x="1584655" y="9809810"/>
            <a:ext cx="396850" cy="396850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868" y="9909023"/>
            <a:ext cx="198425" cy="198425"/>
          </a:xfrm>
          <a:prstGeom prst="rect">
            <a:avLst/>
          </a:prstGeom>
        </p:spPr>
      </p:pic>
      <p:sp>
        <p:nvSpPr>
          <p:cNvPr id="16" name="idea"/>
          <p:cNvSpPr txBox="1"/>
          <p:nvPr/>
        </p:nvSpPr>
        <p:spPr>
          <a:xfrm>
            <a:off x="2331720" y="9642475"/>
            <a:ext cx="5486400" cy="1650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Проверить связку с сервисами экосистемы 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включать банковское предложение в письмо сервиса, если оно связано с задачей клиента и дополняет основную пользу сообщения</a:t>
            </a:r>
            <a:endParaRPr lang="en-US" sz="1900" dirty="0"/>
          </a:p>
        </p:txBody>
      </p:sp>
      <p:sp>
        <p:nvSpPr>
          <p:cNvPr id="17" name="card"/>
          <p:cNvSpPr/>
          <p:nvPr/>
        </p:nvSpPr>
        <p:spPr>
          <a:xfrm>
            <a:off x="8503920" y="3017520"/>
            <a:ext cx="8686800" cy="8595360"/>
          </a:xfrm>
          <a:prstGeom prst="roundRect">
            <a:avLst>
              <a:gd name="adj" fmla="val 3191"/>
            </a:avLst>
          </a:prstGeom>
          <a:solidFill>
            <a:srgbClr val="F4F7FC"/>
          </a:solidFill>
          <a:ln/>
        </p:spPr>
      </p:sp>
      <p:sp>
        <p:nvSpPr>
          <p:cNvPr id="18" name="recommendation head"/>
          <p:cNvSpPr txBox="1"/>
          <p:nvPr/>
        </p:nvSpPr>
        <p:spPr>
          <a:xfrm>
            <a:off x="8961120" y="3383280"/>
            <a:ext cx="7772400" cy="868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Рекомендуется сместить акцент в почтовой коммуникации:</a:t>
            </a:r>
            <a:endParaRPr lang="en-US" sz="2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4580890"/>
            <a:ext cx="329184" cy="329184"/>
          </a:xfrm>
          <a:prstGeom prst="rect">
            <a:avLst/>
          </a:prstGeom>
        </p:spPr>
      </p:pic>
      <p:sp>
        <p:nvSpPr>
          <p:cNvPr id="20" name="recommendation"/>
          <p:cNvSpPr txBox="1"/>
          <p:nvPr/>
        </p:nvSpPr>
        <p:spPr>
          <a:xfrm>
            <a:off x="9646920" y="4526026"/>
            <a:ext cx="7086600" cy="75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Максимальная персонализация, вместо общих стандартных предложений</a:t>
            </a:r>
            <a:endParaRPr lang="en-US" sz="2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5564632"/>
            <a:ext cx="329184" cy="329184"/>
          </a:xfrm>
          <a:prstGeom prst="rect">
            <a:avLst/>
          </a:prstGeom>
        </p:spPr>
      </p:pic>
      <p:sp>
        <p:nvSpPr>
          <p:cNvPr id="22" name="recommendation"/>
          <p:cNvSpPr txBox="1"/>
          <p:nvPr/>
        </p:nvSpPr>
        <p:spPr>
          <a:xfrm>
            <a:off x="9646920" y="5509768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Понятная выгода и ценность для потребителя.</a:t>
            </a:r>
            <a:endParaRPr lang="en-US" sz="2100" dirty="0"/>
          </a:p>
        </p:txBody>
      </p:sp>
      <p:sp>
        <p:nvSpPr>
          <p:cNvPr id="23" name="card"/>
          <p:cNvSpPr/>
          <p:nvPr/>
        </p:nvSpPr>
        <p:spPr>
          <a:xfrm>
            <a:off x="8778240" y="6332728"/>
            <a:ext cx="8138160" cy="1419987"/>
          </a:xfrm>
          <a:prstGeom prst="roundRect">
            <a:avLst>
              <a:gd name="adj" fmla="val 19318"/>
            </a:avLst>
          </a:prstGeom>
          <a:solidFill>
            <a:srgbClr val="E3F3E7"/>
          </a:solidFill>
          <a:ln/>
        </p:spPr>
      </p:sp>
      <p:sp>
        <p:nvSpPr>
          <p:cNvPr id="24" name="format"/>
          <p:cNvSpPr txBox="1"/>
          <p:nvPr/>
        </p:nvSpPr>
        <p:spPr>
          <a:xfrm>
            <a:off x="9052560" y="6332728"/>
            <a:ext cx="7589520" cy="1419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Формат должен быть максимально лаконичный и визуализированный (видеоролик или инфографика), с конкретными данными (цифрами, процентами, сроками).</a:t>
            </a:r>
            <a:endParaRPr lang="en-US" sz="1900" dirty="0"/>
          </a:p>
        </p:txBody>
      </p:sp>
      <p:sp>
        <p:nvSpPr>
          <p:cNvPr id="25" name="examples label"/>
          <p:cNvSpPr txBox="1"/>
          <p:nvPr/>
        </p:nvSpPr>
        <p:spPr>
          <a:xfrm>
            <a:off x="8961120" y="798131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Например:</a:t>
            </a:r>
            <a:endParaRPr lang="en-US" sz="2000" dirty="0"/>
          </a:p>
        </p:txBody>
      </p:sp>
      <p:sp>
        <p:nvSpPr>
          <p:cNvPr id="26" name="examples"/>
          <p:cNvSpPr txBox="1"/>
          <p:nvPr/>
        </p:nvSpPr>
        <p:spPr>
          <a:xfrm>
            <a:off x="8961120" y="8392795"/>
            <a:ext cx="7772400" cy="308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по текущим продуктам и их более выгодным альтернативам.</a:t>
            </a:r>
            <a:endParaRPr lang="en-US" sz="1700" dirty="0"/>
          </a:p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Информировать об изменениях в законодательстве или банковской сфере и их последствиях, которые касаются конкретного пользователя</a:t>
            </a:r>
            <a:endParaRPr lang="en-US" sz="1700" dirty="0"/>
          </a:p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на основе трат – например, при оплате обучения в автошколе – письмо о том, что могут вернуть такую-то сумму налога за оплату обучения в автошкол;</a:t>
            </a:r>
            <a:endParaRPr lang="en-US" sz="1700" dirty="0"/>
          </a:p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Предлагать краткие образовательные видеоролики или дайджесты на интересующие потребителя темы.</a:t>
            </a:r>
            <a:endParaRPr lang="en-US" sz="17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65040" y="3017520"/>
            <a:ext cx="5913425" cy="2240280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49088" y="3346704"/>
            <a:ext cx="310896" cy="310896"/>
          </a:xfrm>
          <a:prstGeom prst="rect">
            <a:avLst/>
          </a:prstGeom>
        </p:spPr>
      </p:pic>
      <p:sp>
        <p:nvSpPr>
          <p:cNvPr id="29" name="quote text"/>
          <p:cNvSpPr txBox="1"/>
          <p:nvPr/>
        </p:nvSpPr>
        <p:spPr>
          <a:xfrm>
            <a:off x="18516600" y="3291840"/>
            <a:ext cx="445038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«Я портфель не проверяю каждый день, а тут после письма зашла, купила снова акции на эти»</a:t>
            </a:r>
            <a:endParaRPr lang="en-US" sz="18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chemeClr val="accent6"/>
                </a:solidFill>
              </a:rPr>
              <a:t>30–44 года, Москва</a:t>
            </a:r>
            <a:endParaRPr lang="en-US" sz="18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65040" y="5440680"/>
            <a:ext cx="5913425" cy="3017520"/>
          </a:xfrm>
          <a:prstGeom prst="rect">
            <a:avLst/>
          </a:prstGeom>
        </p:spPr>
      </p:pic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49088" y="5769864"/>
            <a:ext cx="310896" cy="310896"/>
          </a:xfrm>
          <a:prstGeom prst="rect">
            <a:avLst/>
          </a:prstGeom>
        </p:spPr>
      </p:pic>
      <p:sp>
        <p:nvSpPr>
          <p:cNvPr id="32" name="quote text"/>
          <p:cNvSpPr txBox="1"/>
          <p:nvPr/>
        </p:nvSpPr>
        <p:spPr>
          <a:xfrm>
            <a:off x="18516600" y="5715000"/>
            <a:ext cx="445038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«Я как-то раз отключил подписку на Яндекс.Музыку, и через 3 дня мне пришло письмо с индивидуальным предложением от них, что 60 дней подписки за 1 рубль»</a:t>
            </a:r>
            <a:endParaRPr lang="en-US" sz="18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chemeClr val="accent6"/>
                </a:solidFill>
              </a:rPr>
              <a:t>20-29, Екатеринбург</a:t>
            </a:r>
            <a:endParaRPr lang="en-US" sz="1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65040" y="8641080"/>
            <a:ext cx="5913425" cy="4297680"/>
          </a:xfrm>
          <a:prstGeom prst="rect">
            <a:avLst/>
          </a:prstGeom>
        </p:spPr>
      </p:pic>
      <p:sp>
        <p:nvSpPr>
          <p:cNvPr id="34" name="conclusion label"/>
          <p:cNvSpPr txBox="1"/>
          <p:nvPr/>
        </p:nvSpPr>
        <p:spPr>
          <a:xfrm>
            <a:off x="17876520" y="8915400"/>
            <a:ext cx="50904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35" name="conclusion intro"/>
          <p:cNvSpPr txBox="1"/>
          <p:nvPr/>
        </p:nvSpPr>
        <p:spPr>
          <a:xfrm>
            <a:off x="17876520" y="9601200"/>
            <a:ext cx="50904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Письма банка привлекают внимание, когда касаются текущего продукта клиента:</a:t>
            </a:r>
            <a:endParaRPr lang="en-US" sz="1900" dirty="0"/>
          </a:p>
        </p:txBody>
      </p:sp>
      <p:sp>
        <p:nvSpPr>
          <p:cNvPr id="36" name="conclusion"/>
          <p:cNvSpPr txBox="1"/>
          <p:nvPr/>
        </p:nvSpPr>
        <p:spPr>
          <a:xfrm>
            <a:off x="17876520" y="10927080"/>
            <a:ext cx="509046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Изменения условий своего продукта,</a:t>
            </a:r>
            <a:endParaRPr lang="en-US" sz="1900" dirty="0"/>
          </a:p>
          <a:p>
            <a:pPr marL="279400" indent="-279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предстоящий платеж,</a:t>
            </a:r>
            <a:endParaRPr lang="en-US" sz="1900" dirty="0"/>
          </a:p>
          <a:p>
            <a:pPr marL="279400" indent="-279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начисление дивидендов</a:t>
            </a:r>
            <a:endParaRPr lang="en-US" sz="1900" dirty="0"/>
          </a:p>
          <a:p>
            <a:pPr marL="279400" indent="-279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важное обновление приложения</a:t>
            </a:r>
            <a:endParaRPr lang="en-US" sz="1900" dirty="0"/>
          </a:p>
        </p:txBody>
      </p:sp>
      <p:sp>
        <p:nvSpPr>
          <p:cNvPr id="37" name="card"/>
          <p:cNvSpPr/>
          <p:nvPr/>
        </p:nvSpPr>
        <p:spPr>
          <a:xfrm>
            <a:off x="1005840" y="11841480"/>
            <a:ext cx="16184880" cy="1097280"/>
          </a:xfrm>
          <a:prstGeom prst="roundRect">
            <a:avLst>
              <a:gd name="adj" fmla="val 25000"/>
            </a:avLst>
          </a:prstGeom>
          <a:solidFill>
            <a:srgbClr val="E3F3E7"/>
          </a:solidFill>
          <a:ln/>
        </p:spPr>
      </p:sp>
      <p:sp>
        <p:nvSpPr>
          <p:cNvPr id="38" name="icon disc"/>
          <p:cNvSpPr/>
          <p:nvPr/>
        </p:nvSpPr>
        <p:spPr>
          <a:xfrm>
            <a:off x="1501902" y="12177522"/>
            <a:ext cx="425196" cy="42519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8201" y="12283821"/>
            <a:ext cx="212598" cy="212598"/>
          </a:xfrm>
          <a:prstGeom prst="rect">
            <a:avLst/>
          </a:prstGeom>
        </p:spPr>
      </p:pic>
      <p:sp>
        <p:nvSpPr>
          <p:cNvPr id="40" name="frequency"/>
          <p:cNvSpPr txBox="1"/>
          <p:nvPr/>
        </p:nvSpPr>
        <p:spPr>
          <a:xfrm>
            <a:off x="2377440" y="11841480"/>
            <a:ext cx="1444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Приемлемая частота рассылок </a:t>
            </a:r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– раз в неделю на бренд / компанию. Получение писем чаще, чем несколько раз в неделю, уже может восприниматься как спам.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Письмо от бренда может привлечь конкретной пользой, актуальным поводом и понятным отправителем</a:t>
            </a:r>
            <a:endParaRPr lang="en-US" sz="4200" dirty="0"/>
          </a:p>
        </p:txBody>
      </p:sp>
      <p:sp>
        <p:nvSpPr>
          <p:cNvPr id="5" name="column head"/>
          <p:cNvSpPr txBox="1"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ЭЛЕМЕНТ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251960" y="2907792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D2EBD9"/>
          </a:solidFill>
          <a:ln/>
        </p:spPr>
      </p:sp>
      <p:sp>
        <p:nvSpPr>
          <p:cNvPr id="7" name="column head"/>
          <p:cNvSpPr txBox="1"/>
          <p:nvPr/>
        </p:nvSpPr>
        <p:spPr>
          <a:xfrm>
            <a:off x="4251960" y="29077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b="1" spc="150" kern="0" dirty="0">
                <a:solidFill>
                  <a:schemeClr val="accent3"/>
                </a:solidFill>
              </a:rPr>
              <a:t>ЧТО ПРИВЛЕКАЕТ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9875520" y="2907792"/>
            <a:ext cx="5303520" cy="640080"/>
          </a:xfrm>
          <a:prstGeom prst="roundRect">
            <a:avLst>
              <a:gd name="adj" fmla="val 50000"/>
            </a:avLst>
          </a:prstGeom>
          <a:solidFill>
            <a:srgbClr val="D3DDEC"/>
          </a:solidFill>
          <a:ln/>
        </p:spPr>
      </p:sp>
      <p:sp>
        <p:nvSpPr>
          <p:cNvPr id="9" name="column head"/>
          <p:cNvSpPr txBox="1"/>
          <p:nvPr/>
        </p:nvSpPr>
        <p:spPr>
          <a:xfrm>
            <a:off x="9875520" y="290779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b="1" spc="150" kern="0" dirty="0">
                <a:solidFill>
                  <a:schemeClr val="accent6"/>
                </a:solidFill>
              </a:rPr>
              <a:t>ЧТО ОТТАЛКИВАЕТ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1005840" y="384048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11" name="element"/>
          <p:cNvSpPr txBox="1"/>
          <p:nvPr/>
        </p:nvSpPr>
        <p:spPr>
          <a:xfrm>
            <a:off x="1371600" y="384048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Повод</a:t>
            </a:r>
            <a:endParaRPr lang="en-US" sz="2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480560"/>
            <a:ext cx="292608" cy="292608"/>
          </a:xfrm>
          <a:prstGeom prst="rect">
            <a:avLst/>
          </a:prstGeom>
        </p:spPr>
      </p:pic>
      <p:sp>
        <p:nvSpPr>
          <p:cNvPr id="13" name="attracts"/>
          <p:cNvSpPr txBox="1"/>
          <p:nvPr/>
        </p:nvSpPr>
        <p:spPr>
          <a:xfrm>
            <a:off x="4937760" y="384048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Связь с планами, потребностью или текущим продуктом</a:t>
            </a:r>
            <a:endParaRPr lang="en-US" sz="2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480560"/>
            <a:ext cx="292608" cy="292608"/>
          </a:xfrm>
          <a:prstGeom prst="rect">
            <a:avLst/>
          </a:prstGeom>
        </p:spPr>
      </p:pic>
      <p:sp>
        <p:nvSpPr>
          <p:cNvPr id="15" name="repels"/>
          <p:cNvSpPr txBox="1"/>
          <p:nvPr/>
        </p:nvSpPr>
        <p:spPr>
          <a:xfrm>
            <a:off x="10561320" y="384048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Общее предложение без связи с ситуацией клиента, но с пометкой для вас</a:t>
            </a:r>
            <a:endParaRPr lang="en-US" sz="2100" dirty="0"/>
          </a:p>
        </p:txBody>
      </p:sp>
      <p:sp>
        <p:nvSpPr>
          <p:cNvPr id="16" name="card"/>
          <p:cNvSpPr/>
          <p:nvPr/>
        </p:nvSpPr>
        <p:spPr>
          <a:xfrm>
            <a:off x="1005840" y="557784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17" name="element"/>
          <p:cNvSpPr txBox="1"/>
          <p:nvPr/>
        </p:nvSpPr>
        <p:spPr>
          <a:xfrm>
            <a:off x="1371600" y="557784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Тема письма</a:t>
            </a:r>
            <a:endParaRPr lang="en-US" sz="2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6217920"/>
            <a:ext cx="292608" cy="292608"/>
          </a:xfrm>
          <a:prstGeom prst="rect">
            <a:avLst/>
          </a:prstGeom>
        </p:spPr>
      </p:pic>
      <p:sp>
        <p:nvSpPr>
          <p:cNvPr id="19" name="attracts"/>
          <p:cNvSpPr txBox="1"/>
          <p:nvPr/>
        </p:nvSpPr>
        <p:spPr>
          <a:xfrm>
            <a:off x="4937760" y="557784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Сразу понятно, что внутри: выгода, изменение, конкретные условия</a:t>
            </a:r>
            <a:endParaRPr lang="en-US" sz="2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6217920"/>
            <a:ext cx="292608" cy="292608"/>
          </a:xfrm>
          <a:prstGeom prst="rect">
            <a:avLst/>
          </a:prstGeom>
        </p:spPr>
      </p:pic>
      <p:sp>
        <p:nvSpPr>
          <p:cNvPr id="21" name="repels"/>
          <p:cNvSpPr txBox="1"/>
          <p:nvPr/>
        </p:nvSpPr>
        <p:spPr>
          <a:xfrm>
            <a:off x="10561320" y="557784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«Срочно», «Внимание», громкие обещания и искусственная срочность</a:t>
            </a:r>
            <a:endParaRPr lang="en-US" sz="2100" dirty="0"/>
          </a:p>
        </p:txBody>
      </p:sp>
      <p:sp>
        <p:nvSpPr>
          <p:cNvPr id="22" name="card"/>
          <p:cNvSpPr/>
          <p:nvPr/>
        </p:nvSpPr>
        <p:spPr>
          <a:xfrm>
            <a:off x="1005840" y="731520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23" name="element"/>
          <p:cNvSpPr txBox="1"/>
          <p:nvPr/>
        </p:nvSpPr>
        <p:spPr>
          <a:xfrm>
            <a:off x="1371600" y="731520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Отправитель</a:t>
            </a:r>
            <a:endParaRPr lang="en-US" sz="2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7955280"/>
            <a:ext cx="292608" cy="292608"/>
          </a:xfrm>
          <a:prstGeom prst="rect">
            <a:avLst/>
          </a:prstGeom>
        </p:spPr>
      </p:pic>
      <p:sp>
        <p:nvSpPr>
          <p:cNvPr id="25" name="attracts"/>
          <p:cNvSpPr txBox="1"/>
          <p:nvPr/>
        </p:nvSpPr>
        <p:spPr>
          <a:xfrm>
            <a:off x="4937760" y="731520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Знакомый бренд, официальный домен, ожидаемая рассылка</a:t>
            </a:r>
            <a:endParaRPr lang="en-US" sz="2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7955280"/>
            <a:ext cx="292608" cy="292608"/>
          </a:xfrm>
          <a:prstGeom prst="rect">
            <a:avLst/>
          </a:prstGeom>
        </p:spPr>
      </p:pic>
      <p:sp>
        <p:nvSpPr>
          <p:cNvPr id="27" name="repels"/>
          <p:cNvSpPr txBox="1"/>
          <p:nvPr/>
        </p:nvSpPr>
        <p:spPr>
          <a:xfrm>
            <a:off x="10561320" y="731520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Неизвестный адрес и отсутствие памяти о подписке</a:t>
            </a:r>
            <a:endParaRPr lang="en-US" sz="2100" dirty="0"/>
          </a:p>
        </p:txBody>
      </p:sp>
      <p:sp>
        <p:nvSpPr>
          <p:cNvPr id="28" name="card"/>
          <p:cNvSpPr/>
          <p:nvPr/>
        </p:nvSpPr>
        <p:spPr>
          <a:xfrm>
            <a:off x="1005840" y="9052560"/>
            <a:ext cx="14173200" cy="1572768"/>
          </a:xfrm>
          <a:prstGeom prst="roundRect">
            <a:avLst>
              <a:gd name="adj" fmla="val 17442"/>
            </a:avLst>
          </a:prstGeom>
          <a:solidFill>
            <a:srgbClr val="F4F7FC"/>
          </a:solidFill>
          <a:ln/>
        </p:spPr>
      </p:sp>
      <p:sp>
        <p:nvSpPr>
          <p:cNvPr id="29" name="element"/>
          <p:cNvSpPr txBox="1"/>
          <p:nvPr/>
        </p:nvSpPr>
        <p:spPr>
          <a:xfrm>
            <a:off x="1371600" y="905256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После открытия</a:t>
            </a:r>
            <a:endParaRPr lang="en-US" sz="24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9692640"/>
            <a:ext cx="292608" cy="292608"/>
          </a:xfrm>
          <a:prstGeom prst="rect">
            <a:avLst/>
          </a:prstGeom>
        </p:spPr>
      </p:pic>
      <p:sp>
        <p:nvSpPr>
          <p:cNvPr id="31" name="attracts"/>
          <p:cNvSpPr txBox="1"/>
          <p:nvPr/>
        </p:nvSpPr>
        <p:spPr>
          <a:xfrm>
            <a:off x="4937760" y="905256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Короткое объяснение, понятные примеры и следующий шаг</a:t>
            </a:r>
            <a:endParaRPr lang="en-US" sz="2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9692640"/>
            <a:ext cx="292608" cy="292608"/>
          </a:xfrm>
          <a:prstGeom prst="rect">
            <a:avLst/>
          </a:prstGeom>
        </p:spPr>
      </p:pic>
      <p:sp>
        <p:nvSpPr>
          <p:cNvPr id="33" name="repels"/>
          <p:cNvSpPr txBox="1"/>
          <p:nvPr/>
        </p:nvSpPr>
        <p:spPr>
          <a:xfrm>
            <a:off x="10561320" y="905256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Длинный сложный текст; непонятно, что изменилось и что делать</a:t>
            </a:r>
            <a:endParaRPr lang="en-US" sz="21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4800" y="2907792"/>
            <a:ext cx="7833665" cy="7717536"/>
          </a:xfrm>
          <a:prstGeom prst="rect">
            <a:avLst/>
          </a:prstGeom>
        </p:spPr>
      </p:pic>
      <p:sp>
        <p:nvSpPr>
          <p:cNvPr id="35" name="conclusion label"/>
          <p:cNvSpPr txBox="1"/>
          <p:nvPr/>
        </p:nvSpPr>
        <p:spPr>
          <a:xfrm>
            <a:off x="160934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36" name="conclusion"/>
          <p:cNvSpPr txBox="1"/>
          <p:nvPr/>
        </p:nvSpPr>
        <p:spPr>
          <a:xfrm>
            <a:off x="16093440" y="4069080"/>
            <a:ext cx="6736385" cy="64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3"/>
                </a:solidFill>
              </a:rPr>
              <a:t>Узнаваемость бренда помогает вызвать доверие, но не гарантирует внимания.</a:t>
            </a:r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 Клиент может доверять Сберу и при этом не видеть причины открыть конкретное письмо</a:t>
            </a:r>
            <a:endParaRPr lang="en-US" sz="2300" dirty="0"/>
          </a:p>
          <a:p>
            <a:pPr marL="279400" indent="-279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3"/>
                </a:solidFill>
              </a:rPr>
              <a:t>Персонализация может оставаться незаметной для клиента.</a:t>
            </a:r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 Даже подобранное предложение воспринимается как массовое, если непонятна его связь с личной ситуацией</a:t>
            </a:r>
            <a:endParaRPr lang="en-US" sz="2300" dirty="0"/>
          </a:p>
          <a:p>
            <a:pPr marL="279400" indent="-279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3"/>
                </a:solidFill>
              </a:rPr>
              <a:t>Интерес к предложению зависит от момента.</a:t>
            </a:r>
            <a:pPr indent="0" marL="0">
              <a:lnSpc>
                <a:spcPct val="112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 Соответствия профилю клиента может быть недостаточно: важна связь с его текущими планами, потребностями или используемыми продуктами</a:t>
            </a:r>
            <a:endParaRPr lang="en-US" sz="23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10899648"/>
            <a:ext cx="11003432" cy="2039112"/>
          </a:xfrm>
          <a:prstGeom prst="rect">
            <a:avLst/>
          </a:prstGeom>
        </p:spPr>
      </p:pic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9888" y="11228832"/>
            <a:ext cx="310896" cy="310896"/>
          </a:xfrm>
          <a:prstGeom prst="rect">
            <a:avLst/>
          </a:prstGeom>
        </p:spPr>
      </p:pic>
      <p:sp>
        <p:nvSpPr>
          <p:cNvPr id="39" name="quote text"/>
          <p:cNvSpPr txBox="1"/>
          <p:nvPr/>
        </p:nvSpPr>
        <p:spPr>
          <a:xfrm>
            <a:off x="2057400" y="11173968"/>
            <a:ext cx="95403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«В моменте какие-то вещи реально могут быть актуальны. Допустим, если я планирую отпуск, а там акция, что студентам 50% скидки на билеты»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20–29 лет, Москва</a:t>
            </a:r>
            <a:endParaRPr lang="en-US" sz="20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75032" y="10899648"/>
            <a:ext cx="11003432" cy="2039112"/>
          </a:xfrm>
          <a:prstGeom prst="rect">
            <a:avLst/>
          </a:prstGeom>
        </p:spPr>
      </p:pic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59080" y="11228832"/>
            <a:ext cx="310896" cy="310896"/>
          </a:xfrm>
          <a:prstGeom prst="rect">
            <a:avLst/>
          </a:prstGeom>
        </p:spPr>
      </p:pic>
      <p:sp>
        <p:nvSpPr>
          <p:cNvPr id="42" name="quote text"/>
          <p:cNvSpPr txBox="1"/>
          <p:nvPr/>
        </p:nvSpPr>
        <p:spPr>
          <a:xfrm>
            <a:off x="13426592" y="11173968"/>
            <a:ext cx="95403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«Я последние несколько лет обращаю внимание на сам адрес электронной почты, откуда отправлен»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30–44 года, Москва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Персональные письма ценят за помощь с конкретным решением</a:t>
            </a:r>
            <a:endParaRPr lang="en-US" sz="4200" dirty="0"/>
          </a:p>
        </p:txBody>
      </p:sp>
      <p:sp>
        <p:nvSpPr>
          <p:cNvPr id="5" name="card"/>
          <p:cNvSpPr/>
          <p:nvPr/>
        </p:nvSpPr>
        <p:spPr>
          <a:xfrm>
            <a:off x="1005840" y="2377440"/>
            <a:ext cx="7589520" cy="6812280"/>
          </a:xfrm>
          <a:prstGeom prst="roundRect">
            <a:avLst>
              <a:gd name="adj" fmla="val 4027"/>
            </a:avLst>
          </a:prstGeom>
          <a:solidFill>
            <a:srgbClr val="F4F7FC"/>
          </a:solidFill>
          <a:ln/>
        </p:spPr>
      </p:sp>
      <p:sp>
        <p:nvSpPr>
          <p:cNvPr id="6" name="direction head"/>
          <p:cNvSpPr txBox="1"/>
          <p:nvPr/>
        </p:nvSpPr>
        <p:spPr>
          <a:xfrm>
            <a:off x="1463040" y="2788920"/>
            <a:ext cx="6675120" cy="1408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 персональных писем ждут практической пользы в трех направлениях</a:t>
            </a:r>
            <a:endParaRPr lang="en-US" sz="2600" dirty="0"/>
          </a:p>
        </p:txBody>
      </p:sp>
      <p:sp>
        <p:nvSpPr>
          <p:cNvPr id="7" name="icon disc"/>
          <p:cNvSpPr/>
          <p:nvPr/>
        </p:nvSpPr>
        <p:spPr>
          <a:xfrm>
            <a:off x="1593342" y="4739640"/>
            <a:ext cx="425196" cy="42519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641" y="4845939"/>
            <a:ext cx="212598" cy="212598"/>
          </a:xfrm>
          <a:prstGeom prst="rect">
            <a:avLst/>
          </a:prstGeom>
        </p:spPr>
      </p:pic>
      <p:sp>
        <p:nvSpPr>
          <p:cNvPr id="9" name="direction"/>
          <p:cNvSpPr txBox="1"/>
          <p:nvPr/>
        </p:nvSpPr>
        <p:spPr>
          <a:xfrm>
            <a:off x="2423160" y="4563618"/>
            <a:ext cx="5760720" cy="788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Контроль обязательств:</a:t>
            </a:r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помощь с платежами, сроками и продлением услуг</a:t>
            </a:r>
            <a:endParaRPr lang="en-US" sz="2200" dirty="0"/>
          </a:p>
        </p:txBody>
      </p:sp>
      <p:sp>
        <p:nvSpPr>
          <p:cNvPr id="10" name="icon disc"/>
          <p:cNvSpPr/>
          <p:nvPr/>
        </p:nvSpPr>
        <p:spPr>
          <a:xfrm>
            <a:off x="1593342" y="6429629"/>
            <a:ext cx="425196" cy="42519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41" y="6535928"/>
            <a:ext cx="212598" cy="212598"/>
          </a:xfrm>
          <a:prstGeom prst="rect">
            <a:avLst/>
          </a:prstGeom>
        </p:spPr>
      </p:pic>
      <p:sp>
        <p:nvSpPr>
          <p:cNvPr id="12" name="direction"/>
          <p:cNvSpPr txBox="1"/>
          <p:nvPr/>
        </p:nvSpPr>
        <p:spPr>
          <a:xfrm>
            <a:off x="2423160" y="6253607"/>
            <a:ext cx="5760720" cy="788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Личная выгода:</a:t>
            </a:r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возможности сэкономить и преимущества для постоянных клиентов</a:t>
            </a:r>
            <a:endParaRPr lang="en-US" sz="2200" dirty="0"/>
          </a:p>
        </p:txBody>
      </p:sp>
      <p:sp>
        <p:nvSpPr>
          <p:cNvPr id="13" name="icon disc"/>
          <p:cNvSpPr/>
          <p:nvPr/>
        </p:nvSpPr>
        <p:spPr>
          <a:xfrm>
            <a:off x="1593342" y="8119618"/>
            <a:ext cx="425196" cy="425196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641" y="8225917"/>
            <a:ext cx="212598" cy="212598"/>
          </a:xfrm>
          <a:prstGeom prst="rect">
            <a:avLst/>
          </a:prstGeom>
        </p:spPr>
      </p:pic>
      <p:sp>
        <p:nvSpPr>
          <p:cNvPr id="15" name="direction"/>
          <p:cNvSpPr txBox="1"/>
          <p:nvPr/>
        </p:nvSpPr>
        <p:spPr>
          <a:xfrm>
            <a:off x="2423160" y="7943596"/>
            <a:ext cx="5760720" cy="788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Подходящие предложения:</a:t>
            </a:r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продукты и услуги с учетом текущих потребностей</a:t>
            </a:r>
            <a:endParaRPr lang="en-US" sz="2200" dirty="0"/>
          </a:p>
        </p:txBody>
      </p:sp>
      <p:sp>
        <p:nvSpPr>
          <p:cNvPr id="16" name="column head"/>
          <p:cNvSpPr txBox="1"/>
          <p:nvPr/>
        </p:nvSpPr>
        <p:spPr>
          <a:xfrm>
            <a:off x="928116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ОБСУЖДАВШАЯСЯ ИДЕЯ</a:t>
            </a:r>
            <a:endParaRPr lang="en-US" sz="1500" dirty="0"/>
          </a:p>
        </p:txBody>
      </p:sp>
      <p:sp>
        <p:nvSpPr>
          <p:cNvPr id="17" name="column head"/>
          <p:cNvSpPr txBox="1"/>
          <p:nvPr/>
        </p:nvSpPr>
        <p:spPr>
          <a:xfrm>
            <a:off x="12847320" y="2359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РЕАКЦИЯ УЧАСТНИКОВ</a:t>
            </a:r>
            <a:endParaRPr lang="en-US" sz="1500" dirty="0"/>
          </a:p>
        </p:txBody>
      </p:sp>
      <p:sp>
        <p:nvSpPr>
          <p:cNvPr id="18" name="column head"/>
          <p:cNvSpPr txBox="1"/>
          <p:nvPr/>
        </p:nvSpPr>
        <p:spPr>
          <a:xfrm>
            <a:off x="18013680" y="2359152"/>
            <a:ext cx="499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НАПРАВЛЕНИЕ УСИЛЕНИЯ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8869680" y="2926080"/>
            <a:ext cx="14508785" cy="1463040"/>
          </a:xfrm>
          <a:prstGeom prst="roundRect">
            <a:avLst>
              <a:gd name="adj" fmla="val 18750"/>
            </a:avLst>
          </a:prstGeom>
          <a:solidFill>
            <a:srgbClr val="F4F7FC"/>
          </a:solidFill>
          <a:ln/>
        </p:spPr>
      </p:sp>
      <p:sp>
        <p:nvSpPr>
          <p:cNvPr id="20" name="idea"/>
          <p:cNvSpPr txBox="1"/>
          <p:nvPr/>
        </p:nvSpPr>
        <p:spPr>
          <a:xfrm>
            <a:off x="9281160" y="2926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Персональная подборка</a:t>
            </a:r>
            <a:endParaRPr lang="en-US" sz="2400" dirty="0"/>
          </a:p>
        </p:txBody>
      </p:sp>
      <p:sp>
        <p:nvSpPr>
          <p:cNvPr id="21" name="reaction"/>
          <p:cNvSpPr txBox="1"/>
          <p:nvPr/>
        </p:nvSpPr>
        <p:spPr>
          <a:xfrm>
            <a:off x="12847320" y="2926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Неясно, что получу и какую пользу это даст</a:t>
            </a:r>
            <a:endParaRPr lang="en-US" sz="2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0" y="3474720"/>
            <a:ext cx="365760" cy="365760"/>
          </a:xfrm>
          <a:prstGeom prst="rect">
            <a:avLst/>
          </a:prstGeom>
        </p:spPr>
      </p:pic>
      <p:sp>
        <p:nvSpPr>
          <p:cNvPr id="23" name="strengthening"/>
          <p:cNvSpPr txBox="1"/>
          <p:nvPr/>
        </p:nvSpPr>
        <p:spPr>
          <a:xfrm>
            <a:off x="18013680" y="29260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Назвать конкретную задачу клиента и результат</a:t>
            </a:r>
            <a:endParaRPr lang="en-US" sz="2100" dirty="0"/>
          </a:p>
        </p:txBody>
      </p:sp>
      <p:sp>
        <p:nvSpPr>
          <p:cNvPr id="24" name="card"/>
          <p:cNvSpPr/>
          <p:nvPr/>
        </p:nvSpPr>
        <p:spPr>
          <a:xfrm>
            <a:off x="8869680" y="4526280"/>
            <a:ext cx="14508785" cy="1463040"/>
          </a:xfrm>
          <a:prstGeom prst="roundRect">
            <a:avLst>
              <a:gd name="adj" fmla="val 18750"/>
            </a:avLst>
          </a:prstGeom>
          <a:solidFill>
            <a:srgbClr val="F4F7FC"/>
          </a:solidFill>
          <a:ln/>
        </p:spPr>
      </p:sp>
      <p:sp>
        <p:nvSpPr>
          <p:cNvPr id="25" name="idea"/>
          <p:cNvSpPr txBox="1"/>
          <p:nvPr/>
        </p:nvSpPr>
        <p:spPr>
          <a:xfrm>
            <a:off x="9281160" y="4526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Аналитика расходов</a:t>
            </a:r>
            <a:endParaRPr lang="en-US" sz="2400" dirty="0"/>
          </a:p>
        </p:txBody>
      </p:sp>
      <p:sp>
        <p:nvSpPr>
          <p:cNvPr id="26" name="reaction"/>
          <p:cNvSpPr txBox="1"/>
          <p:nvPr/>
        </p:nvSpPr>
        <p:spPr>
          <a:xfrm>
            <a:off x="12847320" y="4526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Уже есть в приложении; расходы по другим банкам не учтены</a:t>
            </a:r>
            <a:endParaRPr lang="en-US" sz="2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0" y="5074920"/>
            <a:ext cx="365760" cy="365760"/>
          </a:xfrm>
          <a:prstGeom prst="rect">
            <a:avLst/>
          </a:prstGeom>
        </p:spPr>
      </p:pic>
      <p:sp>
        <p:nvSpPr>
          <p:cNvPr id="28" name="strengthening"/>
          <p:cNvSpPr txBox="1"/>
          <p:nvPr/>
        </p:nvSpPr>
        <p:spPr>
          <a:xfrm>
            <a:off x="18013680" y="45262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Показать возможность сэкономить или решить задачу</a:t>
            </a:r>
            <a:endParaRPr lang="en-US" sz="2100" dirty="0"/>
          </a:p>
        </p:txBody>
      </p:sp>
      <p:sp>
        <p:nvSpPr>
          <p:cNvPr id="29" name="card"/>
          <p:cNvSpPr/>
          <p:nvPr/>
        </p:nvSpPr>
        <p:spPr>
          <a:xfrm>
            <a:off x="8869680" y="6126480"/>
            <a:ext cx="14508785" cy="1463040"/>
          </a:xfrm>
          <a:prstGeom prst="roundRect">
            <a:avLst>
              <a:gd name="adj" fmla="val 18750"/>
            </a:avLst>
          </a:prstGeom>
          <a:solidFill>
            <a:srgbClr val="F4F7FC"/>
          </a:solidFill>
          <a:ln/>
        </p:spPr>
      </p:sp>
      <p:sp>
        <p:nvSpPr>
          <p:cNvPr id="30" name="idea"/>
          <p:cNvSpPr txBox="1"/>
          <p:nvPr/>
        </p:nvSpPr>
        <p:spPr>
          <a:xfrm>
            <a:off x="9281160" y="61264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Повышенный кешбэк</a:t>
            </a:r>
            <a:endParaRPr lang="en-US" sz="2400" dirty="0"/>
          </a:p>
        </p:txBody>
      </p:sp>
      <p:sp>
        <p:nvSpPr>
          <p:cNvPr id="31" name="reaction"/>
          <p:cNvSpPr txBox="1"/>
          <p:nvPr/>
        </p:nvSpPr>
        <p:spPr>
          <a:xfrm>
            <a:off x="12847320" y="61264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Интересно; хотят самостоятельно выбирать категории</a:t>
            </a:r>
            <a:endParaRPr lang="en-US" sz="2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6480" y="6675120"/>
            <a:ext cx="365760" cy="365760"/>
          </a:xfrm>
          <a:prstGeom prst="rect">
            <a:avLst/>
          </a:prstGeom>
        </p:spPr>
      </p:pic>
      <p:sp>
        <p:nvSpPr>
          <p:cNvPr id="33" name="strengthening"/>
          <p:cNvSpPr txBox="1"/>
          <p:nvPr/>
        </p:nvSpPr>
        <p:spPr>
          <a:xfrm>
            <a:off x="18013680" y="61264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Дать выбор и объяснить, какие категории подходят</a:t>
            </a:r>
            <a:endParaRPr lang="en-US" sz="2100" dirty="0"/>
          </a:p>
        </p:txBody>
      </p:sp>
      <p:sp>
        <p:nvSpPr>
          <p:cNvPr id="34" name="card"/>
          <p:cNvSpPr/>
          <p:nvPr/>
        </p:nvSpPr>
        <p:spPr>
          <a:xfrm>
            <a:off x="8869680" y="7726680"/>
            <a:ext cx="14508785" cy="1463040"/>
          </a:xfrm>
          <a:prstGeom prst="roundRect">
            <a:avLst>
              <a:gd name="adj" fmla="val 18750"/>
            </a:avLst>
          </a:prstGeom>
          <a:solidFill>
            <a:srgbClr val="F4F7FC"/>
          </a:solidFill>
          <a:ln/>
        </p:spPr>
      </p:sp>
      <p:sp>
        <p:nvSpPr>
          <p:cNvPr id="35" name="idea"/>
          <p:cNvSpPr txBox="1"/>
          <p:nvPr/>
        </p:nvSpPr>
        <p:spPr>
          <a:xfrm>
            <a:off x="9281160" y="7726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Сервисная выписка</a:t>
            </a:r>
            <a:endParaRPr lang="en-US" sz="2400" dirty="0"/>
          </a:p>
        </p:txBody>
      </p:sp>
      <p:sp>
        <p:nvSpPr>
          <p:cNvPr id="36" name="reaction"/>
          <p:cNvSpPr txBox="1"/>
          <p:nvPr/>
        </p:nvSpPr>
        <p:spPr>
          <a:xfrm>
            <a:off x="12847320" y="7726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Непонятно содержание; ожидают доступность в приложении</a:t>
            </a:r>
            <a:endParaRPr lang="en-US" sz="21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56480" y="8275320"/>
            <a:ext cx="365760" cy="365760"/>
          </a:xfrm>
          <a:prstGeom prst="rect">
            <a:avLst/>
          </a:prstGeom>
        </p:spPr>
      </p:pic>
      <p:sp>
        <p:nvSpPr>
          <p:cNvPr id="38" name="strengthening"/>
          <p:cNvSpPr txBox="1"/>
          <p:nvPr/>
        </p:nvSpPr>
        <p:spPr>
          <a:xfrm>
            <a:off x="18013680" y="77266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Объяснить изменения и доступные действия</a:t>
            </a:r>
            <a:endParaRPr lang="en-US" sz="21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9464040"/>
            <a:ext cx="7589520" cy="3474720"/>
          </a:xfrm>
          <a:prstGeom prst="rect">
            <a:avLst/>
          </a:prstGeom>
        </p:spPr>
      </p:pic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9888" y="9793224"/>
            <a:ext cx="310896" cy="310896"/>
          </a:xfrm>
          <a:prstGeom prst="rect">
            <a:avLst/>
          </a:prstGeom>
        </p:spPr>
      </p:pic>
      <p:sp>
        <p:nvSpPr>
          <p:cNvPr id="41" name="quote text"/>
          <p:cNvSpPr txBox="1"/>
          <p:nvPr/>
        </p:nvSpPr>
        <p:spPr>
          <a:xfrm>
            <a:off x="2057400" y="973836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«Он меня изучил, и мне интересно, что для меня подобрал. Я хочу, чтобы они мне помогали оптимизировать мои траты»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30–44 года, Москва</a:t>
            </a:r>
            <a:endParaRPr lang="en-US" sz="21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0" y="9464040"/>
            <a:ext cx="14508785" cy="3474720"/>
          </a:xfrm>
          <a:prstGeom prst="rect">
            <a:avLst/>
          </a:prstGeom>
        </p:spPr>
      </p:pic>
      <p:sp>
        <p:nvSpPr>
          <p:cNvPr id="43" name="conclusion label"/>
          <p:cNvSpPr txBox="1"/>
          <p:nvPr/>
        </p:nvSpPr>
        <p:spPr>
          <a:xfrm>
            <a:off x="9418320" y="9829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100" dirty="0"/>
          </a:p>
        </p:txBody>
      </p:sp>
      <p:sp>
        <p:nvSpPr>
          <p:cNvPr id="44" name="conclusion"/>
          <p:cNvSpPr txBox="1"/>
          <p:nvPr/>
        </p:nvSpPr>
        <p:spPr>
          <a:xfrm>
            <a:off x="9418320" y="10561320"/>
            <a:ext cx="7680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Связывать совет с тратами и продуктами клиента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Объяснять личную выгоду и следующий шаг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Предлагать выбор категорий и условий</a:t>
            </a:r>
            <a:endParaRPr lang="en-US" sz="2200" dirty="0"/>
          </a:p>
        </p:txBody>
      </p:sp>
      <p:sp>
        <p:nvSpPr>
          <p:cNvPr id="45" name="ideas label"/>
          <p:cNvSpPr txBox="1"/>
          <p:nvPr/>
        </p:nvSpPr>
        <p:spPr>
          <a:xfrm>
            <a:off x="17647920" y="9875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ПРАКТИЧЕСКИЕ ИДЕИ ИЗ ГРУПП</a:t>
            </a:r>
            <a:endParaRPr lang="en-US" sz="1500" dirty="0"/>
          </a:p>
        </p:txBody>
      </p:sp>
      <p:sp>
        <p:nvSpPr>
          <p:cNvPr id="46" name="ideas"/>
          <p:cNvSpPr txBox="1"/>
          <p:nvPr/>
        </p:nvSpPr>
        <p:spPr>
          <a:xfrm>
            <a:off x="17647920" y="1056132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Налоговый вычет по тратам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Расчет условий вклада</a:t>
            </a:r>
            <a:endParaRPr lang="en-US" sz="2200" dirty="0"/>
          </a:p>
          <a:p>
            <a:pPr marL="279400" indent="-279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Выбор тем рассылки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Письма от компаний экосистемы чаще ценят за работающую выгоду и помощь с используемыми услугами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017520"/>
            <a:ext cx="6400800" cy="2788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3346704"/>
            <a:ext cx="310896" cy="310896"/>
          </a:xfrm>
          <a:prstGeom prst="rect">
            <a:avLst/>
          </a:prstGeom>
        </p:spPr>
      </p:pic>
      <p:sp>
        <p:nvSpPr>
          <p:cNvPr id="7" name="quote text"/>
          <p:cNvSpPr txBox="1"/>
          <p:nvPr/>
        </p:nvSpPr>
        <p:spPr>
          <a:xfrm>
            <a:off x="2057400" y="329184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6"/>
                </a:solidFill>
              </a:rPr>
              <a:t>20–29 лет, Екатеринбург</a:t>
            </a:r>
            <a:endParaRPr lang="en-US" sz="2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017520"/>
            <a:ext cx="5852160" cy="278892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3346704"/>
            <a:ext cx="310896" cy="310896"/>
          </a:xfrm>
          <a:prstGeom prst="rect">
            <a:avLst/>
          </a:prstGeom>
        </p:spPr>
      </p:pic>
      <p:sp>
        <p:nvSpPr>
          <p:cNvPr id="10" name="quote text"/>
          <p:cNvSpPr txBox="1"/>
          <p:nvPr/>
        </p:nvSpPr>
        <p:spPr>
          <a:xfrm>
            <a:off x="8686800" y="3291840"/>
            <a:ext cx="4389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6"/>
                </a:solidFill>
              </a:rPr>
              <a:t>20–29 лет, Екатеринбург</a:t>
            </a:r>
            <a:endParaRPr lang="en-US" sz="2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3017520"/>
            <a:ext cx="9662465" cy="278892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0048" y="3346704"/>
            <a:ext cx="310896" cy="310896"/>
          </a:xfrm>
          <a:prstGeom prst="rect">
            <a:avLst/>
          </a:prstGeom>
        </p:spPr>
      </p:pic>
      <p:sp>
        <p:nvSpPr>
          <p:cNvPr id="13" name="quote text"/>
          <p:cNvSpPr txBox="1"/>
          <p:nvPr/>
        </p:nvSpPr>
        <p:spPr>
          <a:xfrm>
            <a:off x="14767560" y="3291840"/>
            <a:ext cx="81994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6"/>
                </a:solidFill>
              </a:rPr>
              <a:t>45-55, Екатеринбург</a:t>
            </a:r>
            <a:endParaRPr lang="en-US" sz="2100" dirty="0"/>
          </a:p>
        </p:txBody>
      </p:sp>
      <p:sp>
        <p:nvSpPr>
          <p:cNvPr id="14" name="label"/>
          <p:cNvSpPr txBox="1"/>
          <p:nvPr/>
        </p:nvSpPr>
        <p:spPr>
          <a:xfrm>
            <a:off x="1005840" y="608076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КОГДА РЕСПОНДЕНТЫ ОТМЕЧАЛИ РАССЫЛКУ КАК ЦЕННУЮ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1005840" y="6675120"/>
            <a:ext cx="13898880" cy="1965960"/>
          </a:xfrm>
          <a:prstGeom prst="roundRect">
            <a:avLst>
              <a:gd name="adj" fmla="val 13953"/>
            </a:avLst>
          </a:prstGeom>
          <a:solidFill>
            <a:srgbClr val="F4F7FC"/>
          </a:solidFill>
          <a:ln/>
        </p:spPr>
      </p:sp>
      <p:sp>
        <p:nvSpPr>
          <p:cNvPr id="16" name="icon disc"/>
          <p:cNvSpPr/>
          <p:nvPr/>
        </p:nvSpPr>
        <p:spPr>
          <a:xfrm>
            <a:off x="1573682" y="7402982"/>
            <a:ext cx="510235" cy="51023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241" y="7530541"/>
            <a:ext cx="255118" cy="255118"/>
          </a:xfrm>
          <a:prstGeom prst="rect">
            <a:avLst/>
          </a:prstGeom>
        </p:spPr>
      </p:pic>
      <p:sp>
        <p:nvSpPr>
          <p:cNvPr id="18" name="value"/>
          <p:cNvSpPr txBox="1"/>
          <p:nvPr/>
        </p:nvSpPr>
        <p:spPr>
          <a:xfrm>
            <a:off x="2560320" y="6931152"/>
            <a:ext cx="1197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Работающая выгода</a:t>
            </a:r>
            <a:endParaRPr lang="en-US" sz="2600" dirty="0"/>
          </a:p>
        </p:txBody>
      </p:sp>
      <p:sp>
        <p:nvSpPr>
          <p:cNvPr id="19" name="value text"/>
          <p:cNvSpPr txBox="1"/>
          <p:nvPr/>
        </p:nvSpPr>
        <p:spPr>
          <a:xfrm>
            <a:off x="2560320" y="7543800"/>
            <a:ext cx="1197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Скидка или купон действительно применяются; понятные условия создают доверие к следующим письмам</a:t>
            </a:r>
            <a:endParaRPr lang="en-US" sz="2200" dirty="0"/>
          </a:p>
        </p:txBody>
      </p:sp>
      <p:sp>
        <p:nvSpPr>
          <p:cNvPr id="20" name="card"/>
          <p:cNvSpPr/>
          <p:nvPr/>
        </p:nvSpPr>
        <p:spPr>
          <a:xfrm>
            <a:off x="1005840" y="8823960"/>
            <a:ext cx="13898880" cy="1965960"/>
          </a:xfrm>
          <a:prstGeom prst="roundRect">
            <a:avLst>
              <a:gd name="adj" fmla="val 13953"/>
            </a:avLst>
          </a:prstGeom>
          <a:solidFill>
            <a:srgbClr val="F4F7FC"/>
          </a:solidFill>
          <a:ln/>
        </p:spPr>
      </p:sp>
      <p:sp>
        <p:nvSpPr>
          <p:cNvPr id="21" name="icon disc"/>
          <p:cNvSpPr/>
          <p:nvPr/>
        </p:nvSpPr>
        <p:spPr>
          <a:xfrm>
            <a:off x="1573682" y="9551822"/>
            <a:ext cx="510235" cy="51023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1241" y="9679381"/>
            <a:ext cx="255118" cy="255118"/>
          </a:xfrm>
          <a:prstGeom prst="rect">
            <a:avLst/>
          </a:prstGeom>
        </p:spPr>
      </p:pic>
      <p:sp>
        <p:nvSpPr>
          <p:cNvPr id="23" name="value"/>
          <p:cNvSpPr txBox="1"/>
          <p:nvPr/>
        </p:nvSpPr>
        <p:spPr>
          <a:xfrm>
            <a:off x="2560320" y="9079992"/>
            <a:ext cx="1197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Документы под рукой</a:t>
            </a:r>
            <a:endParaRPr lang="en-US" sz="2600" dirty="0"/>
          </a:p>
        </p:txBody>
      </p:sp>
      <p:sp>
        <p:nvSpPr>
          <p:cNvPr id="24" name="value text"/>
          <p:cNvSpPr txBox="1"/>
          <p:nvPr/>
        </p:nvSpPr>
        <p:spPr>
          <a:xfrm>
            <a:off x="2560320" y="9692640"/>
            <a:ext cx="1197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Полис, билет, чек или QR-код можно сохранить и использовать, когда нет доступа к приложению или сети</a:t>
            </a:r>
            <a:endParaRPr lang="en-US" sz="2200" dirty="0"/>
          </a:p>
        </p:txBody>
      </p:sp>
      <p:sp>
        <p:nvSpPr>
          <p:cNvPr id="25" name="card"/>
          <p:cNvSpPr/>
          <p:nvPr/>
        </p:nvSpPr>
        <p:spPr>
          <a:xfrm>
            <a:off x="1005840" y="10972800"/>
            <a:ext cx="13898880" cy="1965960"/>
          </a:xfrm>
          <a:prstGeom prst="roundRect">
            <a:avLst>
              <a:gd name="adj" fmla="val 13953"/>
            </a:avLst>
          </a:prstGeom>
          <a:solidFill>
            <a:srgbClr val="F4F7FC"/>
          </a:solidFill>
          <a:ln/>
        </p:spPr>
      </p:sp>
      <p:sp>
        <p:nvSpPr>
          <p:cNvPr id="26" name="icon disc"/>
          <p:cNvSpPr/>
          <p:nvPr/>
        </p:nvSpPr>
        <p:spPr>
          <a:xfrm>
            <a:off x="1573682" y="11700662"/>
            <a:ext cx="510235" cy="51023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1241" y="11828221"/>
            <a:ext cx="255118" cy="255118"/>
          </a:xfrm>
          <a:prstGeom prst="rect">
            <a:avLst/>
          </a:prstGeom>
        </p:spPr>
      </p:pic>
      <p:sp>
        <p:nvSpPr>
          <p:cNvPr id="28" name="value"/>
          <p:cNvSpPr txBox="1"/>
          <p:nvPr/>
        </p:nvSpPr>
        <p:spPr>
          <a:xfrm>
            <a:off x="2560320" y="11228832"/>
            <a:ext cx="1197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Помощь или предложение по действующей услуге</a:t>
            </a:r>
            <a:endParaRPr lang="en-US" sz="2600" dirty="0"/>
          </a:p>
        </p:txBody>
      </p:sp>
      <p:sp>
        <p:nvSpPr>
          <p:cNvPr id="29" name="value text"/>
          <p:cNvSpPr txBox="1"/>
          <p:nvPr/>
        </p:nvSpPr>
        <p:spPr>
          <a:xfrm>
            <a:off x="2560320" y="11841480"/>
            <a:ext cx="1197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Напомнить о продлении полиса или платеже; предложить скидку постоянному клиенту, а не только за первый заказ</a:t>
            </a:r>
            <a:endParaRPr lang="en-US" sz="2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9040" y="6080760"/>
            <a:ext cx="8199425" cy="6858000"/>
          </a:xfrm>
          <a:prstGeom prst="rect">
            <a:avLst/>
          </a:prstGeom>
        </p:spPr>
      </p:pic>
      <p:sp>
        <p:nvSpPr>
          <p:cNvPr id="31" name="conclusion label"/>
          <p:cNvSpPr txBox="1"/>
          <p:nvPr/>
        </p:nvSpPr>
        <p:spPr>
          <a:xfrm>
            <a:off x="15681960" y="6446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100" dirty="0"/>
          </a:p>
        </p:txBody>
      </p:sp>
      <p:sp>
        <p:nvSpPr>
          <p:cNvPr id="32" name="conclusion"/>
          <p:cNvSpPr txBox="1"/>
          <p:nvPr/>
        </p:nvSpPr>
        <p:spPr>
          <a:xfrm>
            <a:off x="15681960" y="7178040"/>
            <a:ext cx="7193585" cy="562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accent3"/>
                </a:solidFill>
              </a:rPr>
              <a:t>Коммерческий потенциал почты связан с уже существующей потребностью: </a:t>
            </a:r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предложение по знакомой услуге с понятной выгодой может стать поводом для покупки</a:t>
            </a:r>
            <a:endParaRPr lang="en-US" sz="2100" dirty="0"/>
          </a:p>
          <a:p>
            <a:pPr marL="279400" indent="-279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accent3"/>
                </a:solidFill>
              </a:rPr>
              <a:t>Условия для постоянных клиентов важны при повторном выборе сервиса: </a:t>
            </a:r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участники ждут напоминания о продлении и выгоды, которая поможет предпочесть Сбер конкурентам</a:t>
            </a:r>
            <a:endParaRPr lang="en-US" sz="2100" dirty="0"/>
          </a:p>
          <a:p>
            <a:pPr marL="279400" indent="-279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accent3"/>
                </a:solidFill>
              </a:rPr>
              <a:t>Вклад письма в продажу может быть шире прямых переходов: </a:t>
            </a:r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клиент может узнать о предложении из почты, а оформить его самостоятельно на сайте или в приложении. Оценка только по кликам может недооценивать роль канала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Гипотезы для проработки</a:t>
            </a:r>
            <a:endParaRPr lang="en-US" sz="9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ГИПОТЕЗЫ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200" dirty="0"/>
          </a:p>
        </p:txBody>
      </p:sp>
      <p:sp>
        <p:nvSpPr>
          <p:cNvPr id="5" name="card"/>
          <p:cNvSpPr/>
          <p:nvPr/>
        </p:nvSpPr>
        <p:spPr>
          <a:xfrm>
            <a:off x="1005840" y="2697480"/>
            <a:ext cx="8778240" cy="640080"/>
          </a:xfrm>
          <a:prstGeom prst="roundRect">
            <a:avLst>
              <a:gd name="adj" fmla="val 50000"/>
            </a:avLst>
          </a:prstGeom>
          <a:solidFill>
            <a:srgbClr val="D3E1FA"/>
          </a:solidFill>
          <a:ln/>
        </p:spPr>
      </p:sp>
      <p:sp>
        <p:nvSpPr>
          <p:cNvPr id="6" name="column head"/>
          <p:cNvSpPr txBox="1"/>
          <p:nvPr/>
        </p:nvSpPr>
        <p:spPr>
          <a:xfrm>
            <a:off x="100584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b="1" spc="150" kern="0" dirty="0">
                <a:solidFill>
                  <a:schemeClr val="accent1"/>
                </a:solidFill>
              </a:rPr>
              <a:t>Гипотеза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10881360" y="2697480"/>
            <a:ext cx="12497105" cy="640080"/>
          </a:xfrm>
          <a:prstGeom prst="roundRect">
            <a:avLst>
              <a:gd name="adj" fmla="val 50000"/>
            </a:avLst>
          </a:prstGeom>
          <a:solidFill>
            <a:srgbClr val="D2EBD9"/>
          </a:solidFill>
          <a:ln/>
        </p:spPr>
      </p:sp>
      <p:sp>
        <p:nvSpPr>
          <p:cNvPr id="8" name="column head"/>
          <p:cNvSpPr txBox="1"/>
          <p:nvPr/>
        </p:nvSpPr>
        <p:spPr>
          <a:xfrm>
            <a:off x="10881360" y="2697480"/>
            <a:ext cx="12497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b="1" spc="150" kern="0" dirty="0">
                <a:solidFill>
                  <a:schemeClr val="accent3"/>
                </a:solidFill>
              </a:rPr>
              <a:t>Вариант проверки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1005840" y="3566160"/>
            <a:ext cx="22372625" cy="2240280"/>
          </a:xfrm>
          <a:prstGeom prst="roundRect">
            <a:avLst>
              <a:gd name="adj" fmla="val 12245"/>
            </a:avLst>
          </a:prstGeom>
          <a:solidFill>
            <a:srgbClr val="F4F7FC"/>
          </a:solidFill>
          <a:ln/>
        </p:spPr>
      </p:sp>
      <p:sp>
        <p:nvSpPr>
          <p:cNvPr id="10" name="icon disc"/>
          <p:cNvSpPr/>
          <p:nvPr/>
        </p:nvSpPr>
        <p:spPr>
          <a:xfrm>
            <a:off x="1573682" y="4431182"/>
            <a:ext cx="510235" cy="51023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241" y="4558741"/>
            <a:ext cx="255118" cy="255118"/>
          </a:xfrm>
          <a:prstGeom prst="rect">
            <a:avLst/>
          </a:prstGeom>
        </p:spPr>
      </p:pic>
      <p:sp>
        <p:nvSpPr>
          <p:cNvPr id="12" name="hypothesis"/>
          <p:cNvSpPr txBox="1"/>
          <p:nvPr/>
        </p:nvSpPr>
        <p:spPr>
          <a:xfrm>
            <a:off x="2606040" y="356616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Почта дает дополнительные продажи среди клиентов, слабо вовлеченных в другие каналы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457700"/>
            <a:ext cx="457200" cy="457200"/>
          </a:xfrm>
          <a:prstGeom prst="rect">
            <a:avLst/>
          </a:prstGeom>
        </p:spPr>
      </p:pic>
      <p:sp>
        <p:nvSpPr>
          <p:cNvPr id="14" name="test"/>
          <p:cNvSpPr txBox="1"/>
          <p:nvPr/>
        </p:nvSpPr>
        <p:spPr>
          <a:xfrm>
            <a:off x="11064240" y="356616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Выделить клиентов, которые редко используют приложение, но взаимодействуют с почтой. Сравнить текущую коммуникацию с добавлением письма и без него</a:t>
            </a:r>
            <a:endParaRPr lang="en-US" sz="2400" dirty="0"/>
          </a:p>
        </p:txBody>
      </p:sp>
      <p:sp>
        <p:nvSpPr>
          <p:cNvPr id="15" name="card"/>
          <p:cNvSpPr/>
          <p:nvPr/>
        </p:nvSpPr>
        <p:spPr>
          <a:xfrm>
            <a:off x="1005840" y="5989320"/>
            <a:ext cx="22372625" cy="2240280"/>
          </a:xfrm>
          <a:prstGeom prst="roundRect">
            <a:avLst>
              <a:gd name="adj" fmla="val 12245"/>
            </a:avLst>
          </a:prstGeom>
          <a:solidFill>
            <a:srgbClr val="F4F7FC"/>
          </a:solidFill>
          <a:ln/>
        </p:spPr>
      </p:sp>
      <p:sp>
        <p:nvSpPr>
          <p:cNvPr id="16" name="icon disc"/>
          <p:cNvSpPr/>
          <p:nvPr/>
        </p:nvSpPr>
        <p:spPr>
          <a:xfrm>
            <a:off x="1573682" y="6854342"/>
            <a:ext cx="510235" cy="51023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41" y="6981901"/>
            <a:ext cx="255118" cy="255118"/>
          </a:xfrm>
          <a:prstGeom prst="rect">
            <a:avLst/>
          </a:prstGeom>
        </p:spPr>
      </p:pic>
      <p:sp>
        <p:nvSpPr>
          <p:cNvPr id="18" name="hypothesis"/>
          <p:cNvSpPr txBox="1"/>
          <p:nvPr/>
        </p:nvSpPr>
        <p:spPr>
          <a:xfrm>
            <a:off x="2606040" y="598932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Личный расчет выгоды в письме помогает завершить выбор продукта</a:t>
            </a:r>
            <a:endParaRPr lang="en-US" sz="27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6880860"/>
            <a:ext cx="457200" cy="457200"/>
          </a:xfrm>
          <a:prstGeom prst="rect">
            <a:avLst/>
          </a:prstGeom>
        </p:spPr>
      </p:pic>
      <p:sp>
        <p:nvSpPr>
          <p:cNvPr id="20" name="test"/>
          <p:cNvSpPr txBox="1"/>
          <p:nvPr/>
        </p:nvSpPr>
        <p:spPr>
          <a:xfrm>
            <a:off x="11064240" y="598932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Для продукта, требующего обдумывания, сравнить действующее письмо с персональным расчетом: что клиент получит, сколько заплатит, какие условия важны</a:t>
            </a:r>
            <a:endParaRPr lang="en-US" sz="2400" dirty="0"/>
          </a:p>
        </p:txBody>
      </p:sp>
      <p:sp>
        <p:nvSpPr>
          <p:cNvPr id="21" name="card"/>
          <p:cNvSpPr/>
          <p:nvPr/>
        </p:nvSpPr>
        <p:spPr>
          <a:xfrm>
            <a:off x="1005840" y="8412480"/>
            <a:ext cx="22372625" cy="2240280"/>
          </a:xfrm>
          <a:prstGeom prst="roundRect">
            <a:avLst>
              <a:gd name="adj" fmla="val 12245"/>
            </a:avLst>
          </a:prstGeom>
          <a:solidFill>
            <a:srgbClr val="F4F7FC"/>
          </a:solidFill>
          <a:ln/>
        </p:spPr>
      </p:sp>
      <p:sp>
        <p:nvSpPr>
          <p:cNvPr id="22" name="icon disc"/>
          <p:cNvSpPr/>
          <p:nvPr/>
        </p:nvSpPr>
        <p:spPr>
          <a:xfrm>
            <a:off x="1573682" y="9277502"/>
            <a:ext cx="510235" cy="51023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241" y="9405061"/>
            <a:ext cx="255118" cy="255118"/>
          </a:xfrm>
          <a:prstGeom prst="rect">
            <a:avLst/>
          </a:prstGeom>
        </p:spPr>
      </p:pic>
      <p:sp>
        <p:nvSpPr>
          <p:cNvPr id="24" name="hypothesis"/>
          <p:cNvSpPr txBox="1"/>
          <p:nvPr/>
        </p:nvSpPr>
        <p:spPr>
          <a:xfrm>
            <a:off x="2606040" y="841248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Письма по используемым услугам могут стать точкой дополнительных продаж</a:t>
            </a:r>
            <a:endParaRPr lang="en-US" sz="27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9304020"/>
            <a:ext cx="457200" cy="457200"/>
          </a:xfrm>
          <a:prstGeom prst="rect">
            <a:avLst/>
          </a:prstGeom>
        </p:spPr>
      </p:pic>
      <p:sp>
        <p:nvSpPr>
          <p:cNvPr id="26" name="test"/>
          <p:cNvSpPr txBox="1"/>
          <p:nvPr/>
        </p:nvSpPr>
        <p:spPr>
          <a:xfrm>
            <a:off x="11064240" y="841248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Проверить предложение, связанное с текущей задачей клиента: например, дополнительное покрытие при продлении страховки. Сравнить с текущей коммуникацией без такого предложения</a:t>
            </a:r>
            <a:endParaRPr lang="en-US" sz="2400" dirty="0"/>
          </a:p>
        </p:txBody>
      </p:sp>
      <p:sp>
        <p:nvSpPr>
          <p:cNvPr id="27" name="card"/>
          <p:cNvSpPr/>
          <p:nvPr/>
        </p:nvSpPr>
        <p:spPr>
          <a:xfrm>
            <a:off x="1005840" y="10835640"/>
            <a:ext cx="22372625" cy="2240280"/>
          </a:xfrm>
          <a:prstGeom prst="roundRect">
            <a:avLst>
              <a:gd name="adj" fmla="val 12245"/>
            </a:avLst>
          </a:prstGeom>
          <a:solidFill>
            <a:srgbClr val="F4F7FC"/>
          </a:solidFill>
          <a:ln/>
        </p:spPr>
      </p:sp>
      <p:sp>
        <p:nvSpPr>
          <p:cNvPr id="28" name="icon disc"/>
          <p:cNvSpPr/>
          <p:nvPr/>
        </p:nvSpPr>
        <p:spPr>
          <a:xfrm>
            <a:off x="1573682" y="11700662"/>
            <a:ext cx="510235" cy="510235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241" y="11828221"/>
            <a:ext cx="255118" cy="255118"/>
          </a:xfrm>
          <a:prstGeom prst="rect">
            <a:avLst/>
          </a:prstGeom>
        </p:spPr>
      </p:pic>
      <p:sp>
        <p:nvSpPr>
          <p:cNvPr id="30" name="hypothesis"/>
          <p:cNvSpPr txBox="1"/>
          <p:nvPr/>
        </p:nvSpPr>
        <p:spPr>
          <a:xfrm>
            <a:off x="2606040" y="1083564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Подписка на конкретную тему и пользу вовлекает клиентов, игнорирующих общие рассылки</a:t>
            </a:r>
            <a:endParaRPr lang="en-US" sz="27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4120" y="11727180"/>
            <a:ext cx="457200" cy="457200"/>
          </a:xfrm>
          <a:prstGeom prst="rect">
            <a:avLst/>
          </a:prstGeom>
        </p:spPr>
      </p:pic>
      <p:sp>
        <p:nvSpPr>
          <p:cNvPr id="32" name="test"/>
          <p:cNvSpPr txBox="1"/>
          <p:nvPr/>
        </p:nvSpPr>
        <p:spPr>
          <a:xfrm>
            <a:off x="11064240" y="1083564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Части неактивной почтовой базы предложить выбрать интересующую тему и получать соответствующие предложения. Сравнить всю приглашенную группу с контрольной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ИИ В КОММУНИКАЦИЯХ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200" dirty="0"/>
          </a:p>
        </p:txBody>
      </p:sp>
      <p:sp>
        <p:nvSpPr>
          <p:cNvPr id="5" name="card"/>
          <p:cNvSpPr/>
          <p:nvPr/>
        </p:nvSpPr>
        <p:spPr>
          <a:xfrm>
            <a:off x="1005840" y="2697480"/>
            <a:ext cx="22372625" cy="1645920"/>
          </a:xfrm>
          <a:prstGeom prst="roundRect">
            <a:avLst>
              <a:gd name="adj" fmla="val 16667"/>
            </a:avLst>
          </a:prstGeom>
          <a:solidFill>
            <a:srgbClr val="E3F3E7"/>
          </a:solidFill>
          <a:ln/>
        </p:spPr>
      </p:sp>
      <p:sp>
        <p:nvSpPr>
          <p:cNvPr id="6" name="research basis"/>
          <p:cNvSpPr txBox="1"/>
          <p:nvPr/>
        </p:nvSpPr>
        <p:spPr>
          <a:xfrm>
            <a:off x="1554480" y="2697480"/>
            <a:ext cx="2127534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</a:rPr>
              <a:t>Основание из исследования: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</a:rPr>
              <a:t>общие предложения игнорируют. Интерес вызывают письма по своим продуктам, советы по ситуации клиента и понятный следующий шаг</a:t>
            </a:r>
            <a:endParaRPr lang="en-US" sz="2700" dirty="0"/>
          </a:p>
        </p:txBody>
      </p:sp>
      <p:sp>
        <p:nvSpPr>
          <p:cNvPr id="7" name="card"/>
          <p:cNvSpPr/>
          <p:nvPr/>
        </p:nvSpPr>
        <p:spPr>
          <a:xfrm>
            <a:off x="1005840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rgbClr val="F4F7FC"/>
          </a:solidFill>
          <a:ln/>
        </p:spPr>
      </p:sp>
      <p:sp>
        <p:nvSpPr>
          <p:cNvPr id="8" name="icon disc"/>
          <p:cNvSpPr/>
          <p:nvPr/>
        </p:nvSpPr>
        <p:spPr>
          <a:xfrm>
            <a:off x="1717243" y="5329123"/>
            <a:ext cx="680314" cy="680314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322" y="5499202"/>
            <a:ext cx="340157" cy="340157"/>
          </a:xfrm>
          <a:prstGeom prst="rect">
            <a:avLst/>
          </a:prstGeom>
        </p:spPr>
      </p:pic>
      <p:sp>
        <p:nvSpPr>
          <p:cNvPr id="10" name="idea title"/>
          <p:cNvSpPr txBox="1"/>
          <p:nvPr/>
        </p:nvSpPr>
        <p:spPr>
          <a:xfrm>
            <a:off x="1508760" y="653796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Объяснять изменения по продукту</a:t>
            </a:r>
            <a:endParaRPr lang="en-US" sz="3500" dirty="0"/>
          </a:p>
        </p:txBody>
      </p:sp>
      <p:sp>
        <p:nvSpPr>
          <p:cNvPr id="11" name="idea role"/>
          <p:cNvSpPr txBox="1"/>
          <p:nvPr/>
        </p:nvSpPr>
        <p:spPr>
          <a:xfrm>
            <a:off x="1508760" y="836676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На основе актуальных условий готовить краткое объяснение: что изменилось для клиента и какое действие доступно</a:t>
            </a:r>
            <a:endParaRPr lang="en-US" sz="2700" dirty="0"/>
          </a:p>
        </p:txBody>
      </p:sp>
      <p:sp>
        <p:nvSpPr>
          <p:cNvPr id="12" name="card"/>
          <p:cNvSpPr/>
          <p:nvPr/>
        </p:nvSpPr>
        <p:spPr>
          <a:xfrm>
            <a:off x="1280160" y="10789920"/>
            <a:ext cx="6665062" cy="1874520"/>
          </a:xfrm>
          <a:prstGeom prst="roundRect">
            <a:avLst>
              <a:gd name="adj" fmla="val 14634"/>
            </a:avLst>
          </a:prstGeom>
          <a:solidFill>
            <a:srgbClr val="E3F3E7"/>
          </a:solidFill>
          <a:ln/>
        </p:spPr>
      </p:sp>
      <p:sp>
        <p:nvSpPr>
          <p:cNvPr id="13" name="example"/>
          <p:cNvSpPr txBox="1"/>
          <p:nvPr/>
        </p:nvSpPr>
        <p:spPr>
          <a:xfrm>
            <a:off x="1554480" y="10789920"/>
            <a:ext cx="611642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Пример: что меняется при продлении полиса</a:t>
            </a:r>
            <a:endParaRPr lang="en-US" sz="2400" dirty="0"/>
          </a:p>
        </p:txBody>
      </p:sp>
      <p:sp>
        <p:nvSpPr>
          <p:cNvPr id="14" name="card"/>
          <p:cNvSpPr/>
          <p:nvPr/>
        </p:nvSpPr>
        <p:spPr>
          <a:xfrm>
            <a:off x="8585302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rgbClr val="F4F7FC"/>
          </a:solidFill>
          <a:ln/>
        </p:spPr>
      </p:sp>
      <p:sp>
        <p:nvSpPr>
          <p:cNvPr id="15" name="icon disc"/>
          <p:cNvSpPr/>
          <p:nvPr/>
        </p:nvSpPr>
        <p:spPr>
          <a:xfrm>
            <a:off x="9296705" y="5329123"/>
            <a:ext cx="680314" cy="680314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783" y="5499202"/>
            <a:ext cx="340157" cy="340157"/>
          </a:xfrm>
          <a:prstGeom prst="rect">
            <a:avLst/>
          </a:prstGeom>
        </p:spPr>
      </p:pic>
      <p:sp>
        <p:nvSpPr>
          <p:cNvPr id="17" name="idea title"/>
          <p:cNvSpPr txBox="1"/>
          <p:nvPr/>
        </p:nvSpPr>
        <p:spPr>
          <a:xfrm>
            <a:off x="9088222" y="653796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Давать совет по ситуации клиента</a:t>
            </a:r>
            <a:endParaRPr lang="en-US" sz="3500" dirty="0"/>
          </a:p>
        </p:txBody>
      </p:sp>
      <p:sp>
        <p:nvSpPr>
          <p:cNvPr id="18" name="idea role"/>
          <p:cNvSpPr txBox="1"/>
          <p:nvPr/>
        </p:nvSpPr>
        <p:spPr>
          <a:xfrm>
            <a:off x="9088222" y="836676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Учитывать траты и текущие продукты, объяснять доступную выгоду и предлагать следующий шаг</a:t>
            </a:r>
            <a:endParaRPr lang="en-US" sz="2700" dirty="0"/>
          </a:p>
        </p:txBody>
      </p:sp>
      <p:sp>
        <p:nvSpPr>
          <p:cNvPr id="19" name="card"/>
          <p:cNvSpPr/>
          <p:nvPr/>
        </p:nvSpPr>
        <p:spPr>
          <a:xfrm>
            <a:off x="8859622" y="10789920"/>
            <a:ext cx="6665062" cy="1874520"/>
          </a:xfrm>
          <a:prstGeom prst="roundRect">
            <a:avLst>
              <a:gd name="adj" fmla="val 14634"/>
            </a:avLst>
          </a:prstGeom>
          <a:solidFill>
            <a:srgbClr val="E3F3E7"/>
          </a:solidFill>
          <a:ln/>
        </p:spPr>
      </p:sp>
      <p:sp>
        <p:nvSpPr>
          <p:cNvPr id="20" name="example"/>
          <p:cNvSpPr txBox="1"/>
          <p:nvPr/>
        </p:nvSpPr>
        <p:spPr>
          <a:xfrm>
            <a:off x="9133942" y="10789920"/>
            <a:ext cx="611642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Пример: какие категории кешбэка стоит рассмотреть</a:t>
            </a:r>
            <a:endParaRPr lang="en-US" sz="2400" dirty="0"/>
          </a:p>
        </p:txBody>
      </p:sp>
      <p:sp>
        <p:nvSpPr>
          <p:cNvPr id="21" name="card"/>
          <p:cNvSpPr/>
          <p:nvPr/>
        </p:nvSpPr>
        <p:spPr>
          <a:xfrm>
            <a:off x="16164763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rgbClr val="F4F7FC"/>
          </a:solidFill>
          <a:ln/>
        </p:spPr>
      </p:sp>
      <p:sp>
        <p:nvSpPr>
          <p:cNvPr id="22" name="icon disc"/>
          <p:cNvSpPr/>
          <p:nvPr/>
        </p:nvSpPr>
        <p:spPr>
          <a:xfrm>
            <a:off x="16876166" y="5329123"/>
            <a:ext cx="680314" cy="680314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6245" y="5499202"/>
            <a:ext cx="340157" cy="340157"/>
          </a:xfrm>
          <a:prstGeom prst="rect">
            <a:avLst/>
          </a:prstGeom>
        </p:spPr>
      </p:pic>
      <p:sp>
        <p:nvSpPr>
          <p:cNvPr id="24" name="idea title"/>
          <p:cNvSpPr txBox="1"/>
          <p:nvPr/>
        </p:nvSpPr>
        <p:spPr>
          <a:xfrm>
            <a:off x="16667683" y="653796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Продолжать письмо в диалоге</a:t>
            </a:r>
            <a:endParaRPr lang="en-US" sz="3500" dirty="0"/>
          </a:p>
        </p:txBody>
      </p:sp>
      <p:sp>
        <p:nvSpPr>
          <p:cNvPr id="25" name="idea role"/>
          <p:cNvSpPr txBox="1"/>
          <p:nvPr/>
        </p:nvSpPr>
        <p:spPr>
          <a:xfrm>
            <a:off x="16667683" y="836676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Передавать тему письма помощнику в приложении, чтобы клиент мог уточнить условия и получить инструкцию</a:t>
            </a:r>
            <a:endParaRPr lang="en-US" sz="2700" dirty="0"/>
          </a:p>
        </p:txBody>
      </p:sp>
      <p:sp>
        <p:nvSpPr>
          <p:cNvPr id="26" name="card"/>
          <p:cNvSpPr/>
          <p:nvPr/>
        </p:nvSpPr>
        <p:spPr>
          <a:xfrm>
            <a:off x="16439083" y="10789920"/>
            <a:ext cx="6665062" cy="1874520"/>
          </a:xfrm>
          <a:prstGeom prst="roundRect">
            <a:avLst>
              <a:gd name="adj" fmla="val 14634"/>
            </a:avLst>
          </a:prstGeom>
          <a:solidFill>
            <a:srgbClr val="E3F3E7"/>
          </a:solidFill>
          <a:ln/>
        </p:spPr>
      </p:sp>
      <p:sp>
        <p:nvSpPr>
          <p:cNvPr id="27" name="example"/>
          <p:cNvSpPr txBox="1"/>
          <p:nvPr/>
        </p:nvSpPr>
        <p:spPr>
          <a:xfrm>
            <a:off x="16713403" y="10789920"/>
            <a:ext cx="611642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Пример: «Как воспользоваться предложением из письма?»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289304"/>
            <a:ext cx="2743200" cy="749808"/>
          </a:xfrm>
          <a:prstGeom prst="rect">
            <a:avLst/>
          </a:prstGeom>
        </p:spPr>
      </p:pic>
      <p:sp>
        <p:nvSpPr>
          <p:cNvPr id="3" name="decor circle"/>
          <p:cNvSpPr/>
          <p:nvPr/>
        </p:nvSpPr>
        <p:spPr>
          <a:xfrm>
            <a:off x="15087600" y="2377440"/>
            <a:ext cx="10058400" cy="1005840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" name="decor circle"/>
          <p:cNvSpPr/>
          <p:nvPr/>
        </p:nvSpPr>
        <p:spPr>
          <a:xfrm>
            <a:off x="17922240" y="5394960"/>
            <a:ext cx="6583680" cy="6583680"/>
          </a:xfrm>
          <a:prstGeom prst="ellipse">
            <a:avLst/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Спасибо</a:t>
            </a:r>
            <a:endParaRPr lang="en-US" sz="13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за внимание!</a:t>
            </a:r>
            <a:endParaRPr lang="en-US" sz="13000" dirty="0"/>
          </a:p>
        </p:txBody>
      </p:sp>
      <p:sp>
        <p:nvSpPr>
          <p:cNvPr id="6" name="footer"/>
          <p:cNvSpPr txBox="1"/>
          <p:nvPr/>
        </p:nvSpPr>
        <p:spPr>
          <a:xfrm>
            <a:off x="1517904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ДМиК. Стратегический маркетинг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Сентябрь 2026</a:t>
            </a:r>
            <a:endParaRPr lang="en-US" sz="2200" dirty="0"/>
          </a:p>
        </p:txBody>
      </p:sp>
      <p:sp>
        <p:nvSpPr>
          <p:cNvPr id="7" name="footer"/>
          <p:cNvSpPr txBox="1"/>
          <p:nvPr/>
        </p:nvSpPr>
        <p:spPr>
          <a:xfrm>
            <a:off x="10972800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ПАО Сбербанк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Строго для внутреннего использования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Приложение</a:t>
            </a:r>
            <a:endParaRPr lang="en-US" sz="9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Банковские приложения – основной канал получения информации от банков. Email рассылки от банков практически не читают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3240"/>
            <a:ext cx="13533120" cy="1496568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63240"/>
            <a:ext cx="12527280" cy="149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Гипотеза о том, что потребители не читают рассылки из банков, подтвердилась.</a:t>
            </a:r>
            <a:endParaRPr lang="en-US" sz="2400" dirty="0"/>
          </a:p>
        </p:txBody>
      </p:sp>
      <p:sp>
        <p:nvSpPr>
          <p:cNvPr id="5" name="text"/>
          <p:cNvSpPr txBox="1"/>
          <p:nvPr/>
        </p:nvSpPr>
        <p:spPr>
          <a:xfrm>
            <a:off x="1143000" y="5042408"/>
            <a:ext cx="13350240" cy="46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Большинство потребителей действительно практически не читает писем и рассылок из банка:</a:t>
            </a:r>
            <a:endParaRPr lang="en-US" sz="2200" dirty="0"/>
          </a:p>
        </p:txBody>
      </p:sp>
      <p:sp>
        <p:nvSpPr>
          <p:cNvPr id="6" name="icon disc"/>
          <p:cNvSpPr/>
          <p:nvPr/>
        </p:nvSpPr>
        <p:spPr>
          <a:xfrm>
            <a:off x="1281989" y="614532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74" y="6258712"/>
            <a:ext cx="226771" cy="226771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240280" y="5988050"/>
            <a:ext cx="12252960" cy="194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Банковские приложения - более официальный, надежный и удобный канал. </a:t>
            </a:r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Информацию о новых продуктах и услугах, о состоянии счета, изменениях в условиях обслуживания и т.п. привычнее и удобнее получать через приложение. Кроме того, информация в приложении, в отличие от рассылок, воспринимается как более точная и персонализированная.</a:t>
            </a:r>
            <a:endParaRPr lang="en-US" sz="2200" dirty="0"/>
          </a:p>
        </p:txBody>
      </p:sp>
      <p:sp>
        <p:nvSpPr>
          <p:cNvPr id="9" name="icon disc"/>
          <p:cNvSpPr/>
          <p:nvPr/>
        </p:nvSpPr>
        <p:spPr>
          <a:xfrm>
            <a:off x="1281989" y="857737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374" y="8690762"/>
            <a:ext cx="226771" cy="226771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240280" y="8420100"/>
            <a:ext cx="12252960" cy="194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Потребители предпочитают, чтобы инициатива исходила от них, а не от банка. </a:t>
            </a:r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Большая часть рассылок от банка оценивается как не актуальная, не своевременная, выгодная не потребителям, а банку. Поэтому рассылки воспринимают как навязывание ненужных услуг и продуктов. В случае интереса к продуктам или услугам банка предпочитают сами обращаться в банк через приложение, сайт или офис.</a:t>
            </a:r>
            <a:endParaRPr lang="en-US" sz="2200" dirty="0"/>
          </a:p>
        </p:txBody>
      </p:sp>
      <p:sp>
        <p:nvSpPr>
          <p:cNvPr id="12" name="icon disc"/>
          <p:cNvSpPr/>
          <p:nvPr/>
        </p:nvSpPr>
        <p:spPr>
          <a:xfrm>
            <a:off x="1281989" y="1100942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74" y="11122812"/>
            <a:ext cx="226771" cy="226771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2240280" y="10852150"/>
            <a:ext cx="12252960" cy="194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Частота, объем и качество информации от банков не соответствует потребностям аудитории. </a:t>
            </a:r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Есть ощущение, что среди рассылок абсолютное большинство информации – не нужная, а какие-то действительно полезные или важные сообщения просто теряются в таком потоке. Массовость рассылок снижает их релевантность, т.к. очень редко «попадает» в интересы потребителей.</a:t>
            </a:r>
            <a:endParaRPr lang="en-US" sz="2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0" y="2926080"/>
            <a:ext cx="8382305" cy="3091815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80208" y="3255264"/>
            <a:ext cx="310896" cy="310896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16047720" y="3200400"/>
            <a:ext cx="6919265" cy="254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(45-55, Москва)</a:t>
            </a:r>
            <a:endParaRPr lang="en-US" sz="2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0" y="6246495"/>
            <a:ext cx="8382305" cy="207835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80208" y="6575679"/>
            <a:ext cx="310896" cy="310896"/>
          </a:xfrm>
          <a:prstGeom prst="rect">
            <a:avLst/>
          </a:prstGeom>
        </p:spPr>
      </p:pic>
      <p:sp>
        <p:nvSpPr>
          <p:cNvPr id="20" name="quote text"/>
          <p:cNvSpPr txBox="1"/>
          <p:nvPr/>
        </p:nvSpPr>
        <p:spPr>
          <a:xfrm>
            <a:off x="16047720" y="6520815"/>
            <a:ext cx="6919265" cy="152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«Банк - это высокой степени серьезности инстанция. И ждать от него важную информацию к себе на почту, а не через профильное приложение, мы не привыкли»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(30-44, Москва)</a:t>
            </a:r>
            <a:endParaRPr lang="en-US" sz="20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96160" y="8553450"/>
            <a:ext cx="8382305" cy="207835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80208" y="8882634"/>
            <a:ext cx="310896" cy="310896"/>
          </a:xfrm>
          <a:prstGeom prst="rect">
            <a:avLst/>
          </a:prstGeom>
        </p:spPr>
      </p:pic>
      <p:sp>
        <p:nvSpPr>
          <p:cNvPr id="23" name="quote text"/>
          <p:cNvSpPr txBox="1"/>
          <p:nvPr/>
        </p:nvSpPr>
        <p:spPr>
          <a:xfrm>
            <a:off x="16047720" y="8827770"/>
            <a:ext cx="6919265" cy="152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«У меня всё, что мне нужно, присылает приложение уведомлением. Если что-то важное, я через приложение зайду, почитаю. А почту смысл читать?»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(30-44, Екат)</a:t>
            </a:r>
            <a:endParaRPr lang="en-US" sz="20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96160" y="10860405"/>
            <a:ext cx="8382305" cy="2078355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80208" y="11189589"/>
            <a:ext cx="310896" cy="310896"/>
          </a:xfrm>
          <a:prstGeom prst="rect">
            <a:avLst/>
          </a:prstGeom>
        </p:spPr>
      </p:pic>
      <p:sp>
        <p:nvSpPr>
          <p:cNvPr id="26" name="quote text"/>
          <p:cNvSpPr txBox="1"/>
          <p:nvPr/>
        </p:nvSpPr>
        <p:spPr>
          <a:xfrm>
            <a:off x="16047720" y="11134725"/>
            <a:ext cx="6919265" cy="152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(20-29, Москва)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Из всей массы рассылок от Сбера потребители просматривают письма с информацией о текущих продуктах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26080"/>
            <a:ext cx="10241280" cy="4160520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2926080"/>
            <a:ext cx="91440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Потребители все же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11612880" y="2926080"/>
            <a:ext cx="11765585" cy="4160520"/>
          </a:xfrm>
          <a:prstGeom prst="roundRect">
            <a:avLst>
              <a:gd name="adj" fmla="val 6593"/>
            </a:avLst>
          </a:prstGeom>
          <a:solidFill>
            <a:srgbClr val="F4F7FC"/>
          </a:solidFill>
          <a:ln/>
        </p:spPr>
      </p:sp>
      <p:sp>
        <p:nvSpPr>
          <p:cNvPr id="6" name="icon disc"/>
          <p:cNvSpPr/>
          <p:nvPr/>
        </p:nvSpPr>
        <p:spPr>
          <a:xfrm>
            <a:off x="12209069" y="349483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454" y="3608222"/>
            <a:ext cx="226771" cy="226771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13167360" y="3337560"/>
            <a:ext cx="9753905" cy="116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Среди общей массы рассылок обращают внимание на эти письма благодаря теме письма, в которой указан конкретный продукт и предмет письма (например, изменение условий по вкладам).</a:t>
            </a:r>
            <a:endParaRPr lang="en-US" sz="2200" dirty="0"/>
          </a:p>
        </p:txBody>
      </p:sp>
      <p:sp>
        <p:nvSpPr>
          <p:cNvPr id="9" name="icon disc"/>
          <p:cNvSpPr/>
          <p:nvPr/>
        </p:nvSpPr>
        <p:spPr>
          <a:xfrm>
            <a:off x="12209069" y="4954956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2454" y="5068341"/>
            <a:ext cx="226771" cy="226771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13167360" y="4797679"/>
            <a:ext cx="9753905" cy="788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Также, как правило, информация дублируется в приложении, а в некоторых случаях предваряется SMS от банка.</a:t>
            </a:r>
            <a:endParaRPr lang="en-US" sz="2200" dirty="0"/>
          </a:p>
        </p:txBody>
      </p:sp>
      <p:sp>
        <p:nvSpPr>
          <p:cNvPr id="12" name="icon disc"/>
          <p:cNvSpPr/>
          <p:nvPr/>
        </p:nvSpPr>
        <p:spPr>
          <a:xfrm>
            <a:off x="12209069" y="6043473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2454" y="6156858"/>
            <a:ext cx="226771" cy="226771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13167360" y="5886196"/>
            <a:ext cx="9753905" cy="788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В противном случае письмо может остаться не замеченным среди других рассылок.</a:t>
            </a:r>
            <a:endParaRPr lang="en-US" sz="2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7406640"/>
            <a:ext cx="7244182" cy="553212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888" y="7735824"/>
            <a:ext cx="310896" cy="310896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1417320" y="8430768"/>
            <a:ext cx="642122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«Банк раньше высылал, когда подходил срок оплаты налога за автомобиль. Вот это я просматривала. Раз в год страховая присылает на почту, там они делают тебе ссылку, чтобы ты перешёл. Но, опять же, если бы не подтверждение SMS, я бы фиг туда, может, и зашла»</a:t>
            </a:r>
            <a:endParaRPr lang="en-US" sz="25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5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062" y="7406640"/>
            <a:ext cx="7244182" cy="553212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4110" y="7735824"/>
            <a:ext cx="310896" cy="310896"/>
          </a:xfrm>
          <a:prstGeom prst="rect">
            <a:avLst/>
          </a:prstGeom>
        </p:spPr>
      </p:pic>
      <p:sp>
        <p:nvSpPr>
          <p:cNvPr id="20" name="quote text"/>
          <p:cNvSpPr txBox="1"/>
          <p:nvPr/>
        </p:nvSpPr>
        <p:spPr>
          <a:xfrm>
            <a:off x="8981542" y="8430768"/>
            <a:ext cx="642122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«У меня в Сбербанке открыты инвестиции, недавно вот пришло письмо, что мне выплатили дивиденды. Я портфель не проверяю каждый день, а тут после письма зашла, купила снова акции на эти. Всё, То есть портфель инвестиционный без меня сам работает, а я только письма читаю и вот захожу что-то продать, купить»</a:t>
            </a:r>
            <a:endParaRPr lang="en-US" sz="25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5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4283" y="7406640"/>
            <a:ext cx="7244182" cy="5532120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18331" y="7735824"/>
            <a:ext cx="310896" cy="310896"/>
          </a:xfrm>
          <a:prstGeom prst="rect">
            <a:avLst/>
          </a:prstGeom>
        </p:spPr>
      </p:pic>
      <p:sp>
        <p:nvSpPr>
          <p:cNvPr id="23" name="quote text"/>
          <p:cNvSpPr txBox="1"/>
          <p:nvPr/>
        </p:nvSpPr>
        <p:spPr>
          <a:xfrm>
            <a:off x="16545763" y="8430768"/>
            <a:ext cx="642122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«Там должно быть что-то конкретное написано - изменились условия по вашим вкладам, или - наше приложение перестанет работать завтра, установите его. То есть это должно быть что-то важное и полезное»</a:t>
            </a:r>
            <a:endParaRPr lang="en-US" sz="25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(45-55, Москва)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Потенциально могут быть интересны письма, несущие другую полезную конкретную информацию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3240"/>
            <a:ext cx="12070080" cy="2003298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63240"/>
            <a:ext cx="11064240" cy="2003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В меньшей степени ожидают получать от банка полезные материалы, не связанные напрямую с банковскими продуктами и услугами.</a:t>
            </a:r>
            <a:endParaRPr lang="en-US" sz="2600" dirty="0"/>
          </a:p>
        </p:txBody>
      </p:sp>
      <p:sp>
        <p:nvSpPr>
          <p:cNvPr id="5" name="text"/>
          <p:cNvSpPr txBox="1"/>
          <p:nvPr/>
        </p:nvSpPr>
        <p:spPr>
          <a:xfrm>
            <a:off x="1143000" y="5430317"/>
            <a:ext cx="11887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Интерес к подобным материалам присутствует, в случае удачной подачи (понятной, интересной) может повысить интерес к каналу электронной почты и частоту пользования ею:</a:t>
            </a:r>
            <a:endParaRPr lang="en-US" sz="2400" dirty="0"/>
          </a:p>
        </p:txBody>
      </p:sp>
      <p:sp>
        <p:nvSpPr>
          <p:cNvPr id="6" name="icon disc"/>
          <p:cNvSpPr/>
          <p:nvPr/>
        </p:nvSpPr>
        <p:spPr>
          <a:xfrm>
            <a:off x="1281989" y="7258964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74" y="7372350"/>
            <a:ext cx="226771" cy="226771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240280" y="7101688"/>
            <a:ext cx="1078992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Информирование об изменениях законодательства </a:t>
            </a:r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-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и как они скажутся на конкретном потребителе</a:t>
            </a:r>
            <a:endParaRPr lang="en-US" sz="2400" dirty="0"/>
          </a:p>
        </p:txBody>
      </p:sp>
      <p:sp>
        <p:nvSpPr>
          <p:cNvPr id="9" name="icon disc"/>
          <p:cNvSpPr/>
          <p:nvPr/>
        </p:nvSpPr>
        <p:spPr>
          <a:xfrm>
            <a:off x="1281989" y="8524951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374" y="8638337"/>
            <a:ext cx="226771" cy="226771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240280" y="8367674"/>
            <a:ext cx="1078992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Финансовые советы на основе потребительского поведения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(например, возврат налога за оплату обучения или лечения)</a:t>
            </a:r>
            <a:endParaRPr lang="en-US" sz="2400" dirty="0"/>
          </a:p>
        </p:txBody>
      </p:sp>
      <p:sp>
        <p:nvSpPr>
          <p:cNvPr id="12" name="icon disc"/>
          <p:cNvSpPr/>
          <p:nvPr/>
        </p:nvSpPr>
        <p:spPr>
          <a:xfrm>
            <a:off x="1281989" y="9790938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74" y="9904324"/>
            <a:ext cx="226771" cy="226771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2240280" y="9633661"/>
            <a:ext cx="10789920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Образовательная информация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– связанная, например, с финансовой грамотностью или инвестированием</a:t>
            </a:r>
            <a:endParaRPr lang="en-US" sz="2400" dirty="0"/>
          </a:p>
        </p:txBody>
      </p:sp>
      <p:sp>
        <p:nvSpPr>
          <p:cNvPr id="15" name="card"/>
          <p:cNvSpPr/>
          <p:nvPr/>
        </p:nvSpPr>
        <p:spPr>
          <a:xfrm>
            <a:off x="1051560" y="10899648"/>
            <a:ext cx="12070080" cy="1901952"/>
          </a:xfrm>
          <a:prstGeom prst="roundRect">
            <a:avLst>
              <a:gd name="adj" fmla="val 12019"/>
            </a:avLst>
          </a:prstGeom>
          <a:solidFill>
            <a:srgbClr val="F1F5FC"/>
          </a:solidFill>
          <a:ln/>
        </p:spPr>
      </p:sp>
      <p:sp>
        <p:nvSpPr>
          <p:cNvPr id="16" name="key statement"/>
          <p:cNvSpPr txBox="1"/>
          <p:nvPr/>
        </p:nvSpPr>
        <p:spPr>
          <a:xfrm>
            <a:off x="1554480" y="10899648"/>
            <a:ext cx="110642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Узкоцелевые информационные письма </a:t>
            </a:r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– например, информирование о необходимости </a:t>
            </a:r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обновить приложение - обычно также прочитываются.</a:t>
            </a:r>
            <a:endParaRPr lang="en-US" sz="2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0" y="2926080"/>
            <a:ext cx="9845345" cy="2475738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17168" y="3255264"/>
            <a:ext cx="310896" cy="310896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4584680" y="3200400"/>
            <a:ext cx="8382305" cy="192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«Какие-то изменения касаемые налогов, финансов, что-то в законодательстве, условно, раз в месяц, именно рассылка такого маленького дайджеста. Что там изменится с первого числа»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45-55, Екатеринбург</a:t>
            </a:r>
            <a:endParaRPr lang="en-US" sz="2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3120" y="5630418"/>
            <a:ext cx="9845345" cy="3894582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17168" y="5959602"/>
            <a:ext cx="310896" cy="310896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4584680" y="5904738"/>
            <a:ext cx="8382305" cy="334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«Что-то про финансовую грамотность. Какие-то короткие, понятные видеоролики, я бы заинтересовалась. Если бы я интересовалась инвестициями, то про инвестиции я бы тоже посмотрела. Если бы банк мог отследить и сделать видео, допустим, про то, как там за автошколу можно вернуть налоговый вычет или за какие-то покупки, я не знаю, какой там перечень, за что можно сделать налоговый вычет, то я бы заинтересовалась»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20-29, Москва</a:t>
            </a:r>
            <a:endParaRPr lang="en-US" sz="21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3120" y="9753600"/>
            <a:ext cx="9845345" cy="318516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17168" y="10082784"/>
            <a:ext cx="310896" cy="310896"/>
          </a:xfrm>
          <a:prstGeom prst="rect">
            <a:avLst/>
          </a:prstGeom>
        </p:spPr>
      </p:pic>
      <p:sp>
        <p:nvSpPr>
          <p:cNvPr id="25" name="quote text"/>
          <p:cNvSpPr txBox="1"/>
          <p:nvPr/>
        </p:nvSpPr>
        <p:spPr>
          <a:xfrm>
            <a:off x="14584680" y="10027920"/>
            <a:ext cx="8382305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«Я не припомню письма от банка, которое несет в себе какую-то пользу. за исключением сберовских или тиньковских рассылок о том, что нужно успеть залить новое приложение. Но они это делают и через СМС, и через пуши в своем приложении, и через электронную почту, всеми возможными каналами»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30-44, Екатеринбург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1/2</a:t>
            </a:r>
            <a:endParaRPr lang="en-US" sz="4000" dirty="0"/>
          </a:p>
        </p:txBody>
      </p:sp>
      <p:sp>
        <p:nvSpPr>
          <p:cNvPr id="3" name="icon disc"/>
          <p:cNvSpPr/>
          <p:nvPr/>
        </p:nvSpPr>
        <p:spPr>
          <a:xfrm>
            <a:off x="1281989" y="322051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3333902"/>
            <a:ext cx="226771" cy="226771"/>
          </a:xfrm>
          <a:prstGeom prst="rect">
            <a:avLst/>
          </a:prstGeom>
        </p:spPr>
      </p:pic>
      <p:sp>
        <p:nvSpPr>
          <p:cNvPr id="5" name="point"/>
          <p:cNvSpPr txBox="1"/>
          <p:nvPr/>
        </p:nvSpPr>
        <p:spPr>
          <a:xfrm>
            <a:off x="2240280" y="3063240"/>
            <a:ext cx="10149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Персональная финансовая подборка –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не вполне понятно, что это. Несмотря на слово «персональная» звучит расплывчато и не очень интересно.</a:t>
            </a:r>
            <a:endParaRPr lang="en-US" sz="2400" dirty="0"/>
          </a:p>
        </p:txBody>
      </p:sp>
      <p:sp>
        <p:nvSpPr>
          <p:cNvPr id="6" name="icon disc"/>
          <p:cNvSpPr/>
          <p:nvPr/>
        </p:nvSpPr>
        <p:spPr>
          <a:xfrm>
            <a:off x="1281989" y="5213909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74" y="5327294"/>
            <a:ext cx="226771" cy="226771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240280" y="5056632"/>
            <a:ext cx="10149840" cy="211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Аналитика расходов –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вызывает недоумение, т.к. подобная функция уже есть в МП банка. Кроме того, информация ожидается не полная, поскольку анализ делается на основе расходов по Сберу, а большинство потребителей пользуются не только этим банком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1051560" y="7860792"/>
            <a:ext cx="11430000" cy="2712720"/>
          </a:xfrm>
          <a:prstGeom prst="roundRect">
            <a:avLst>
              <a:gd name="adj" fmla="val 8427"/>
            </a:avLst>
          </a:prstGeom>
          <a:solidFill>
            <a:srgbClr val="F1F5FC"/>
          </a:solidFill>
          <a:ln/>
        </p:spPr>
      </p:sp>
      <p:sp>
        <p:nvSpPr>
          <p:cNvPr id="10" name="key statement"/>
          <p:cNvSpPr txBox="1"/>
          <p:nvPr/>
        </p:nvSpPr>
        <p:spPr>
          <a:xfrm>
            <a:off x="1554480" y="7860792"/>
            <a:ext cx="10424160" cy="271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В качестве альтернативы предлагают идеи персональной финансовой аналитики – то есть советов и рекомендаций на основе совершенных трат, с элементами финансовой грамотности. Не просто анализ трат, а разъяснение, как распоряжаться средствами лучше, что именно делать.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018520"/>
            <a:ext cx="11521440" cy="1920240"/>
          </a:xfrm>
          <a:prstGeom prst="rect">
            <a:avLst/>
          </a:prstGeom>
        </p:spPr>
      </p:pic>
      <p:sp>
        <p:nvSpPr>
          <p:cNvPr id="12" name="cashback note"/>
          <p:cNvSpPr txBox="1"/>
          <p:nvPr/>
        </p:nvSpPr>
        <p:spPr>
          <a:xfrm>
            <a:off x="1554480" y="110185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Повышенный кэшбек –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интересно, оптимально было бы предоставить потребителям выбирать категории самим.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0" y="2926080"/>
            <a:ext cx="10485425" cy="3962146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7088" y="3255264"/>
            <a:ext cx="310896" cy="310896"/>
          </a:xfrm>
          <a:prstGeom prst="rect">
            <a:avLst/>
          </a:prstGeom>
        </p:spPr>
      </p:pic>
      <p:sp>
        <p:nvSpPr>
          <p:cNvPr id="15" name="quote text"/>
          <p:cNvSpPr txBox="1"/>
          <p:nvPr/>
        </p:nvSpPr>
        <p:spPr>
          <a:xfrm>
            <a:off x="13944600" y="3200400"/>
            <a:ext cx="9022385" cy="341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«Я не очень финансово грамотная, деньги трачу шаляй-валяй. И если мне банк проанализирует, что я заходила, я там что-то как-то тратила, при этом он мне пропишет, что вот, там, не знаю, вы недавно так совершали, ну, а почему нет? Если банк за меня подумает и мне какие-то вот, не знаю, фишки накидает, то будет очень здорово»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3040" y="7116826"/>
            <a:ext cx="10485425" cy="318516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77088" y="7446010"/>
            <a:ext cx="310896" cy="310896"/>
          </a:xfrm>
          <a:prstGeom prst="rect">
            <a:avLst/>
          </a:prstGeom>
        </p:spPr>
      </p:pic>
      <p:sp>
        <p:nvSpPr>
          <p:cNvPr id="18" name="quote text"/>
          <p:cNvSpPr txBox="1"/>
          <p:nvPr/>
        </p:nvSpPr>
        <p:spPr>
          <a:xfrm>
            <a:off x="13944600" y="7391146"/>
            <a:ext cx="9022385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«Смените категорию кэшбэков, поменяйте что-нибудь в инвестициях. Есть новое предложение по вкладу по-вашему, да, что если там то-то, то-то вот так-то чуть-чуть поддобавить, то будет лучше. А то пока у них персональные индивидуальные предложения – это какая-то фигня»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3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3040" y="10530586"/>
            <a:ext cx="10485425" cy="2408174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77088" y="10859770"/>
            <a:ext cx="310896" cy="310896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13944600" y="10804906"/>
            <a:ext cx="9022385" cy="1859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«Не информационный контекст, а побудительный. Мне нужно что-то сделать. Например, выбрать те категории кэшбека, что мне интересны»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2/3</a:t>
            </a:r>
            <a:endParaRPr lang="en-US" sz="4000" dirty="0"/>
          </a:p>
        </p:txBody>
      </p:sp>
      <p:sp>
        <p:nvSpPr>
          <p:cNvPr id="3" name="icon disc"/>
          <p:cNvSpPr/>
          <p:nvPr/>
        </p:nvSpPr>
        <p:spPr>
          <a:xfrm>
            <a:off x="1281989" y="322051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3333902"/>
            <a:ext cx="226771" cy="226771"/>
          </a:xfrm>
          <a:prstGeom prst="rect">
            <a:avLst/>
          </a:prstGeom>
        </p:spPr>
      </p:pic>
      <p:sp>
        <p:nvSpPr>
          <p:cNvPr id="5" name="point"/>
          <p:cNvSpPr txBox="1"/>
          <p:nvPr/>
        </p:nvSpPr>
        <p:spPr>
          <a:xfrm>
            <a:off x="2240280" y="3063240"/>
            <a:ext cx="9235440" cy="135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Сервисная выписка – </a:t>
            </a:r>
            <a:pPr indent="0" marL="0">
              <a:lnSpc>
                <a:spcPct val="112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не вполне понятно, что это. Предполагают, что точно можно получить через приложение</a:t>
            </a:r>
            <a:endParaRPr lang="en-US" sz="2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107305"/>
            <a:ext cx="10515600" cy="1597914"/>
          </a:xfrm>
          <a:prstGeom prst="rect">
            <a:avLst/>
          </a:prstGeom>
        </p:spPr>
      </p:pic>
      <p:sp>
        <p:nvSpPr>
          <p:cNvPr id="7" name="key statement"/>
          <p:cNvSpPr txBox="1"/>
          <p:nvPr/>
        </p:nvSpPr>
        <p:spPr>
          <a:xfrm>
            <a:off x="1554480" y="5107305"/>
            <a:ext cx="9509760" cy="159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</a:rPr>
              <a:t>Альтернативные варианты содержимого рассылок, предложенные потребителями:</a:t>
            </a:r>
            <a:endParaRPr lang="en-US" sz="2700" dirty="0"/>
          </a:p>
        </p:txBody>
      </p:sp>
      <p:sp>
        <p:nvSpPr>
          <p:cNvPr id="8" name="icon disc"/>
          <p:cNvSpPr/>
          <p:nvPr/>
        </p:nvSpPr>
        <p:spPr>
          <a:xfrm>
            <a:off x="1281989" y="7548296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374" y="7661681"/>
            <a:ext cx="226771" cy="226771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2240280" y="7391019"/>
            <a:ext cx="9235440" cy="135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Таргетированные предложения </a:t>
            </a:r>
            <a:pPr indent="0" marL="0">
              <a:lnSpc>
                <a:spcPct val="112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с учетом потребительского поведения и интереса, проявленного к тем или иным продуктам, сервисам, информации</a:t>
            </a:r>
            <a:endParaRPr lang="en-US" sz="2500" dirty="0"/>
          </a:p>
        </p:txBody>
      </p:sp>
      <p:sp>
        <p:nvSpPr>
          <p:cNvPr id="11" name="icon disc"/>
          <p:cNvSpPr/>
          <p:nvPr/>
        </p:nvSpPr>
        <p:spPr>
          <a:xfrm>
            <a:off x="1281989" y="9592361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74" y="9705746"/>
            <a:ext cx="226771" cy="226771"/>
          </a:xfrm>
          <a:prstGeom prst="rect">
            <a:avLst/>
          </a:prstGeom>
        </p:spPr>
      </p:pic>
      <p:sp>
        <p:nvSpPr>
          <p:cNvPr id="13" name="point"/>
          <p:cNvSpPr txBox="1"/>
          <p:nvPr/>
        </p:nvSpPr>
        <p:spPr>
          <a:xfrm>
            <a:off x="2240280" y="9435084"/>
            <a:ext cx="9235440" cy="178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Ежемесячный апдейт состояния вклада с онлайн-калькулятором </a:t>
            </a:r>
            <a:pPr indent="0" marL="0">
              <a:lnSpc>
                <a:spcPct val="112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(чтобы можно было посчитать итоговую сумму в зависимости от срока и выбрать подходящие для себя условия)</a:t>
            </a:r>
            <a:endParaRPr lang="en-US" sz="2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0" y="2926080"/>
            <a:ext cx="11399825" cy="3309027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2688" y="3255264"/>
            <a:ext cx="310896" cy="310896"/>
          </a:xfrm>
          <a:prstGeom prst="rect">
            <a:avLst/>
          </a:prstGeom>
        </p:spPr>
      </p:pic>
      <p:sp>
        <p:nvSpPr>
          <p:cNvPr id="16" name="quote text"/>
          <p:cNvSpPr txBox="1"/>
          <p:nvPr/>
        </p:nvSpPr>
        <p:spPr>
          <a:xfrm>
            <a:off x="13030200" y="3200400"/>
            <a:ext cx="9936785" cy="2760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«У них же есть целая аналитика внутри, по тому, как мы тратим. Он меня изучил, и мне интересно, что для меня подобрал. Я хочу, чтобы они мне помогали оптимизировать мои траты. Вот Альфа-Банк сразу запрашивает, а как вам кэшбэки того месяца? И я им пишу, на одежду и на продукты, пожалуйста, добавьте. То есть они такие, да-да-да, учтем, учтем. То есть они аналитику сразу собирают»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8640" y="6463707"/>
            <a:ext cx="11399825" cy="3309027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62688" y="6792891"/>
            <a:ext cx="310896" cy="310896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3030200" y="6738027"/>
            <a:ext cx="9936785" cy="2760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«По тиктоку, например, то, что ты сам отмечаешь, тебе и подкидывается все время. Вот что-то наподобие чтобы можно было настроить в банке, в приложении, чтобы мне отправлялись конкретные эти вещи. Тогда я точно буду заходить, И если это еще будет дублироваться СМСкой, допустим, или Push-уведомлением, что вот зайдите в почту, вообще прекрасно»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2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0" y="10001335"/>
            <a:ext cx="11399825" cy="2937425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62688" y="10330519"/>
            <a:ext cx="310896" cy="310896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3030200" y="10275655"/>
            <a:ext cx="9936785" cy="238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«Если был каждый месяц приходил калькулятор вклада, я бы точно прочитала и посмотрела, какая у меня сумма, какой процент я получу. Я буду знать, что банк обо мне помнит, и я как бы как вкладчик могу, вот посмотрел, сделал вывод, что мне удобно, и тут же онлайн подключу»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(45-55, Екат)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Формат рассылок должен быть максимально компактным, информативным, но при этом не скучным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3240"/>
            <a:ext cx="14538960" cy="1564132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63240"/>
            <a:ext cx="13533120" cy="156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Гипотеза о том, что в электронную почту идут читать лонгриды, не подтвердилась.</a:t>
            </a:r>
            <a:endParaRPr lang="en-US" sz="2600" dirty="0"/>
          </a:p>
        </p:txBody>
      </p:sp>
      <p:sp>
        <p:nvSpPr>
          <p:cNvPr id="5" name="icon disc"/>
          <p:cNvSpPr/>
          <p:nvPr/>
        </p:nvSpPr>
        <p:spPr>
          <a:xfrm>
            <a:off x="1281989" y="546316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74" y="5576553"/>
            <a:ext cx="226771" cy="226771"/>
          </a:xfrm>
          <a:prstGeom prst="rect">
            <a:avLst/>
          </a:prstGeom>
        </p:spPr>
      </p:pic>
      <p:sp>
        <p:nvSpPr>
          <p:cNvPr id="7" name="point"/>
          <p:cNvSpPr txBox="1"/>
          <p:nvPr/>
        </p:nvSpPr>
        <p:spPr>
          <a:xfrm>
            <a:off x="2240280" y="5305891"/>
            <a:ext cx="8778240" cy="171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Наоборот, у письма в виде длинного текста меньше всего шансов быть изученным. Аудитория, особенно молодая, не читает и не смотрит большие форматы (исключение – работа и учёба).</a:t>
            </a:r>
            <a:endParaRPr lang="en-US" sz="2400" dirty="0"/>
          </a:p>
        </p:txBody>
      </p:sp>
      <p:sp>
        <p:nvSpPr>
          <p:cNvPr id="8" name="icon disc"/>
          <p:cNvSpPr/>
          <p:nvPr/>
        </p:nvSpPr>
        <p:spPr>
          <a:xfrm>
            <a:off x="1281989" y="7854662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374" y="7968048"/>
            <a:ext cx="226771" cy="226771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2240280" y="7697385"/>
            <a:ext cx="8778240" cy="211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Информация от банка априори представляется сложной для понимания, сухой и неинтересной. Даже потенциально релевантные темы, изложенные стандартным языком, не привлекают внимание обычных потребителей и не вызовут желания изучить рассылку.</a:t>
            </a:r>
            <a:endParaRPr lang="en-US" sz="2400" dirty="0"/>
          </a:p>
        </p:txBody>
      </p:sp>
      <p:sp>
        <p:nvSpPr>
          <p:cNvPr id="11" name="card"/>
          <p:cNvSpPr/>
          <p:nvPr/>
        </p:nvSpPr>
        <p:spPr>
          <a:xfrm>
            <a:off x="1051560" y="10494264"/>
            <a:ext cx="14538960" cy="2307336"/>
          </a:xfrm>
          <a:prstGeom prst="roundRect">
            <a:avLst>
              <a:gd name="adj" fmla="val 9908"/>
            </a:avLst>
          </a:prstGeom>
          <a:solidFill>
            <a:srgbClr val="F1F5FC"/>
          </a:solidFill>
          <a:ln/>
        </p:spPr>
      </p:sp>
      <p:sp>
        <p:nvSpPr>
          <p:cNvPr id="12" name="key statement"/>
          <p:cNvSpPr txBox="1"/>
          <p:nvPr/>
        </p:nvSpPr>
        <p:spPr>
          <a:xfrm>
            <a:off x="1554480" y="10494264"/>
            <a:ext cx="13533120" cy="230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Предпочтительные форматы для рассылок – иконографика или короткие видеоролики, с возможностью перехода в приложение или на сайт при желании получить более детальную информацию. Язык изложения информации должен быть максимально понятным, «человеческим», с конкретными примерами.</a:t>
            </a:r>
            <a:endParaRPr lang="en-US" sz="2400" dirty="0"/>
          </a:p>
        </p:txBody>
      </p:sp>
      <p:pic>
        <p:nvPicPr>
          <p:cNvPr id="13" name="Image 3" descr="/tmp/claude-0/-home-user--/79b729a8-3fa1-5cbb-8e3b-0cd80d582848/scratchpad/build/image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6098594"/>
            <a:ext cx="4114800" cy="2924447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0" y="2926080"/>
            <a:ext cx="7376465" cy="545192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6048" y="3255264"/>
            <a:ext cx="310896" cy="310896"/>
          </a:xfrm>
          <a:prstGeom prst="rect">
            <a:avLst/>
          </a:prstGeom>
        </p:spPr>
      </p:pic>
      <p:sp>
        <p:nvSpPr>
          <p:cNvPr id="16" name="quote text"/>
          <p:cNvSpPr txBox="1"/>
          <p:nvPr/>
        </p:nvSpPr>
        <p:spPr>
          <a:xfrm>
            <a:off x="16413480" y="3950208"/>
            <a:ext cx="6553505" cy="419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«Мне бы было интересно, но, к сожалению, сейчас почему-то читать как будто бы некогда. Поэтому вся информация, которая приходит в почте текстом, тем более, банковская, заумная, невкусно. А вот если бы это было видеосообщением каким-нибудь вот прямо доходчивым, я не знаю, самые сливки и всё понятно, было бы круто, я бы посмотрела»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3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0" y="8652319"/>
            <a:ext cx="7376465" cy="4286441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6048" y="8981503"/>
            <a:ext cx="310896" cy="310896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6413480" y="9676448"/>
            <a:ext cx="6553505" cy="303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«Мне приходило письмо об изменении процентной ставки. Я пыталась понять, в чем же изменение, и как я могу повлиять, поняла, что никак, и просто открыла новый вклад с другими условиями. Я в экономике в этой банковской сфере не понимаю...”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(45-55, Москва)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Отношение к рассылкам от экосистемы более положительное, чем к банковской рассылке, в них видят больше ценности и чаще открывают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3240"/>
            <a:ext cx="13807440" cy="3050540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63240"/>
            <a:ext cx="12801600" cy="305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chemeClr val="accent3"/>
                </a:solidFill>
              </a:rPr>
              <a:t>Клиенты экосистемы склонны просматривать рассылки по продуктам экосистемы, которыми они пользуются. Большая открытость и заинтересованность обусловлены личным позитивным опытом и ценностью, которую потребители видят для себя в этих рассылках:</a:t>
            </a:r>
            <a:endParaRPr lang="en-US" sz="2800" dirty="0"/>
          </a:p>
        </p:txBody>
      </p:sp>
      <p:sp>
        <p:nvSpPr>
          <p:cNvPr id="5" name="icon disc"/>
          <p:cNvSpPr/>
          <p:nvPr/>
        </p:nvSpPr>
        <p:spPr>
          <a:xfrm>
            <a:off x="1281989" y="695685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74" y="7070242"/>
            <a:ext cx="226771" cy="226771"/>
          </a:xfrm>
          <a:prstGeom prst="rect">
            <a:avLst/>
          </a:prstGeom>
        </p:spPr>
      </p:pic>
      <p:sp>
        <p:nvSpPr>
          <p:cNvPr id="7" name="point"/>
          <p:cNvSpPr txBox="1"/>
          <p:nvPr/>
        </p:nvSpPr>
        <p:spPr>
          <a:xfrm>
            <a:off x="2240280" y="6799580"/>
            <a:ext cx="12527280" cy="96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Акции, купоны на скидки </a:t>
            </a:r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– действительно попадаются и реально работают;</a:t>
            </a:r>
            <a:endParaRPr lang="en-US" sz="2600" dirty="0"/>
          </a:p>
        </p:txBody>
      </p:sp>
      <p:sp>
        <p:nvSpPr>
          <p:cNvPr id="8" name="icon disc"/>
          <p:cNvSpPr/>
          <p:nvPr/>
        </p:nvSpPr>
        <p:spPr>
          <a:xfrm>
            <a:off x="1281989" y="8612429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374" y="8725814"/>
            <a:ext cx="226771" cy="226771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2240280" y="8455152"/>
            <a:ext cx="12527280" cy="96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Возможность скачать </a:t>
            </a:r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документ, QR-код, купон на скидку - и использовать без интернета.</a:t>
            </a:r>
            <a:endParaRPr lang="en-US" sz="2600" dirty="0"/>
          </a:p>
        </p:txBody>
      </p:sp>
      <p:sp>
        <p:nvSpPr>
          <p:cNvPr id="11" name="card"/>
          <p:cNvSpPr/>
          <p:nvPr/>
        </p:nvSpPr>
        <p:spPr>
          <a:xfrm>
            <a:off x="1051560" y="10110724"/>
            <a:ext cx="13807440" cy="2003298"/>
          </a:xfrm>
          <a:prstGeom prst="roundRect">
            <a:avLst>
              <a:gd name="adj" fmla="val 11411"/>
            </a:avLst>
          </a:prstGeom>
          <a:solidFill>
            <a:srgbClr val="F1F5FC"/>
          </a:solidFill>
          <a:ln/>
        </p:spPr>
      </p:sp>
      <p:sp>
        <p:nvSpPr>
          <p:cNvPr id="12" name="key statement"/>
          <p:cNvSpPr txBox="1"/>
          <p:nvPr/>
        </p:nvSpPr>
        <p:spPr>
          <a:xfrm>
            <a:off x="1554480" y="10110724"/>
            <a:ext cx="12801600" cy="2003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В целом от рассылок продуктов экосистемы ожидают меньше подводных камней в виде выполнения определенных критериев, условий, написанных «мелким шрифтом» и т.п., чем от банка.</a:t>
            </a:r>
            <a:endParaRPr lang="en-US" sz="2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2926080"/>
            <a:ext cx="8107985" cy="470027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54528" y="3255264"/>
            <a:ext cx="310896" cy="310896"/>
          </a:xfrm>
          <a:prstGeom prst="rect">
            <a:avLst/>
          </a:prstGeom>
        </p:spPr>
      </p:pic>
      <p:sp>
        <p:nvSpPr>
          <p:cNvPr id="15" name="quote text"/>
          <p:cNvSpPr txBox="1"/>
          <p:nvPr/>
        </p:nvSpPr>
        <p:spPr>
          <a:xfrm>
            <a:off x="15681960" y="3950208"/>
            <a:ext cx="7285025" cy="344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«Могу посмотреть, если из, к примеру, Яндекс.Маркета придет индивидуальное предложение с каким-нибудь чайником за 500 рублей, а так он стоит 3000. У меня бывали такие ситуации, что я так зашел, зашел по этой ссылочке, и там действительно был промокод на покупку какого-то товара, он правда сработал, я купил по акции. Если приходит с официальной очты, и это будет не базовая рассылка»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(20-29, Екат)</a:t>
            </a:r>
            <a:endParaRPr lang="en-US" sz="2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480" y="7900670"/>
            <a:ext cx="8107985" cy="503809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4528" y="8229854"/>
            <a:ext cx="310896" cy="310896"/>
          </a:xfrm>
          <a:prstGeom prst="rect">
            <a:avLst/>
          </a:prstGeom>
        </p:spPr>
      </p:pic>
      <p:sp>
        <p:nvSpPr>
          <p:cNvPr id="18" name="quote text"/>
          <p:cNvSpPr txBox="1"/>
          <p:nvPr/>
        </p:nvSpPr>
        <p:spPr>
          <a:xfrm>
            <a:off x="15681960" y="8924798"/>
            <a:ext cx="7285025" cy="3785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почту, ее можно скачать в кэш хранить там. Гаишникам показать, если нет мобильного интернета и нельзя показать из приложения. То же – билеты в театр, в кино, заказ в Самокате. У Тбанка бывают акции, ты заказываешь в приложении, потом тебе приходит на почту чек, делаешь скриншот, QR-код загружаешь, чтобы получить какой-то кэшбэк 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(20-29, Екат)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Потребители готовы получать и изучать полезные и выгодные для них рассылки и от экосистемы Сбера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3240"/>
            <a:ext cx="12161520" cy="2628265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554480" y="3063240"/>
            <a:ext cx="11155680" cy="2628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Ценность этих рассылок может заключаться как в буквальной выгоде (скидки, выгодные предложения, информация о распродажах и т.п.), так и в облегчении жизни потребителей, заботе о них (напоминания о платежах по страховке, таргетированные предложения на основе анализа покупок, и т.п.):</a:t>
            </a:r>
            <a:endParaRPr lang="en-US" sz="2300" dirty="0"/>
          </a:p>
        </p:txBody>
      </p:sp>
      <p:sp>
        <p:nvSpPr>
          <p:cNvPr id="5" name="icon disc"/>
          <p:cNvSpPr/>
          <p:nvPr/>
        </p:nvSpPr>
        <p:spPr>
          <a:xfrm>
            <a:off x="1281989" y="6181691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74" y="6295077"/>
            <a:ext cx="226771" cy="226771"/>
          </a:xfrm>
          <a:prstGeom prst="rect">
            <a:avLst/>
          </a:prstGeom>
        </p:spPr>
      </p:pic>
      <p:sp>
        <p:nvSpPr>
          <p:cNvPr id="7" name="point"/>
          <p:cNvSpPr txBox="1"/>
          <p:nvPr/>
        </p:nvSpPr>
        <p:spPr>
          <a:xfrm>
            <a:off x="2240280" y="6024414"/>
            <a:ext cx="6492240" cy="800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График платежей по подпискам, страховкам и т.п.</a:t>
            </a:r>
            <a:endParaRPr lang="en-US" sz="2100" dirty="0"/>
          </a:p>
        </p:txBody>
      </p:sp>
      <p:sp>
        <p:nvSpPr>
          <p:cNvPr id="8" name="icon disc"/>
          <p:cNvSpPr/>
          <p:nvPr/>
        </p:nvSpPr>
        <p:spPr>
          <a:xfrm>
            <a:off x="1281989" y="7315462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374" y="7428848"/>
            <a:ext cx="226771" cy="226771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2240280" y="715818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Напоминание о приближающемся платеже</a:t>
            </a:r>
            <a:endParaRPr lang="en-US" sz="2100" dirty="0"/>
          </a:p>
        </p:txBody>
      </p:sp>
      <p:sp>
        <p:nvSpPr>
          <p:cNvPr id="11" name="icon disc"/>
          <p:cNvSpPr/>
          <p:nvPr/>
        </p:nvSpPr>
        <p:spPr>
          <a:xfrm>
            <a:off x="1281989" y="8425612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74" y="8538997"/>
            <a:ext cx="226771" cy="226771"/>
          </a:xfrm>
          <a:prstGeom prst="rect">
            <a:avLst/>
          </a:prstGeom>
        </p:spPr>
      </p:pic>
      <p:sp>
        <p:nvSpPr>
          <p:cNvPr id="13" name="point"/>
          <p:cNvSpPr txBox="1"/>
          <p:nvPr/>
        </p:nvSpPr>
        <p:spPr>
          <a:xfrm>
            <a:off x="2240280" y="8268335"/>
            <a:ext cx="6492240" cy="800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Скидка за досрочную оплату/ оплату на длительный срок</a:t>
            </a:r>
            <a:endParaRPr lang="en-US" sz="2100" dirty="0"/>
          </a:p>
        </p:txBody>
      </p:sp>
      <p:sp>
        <p:nvSpPr>
          <p:cNvPr id="14" name="icon disc"/>
          <p:cNvSpPr/>
          <p:nvPr/>
        </p:nvSpPr>
        <p:spPr>
          <a:xfrm>
            <a:off x="1281989" y="9559383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374" y="9672769"/>
            <a:ext cx="226771" cy="226771"/>
          </a:xfrm>
          <a:prstGeom prst="rect">
            <a:avLst/>
          </a:prstGeom>
        </p:spPr>
      </p:pic>
      <p:sp>
        <p:nvSpPr>
          <p:cNvPr id="16" name="point"/>
          <p:cNvSpPr txBox="1"/>
          <p:nvPr/>
        </p:nvSpPr>
        <p:spPr>
          <a:xfrm>
            <a:off x="2240280" y="9402106"/>
            <a:ext cx="6492240" cy="800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Уведомление о предстоящих акциях (скидках, распродажах)</a:t>
            </a:r>
            <a:endParaRPr lang="en-US" sz="2100" dirty="0"/>
          </a:p>
        </p:txBody>
      </p:sp>
      <p:sp>
        <p:nvSpPr>
          <p:cNvPr id="17" name="icon disc"/>
          <p:cNvSpPr/>
          <p:nvPr/>
        </p:nvSpPr>
        <p:spPr>
          <a:xfrm>
            <a:off x="1281989" y="10693154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374" y="10806540"/>
            <a:ext cx="226771" cy="226771"/>
          </a:xfrm>
          <a:prstGeom prst="rect">
            <a:avLst/>
          </a:prstGeom>
        </p:spPr>
      </p:pic>
      <p:sp>
        <p:nvSpPr>
          <p:cNvPr id="19" name="point"/>
          <p:cNvSpPr txBox="1"/>
          <p:nvPr/>
        </p:nvSpPr>
        <p:spPr>
          <a:xfrm>
            <a:off x="2240280" y="10535878"/>
            <a:ext cx="6492240" cy="115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Скидки, выгодные предложения </a:t>
            </a:r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– не только за 1й заказ или покупку, но и как лояльным пользователям</a:t>
            </a:r>
            <a:endParaRPr lang="en-US" sz="2100" dirty="0"/>
          </a:p>
        </p:txBody>
      </p:sp>
      <p:sp>
        <p:nvSpPr>
          <p:cNvPr id="20" name="icon disc"/>
          <p:cNvSpPr/>
          <p:nvPr/>
        </p:nvSpPr>
        <p:spPr>
          <a:xfrm>
            <a:off x="1281989" y="12181637"/>
            <a:ext cx="453542" cy="453542"/>
          </a:xfrm>
          <a:prstGeom prst="ellipse">
            <a:avLst/>
          </a:prstGeom>
          <a:solidFill>
            <a:srgbClr val="DDF1E3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374" y="12295022"/>
            <a:ext cx="226771" cy="226771"/>
          </a:xfrm>
          <a:prstGeom prst="rect">
            <a:avLst/>
          </a:prstGeom>
        </p:spPr>
      </p:pic>
      <p:sp>
        <p:nvSpPr>
          <p:cNvPr id="22" name="point"/>
          <p:cNvSpPr txBox="1"/>
          <p:nvPr/>
        </p:nvSpPr>
        <p:spPr>
          <a:xfrm>
            <a:off x="2240280" y="120243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Таргетированные предложения</a:t>
            </a:r>
            <a:endParaRPr lang="en-US" sz="2100" dirty="0"/>
          </a:p>
        </p:txBody>
      </p:sp>
      <p:pic>
        <p:nvPicPr>
          <p:cNvPr id="23" name="Image 7" descr="/tmp/claude-0/-home-user--/79b729a8-3fa1-5cbb-8e3b-0cd80d582848/scratchpad/build/image1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8707080"/>
            <a:ext cx="3931920" cy="395736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4560" y="2926080"/>
            <a:ext cx="9753905" cy="2686939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08608" y="3255264"/>
            <a:ext cx="310896" cy="310896"/>
          </a:xfrm>
          <a:prstGeom prst="rect">
            <a:avLst/>
          </a:prstGeom>
        </p:spPr>
      </p:pic>
      <p:sp>
        <p:nvSpPr>
          <p:cNvPr id="26" name="quote text"/>
          <p:cNvSpPr txBox="1"/>
          <p:nvPr/>
        </p:nvSpPr>
        <p:spPr>
          <a:xfrm>
            <a:off x="14676120" y="3200400"/>
            <a:ext cx="8290865" cy="2138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конкурентов. Еще было бы неплохо, чтобы мне как клиенту приходили индивидуальные купоны на скидки в Самокате. В Купере есть, но только на первый заказ».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(20-29, Екат)</a:t>
            </a:r>
            <a:endParaRPr lang="en-US" sz="19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4560" y="5795899"/>
            <a:ext cx="9753905" cy="2366010"/>
          </a:xfrm>
          <a:prstGeom prst="rect">
            <a:avLst/>
          </a:prstGeom>
        </p:spPr>
      </p:pic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08608" y="6125083"/>
            <a:ext cx="310896" cy="310896"/>
          </a:xfrm>
          <a:prstGeom prst="rect">
            <a:avLst/>
          </a:prstGeom>
        </p:spPr>
      </p:pic>
      <p:sp>
        <p:nvSpPr>
          <p:cNvPr id="29" name="quote text"/>
          <p:cNvSpPr txBox="1"/>
          <p:nvPr/>
        </p:nvSpPr>
        <p:spPr>
          <a:xfrm>
            <a:off x="14676120" y="6070219"/>
            <a:ext cx="8290865" cy="181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(45-55, Екат)</a:t>
            </a:r>
            <a:endParaRPr lang="en-US" sz="19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24560" y="8344789"/>
            <a:ext cx="9753905" cy="2045081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08608" y="8673973"/>
            <a:ext cx="310896" cy="310896"/>
          </a:xfrm>
          <a:prstGeom prst="rect">
            <a:avLst/>
          </a:prstGeom>
        </p:spPr>
      </p:pic>
      <p:sp>
        <p:nvSpPr>
          <p:cNvPr id="32" name="quote text"/>
          <p:cNvSpPr txBox="1"/>
          <p:nvPr/>
        </p:nvSpPr>
        <p:spPr>
          <a:xfrm>
            <a:off x="14676120" y="8619109"/>
            <a:ext cx="8290865" cy="14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«У Сбера раз в году есть Зеленые дни, скидки на разные продукты экосистемы. И обратный отсчет до начала этих дней идет. Можно планировать под эти даты, это удобно и выгодно»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(30-44, Москва)</a:t>
            </a:r>
            <a:endParaRPr lang="en-US" sz="1900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24560" y="10572750"/>
            <a:ext cx="9753905" cy="2366010"/>
          </a:xfrm>
          <a:prstGeom prst="rect">
            <a:avLst/>
          </a:prstGeom>
        </p:spPr>
      </p:pic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08608" y="10901934"/>
            <a:ext cx="310896" cy="310896"/>
          </a:xfrm>
          <a:prstGeom prst="rect">
            <a:avLst/>
          </a:prstGeom>
        </p:spPr>
      </p:pic>
      <p:sp>
        <p:nvSpPr>
          <p:cNvPr id="35" name="quote text"/>
          <p:cNvSpPr txBox="1"/>
          <p:nvPr/>
        </p:nvSpPr>
        <p:spPr>
          <a:xfrm>
            <a:off x="14676120" y="10847070"/>
            <a:ext cx="8290865" cy="181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«Если человек пользуется экосистемой, о нем очень много можно узнать. Допустим, какую музыку он предпочитает слушать, куда ходит. Если для конкретного потребителя сделать подборку, было бы интересно»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(45-55, Екат)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er Research">
  <a:themeElements>
    <a:clrScheme name="Sber Research">
      <a:dk1>
        <a:srgbClr val="23343D"/>
      </a:dk1>
      <a:lt1>
        <a:srgbClr val="FFFFFF"/>
      </a:lt1>
      <a:dk2>
        <a:srgbClr val="0D5146"/>
      </a:dk2>
      <a:lt2>
        <a:srgbClr val="F4F7FC"/>
      </a:lt2>
      <a:accent1>
        <a:srgbClr val="1164C0"/>
      </a:accent1>
      <a:accent2>
        <a:srgbClr val="21A038"/>
      </a:accent2>
      <a:accent3>
        <a:srgbClr val="0D5146"/>
      </a:accent3>
      <a:accent4>
        <a:srgbClr val="5AB0FF"/>
      </a:accent4>
      <a:accent5>
        <a:srgbClr val="BAF279"/>
      </a:accent5>
      <a:accent6>
        <a:srgbClr val="55666F"/>
      </a:accent6>
      <a:hlink>
        <a:srgbClr val="1164C0"/>
      </a:hlink>
      <a:folHlink>
        <a:srgbClr val="60717B"/>
      </a:folHlink>
    </a:clrScheme>
    <a:fontScheme name="Sber Research">
      <a:majorFont>
        <a:latin typeface="SB San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B Sans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Восприятие email-коммуникаций Сбера и направления развития канала</dc:title>
  <dc:subject>PptxGenJS Presentation</dc:subject>
  <dc:creator>PptxGenJS</dc:creator>
  <cp:lastModifiedBy>PptxGenJS</cp:lastModifiedBy>
  <cp:revision>1</cp:revision>
  <dcterms:created xsi:type="dcterms:W3CDTF">2026-10-08T07:01:40Z</dcterms:created>
  <dcterms:modified xsi:type="dcterms:W3CDTF">2026-10-08T07:01:40Z</dcterms:modified>
</cp:coreProperties>
</file>