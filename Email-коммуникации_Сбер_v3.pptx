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24384305" cy="13716000"/>
  <p:notesSz cx="13716000" cy="2438430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8f0631d8-46f2-aef1-9a6d-91bb03d48aaf}">
          <p14:sldIdLst>
            <p14:sldId id="256"/>
            <p14:sldId id="257"/>
          </p14:sldIdLst>
        </p14:section>
        <p14:section name="Методология исследования" id="{355390b8-84d2-1f41-24de-164689506e8f}">
          <p14:sldIdLst>
            <p14:sldId id="258"/>
          </p14:sldIdLst>
        </p14:section>
        <p14:section name="Ключевые выводы и рекомендации" id="{a5a5e043-5ba8-046d-1920-6d3cfd84e4d1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Гипотезы для SberCampaigning" id="{4d4b21ff-dba8-7bc2-6201-9f41136d51ac}">
          <p14:sldIdLst>
            <p14:sldId id="266"/>
            <p14:sldId id="267"/>
            <p14:sldId id="268"/>
            <p14:sldId id="269"/>
          </p14:sldIdLst>
        </p14:section>
        <p14:section name="Приложения" id="{f844ccdb-9045-afbf-25a0-8f5a24de60aa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Методология воспроизведена со слайда 4 исходного отчета. 40 участников рассчитано как 8 групп × 5 человек согласно описанию, отдельной проверки явки нет. МВС оставлено в исходном написании: расшифровка в отчете не дана. Цель и темы систематизированы по слайдам 3–4 и содержанию отчета. В представленном материале нет дат полевого этапа, матрицы групп, гайда, стимулов, стенограмм и описания процедуры анализа. ИИ представлен ограниченными реакциями на сортировку писем, не самостоятельным тестом автономного агента. Сегментные и количественные выводы не делались. Вводные о 40 млн адресов и 80% неоткрытий не перенесены как результат исследования: для них нужны источник, период и определение показателей.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Роли почты: 11–12 (архив, история, документы); 13–14 (проверка под задачу, сортировка); 17 (поиск предложений при возникновении потребности); 21 (разные ящики для разных задач). Две практики — аналитическое обобщение описаний слайда 7, без оценок распространенности и возрастного распределения. Частота проверки не равна вниманию к банковской рекламе. Цитаты воспроизведены как точные фрагменты из 11 и 13. Слово «всё» сохранено внутри прямой цитаты. Вывод о связи с событием и повторном обращении — рекомендация по итогам исследования, не измеренный эффект.
[Текст из исходной презентации, который находился за пределами слайда или под другими объектами]
попросить дать кейсы, какие рассылки от брендов ждут, например, колесо альфа банк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 уточняет чрезмерно общий тезис исходника о том, что банковские письма не читают. Причины игнорирования представлены на 27; дополнительное восприятие Сбера на 8, оно не подтверждает объективное отставание от других банков и не является рейтингом. Положительные случаи на 28 и полезное обновление приложения на 29 показывают чтение в конкретных ситуациях. Прямая цитата из 28 — единичный описанный случай действия после письма, не доказательство причинного эффекта или конверсии. Правая колонка намеренно показывает и барьер, и положительный случай. Рекомендация о структуре сервисного письма требует проверки.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объединяет заявленные триггеры и барьеры слайдов 17–18. Элемент «после открытия» отдельно выделен по 32: нельзя смешивать содержание письма с причинами его открытия. Не утверждается, что визуальное оформление тела письма видно до открытия. Формат видео и инфографики — высказанное предпочтение, не доказанное преимущество в поведении. Утверждение исходника о приемлемой частоте один раз в неделю со слайда 16 не используется как установленная норма. Цитата 17 дана дословно, включая два пробела перед «скидки»; это личный пример, не актуальные условия акции. Цитата 18 — точное начало высказывания. Рекомендации нужно проверять с учетом контактов во всех каналах.
[Текст из исходной презентации, который находился за пределами слайда или под другими объектами]
Для Сбера
была цитата про то, что если есть фразы конкретные только для вас, то воспринимается очень фальшиво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Первые четыре реакции приведены по 30–31. Они относятся к формулировкам и идеям, показанным в исходном исследовании; полный стимульный материал не представлен. Поэтому не следует заключать, что сами продукты отвергнуты или спрос отсутствует. Направления усиления в третьем столбце — интерпретация при пересборке. На 18 описано недоверие к имени и слову «персональный» в массовой рассылке; персонализация понимается через содержание. Цитаты точными фрагментами из 30 и 31. Идеи налогового вычета, калькулятора вклада и выбора тем взяты из 29–31. Они не являются финансовыми советами конкретному клиенту или утверждениями о наличии готового сервиса: условия и реализация должны быть проверены отдельно. Не приписывается потребность всей клиентской базе.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объединяет заявленные триггеры и барьеры слайдов 17–18. Элемент «после открытия» отдельно выделен по 32: нельзя смешивать содержание письма с причинами его открытия. Не утверждается, что визуальное оформление тела письма видно до открытия. Формат видео и инфографики — высказанное предпочтение, не доказанное преимущество в поведении. Утверждение исходника о приемлемой частоте один раз в неделю со слайда 16 не используется как установленная норма. Цитата 17 дана дословно, включая два пробела перед «скидки»; это личный пример, не актуальные условия акции. Цитата 18 — точное начало высказывания. Рекомендации нужно проверять с учетом контактов во всех каналах.
[Текст из исходной презентации, который находился за пределами слайда или под другими объектами]
«Было бы неплохо, если бы мне Сбер напомнил заранее, что у меня заканчивается полис ОСАГО и предложил мне скидку, чтобы я выбрал именно его, а не конкурентов»
20–29 лет, Екатеринбург
«А я страхуюсь от клеща каждый год, конечно, я оформила. Но не сразу через письмо, я на сайт зашла по сбер id»
45–55 лет, Екатеринбург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Гипотезы для дальнейшей проработки SberCampaigning, не результаты проведенных экспериментов и не согласованный план работ. Основание: текущий отчет, слайды 6–11; исходный отчет, слайды 6–9, 16–18, 27–34. Исследование качественное, распространенность предпочтений и эффект изменений не измерены. Предлагаются контролируемые сравнения с текущей практикой. Для сопоставимости следует заранее зафиксировать аудиторию, действие и условия. Не заданы вымышленные KPI, сроки, владельцы, конверсии или объем эффекта.
[Текст из исходной презентации, который находился за пределами слайда или под другими объектами]
hypothesis 0: Связь с текущим продуктом повышаетполезность письма
test 0: Для одного продуктового события сравнить текущий шаблон с письмом, где ясно указаны изменение, последствия и действие
metric 0: Больше завершенных целевых действий без роста отписок
hypothesis 1: Объяснение личной выгоды помогает принять решение
test 1: Для одинакового предложения сравнить общий текст и объяснение на основе ситуации клиента. Пример: выбор категории кешбэка
metric 1: Больше активаций или выборов подходящей опции
hypothesis 2: Выгода для действующих клиентов поддерживает интерес
test 2: В используемом сервисе экосистемы проверить письмо с предложением для постоянного клиента против группы без такого письма
metric 2: Дополнительные покупки или продления с учетом стоимости выгоды
hypothesis 0: Выбор тем делает письма более ожидаемыми
test 0: Предложить выбор тем и продуктов в приложении. Сравнить всю приглашенную группу с контрольной, включая тех, кто ничего не выбрал
metric 0: Больше целевых действий при меньшем числе жалоб и отписок
hypothesis 1: Анонс важного письма помогает его заметить
test 1: Сравнить одно и то же полезное письмо с коротким анонсом в приложении или пуше и без анонса. Учесть дополнительный контакт
metric 1: Прирост целевых действий оправдывает дополнительный контакт
hypothesis 2: Согласование контактов между каналами снижает раздражение
test 2: Сравнить текущие рассылки с вариантом без повторов после действия клиента и с ограничением общей частоты по каналам
metric 2: Меньше отписок и жалоб без снижения числа целевых действий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Предложения команды отчета по мотивам качественного исследования, а не установленные эффекты ИИ. Основание: текущий отчет, слайды 6–11; исходный отчет, слайды 6–9, 17–18, 27–34. В группах обсуждались конкретная польза, рекомендации по своим продуктам и тратам, возможность выбора тем, понятность и следующий шаг. Три ИИ-сценария, распределение ролей каналов и критерии эксперимента являются новыми гипотезами. Анонс через пуш не означает доказанное превосходство канала. Расчеты и условия продуктов должны поступать из актуальных систем банка; роль ИИ — объяснение и сопровождение клиента.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DIVIDER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4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endParaRPr lang="en-US" sz="4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94560" y="3108960"/>
            <a:ext cx="1828800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9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96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517904" y="4023360"/>
            <a:ext cx="1828800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1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1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463040"/>
            <a:ext cx="2743200" cy="7498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4160520"/>
            <a:ext cx="9692640" cy="1051560"/>
          </a:xfrm>
          <a:prstGeom prst="rect">
            <a:avLst/>
          </a:prstGeom>
        </p:spPr>
      </p:pic>
      <p:sp>
        <p:nvSpPr>
          <p:cNvPr id="4" name="report type"/>
          <p:cNvSpPr txBox="1"/>
          <p:nvPr/>
        </p:nvSpPr>
        <p:spPr>
          <a:xfrm>
            <a:off x="1737360" y="416052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chemeClr val="bg1"/>
                </a:solidFill>
              </a:rPr>
              <a:t>Отчет по качественному исследованию</a:t>
            </a:r>
            <a:endParaRPr lang="en-US" sz="3200" dirty="0"/>
          </a:p>
        </p:txBody>
      </p:sp>
      <p:sp>
        <p:nvSpPr>
          <p:cNvPr id="5" name="title"/>
          <p:cNvSpPr txBox="1"/>
          <p:nvPr/>
        </p:nvSpPr>
        <p:spPr>
          <a:xfrm>
            <a:off x="1737360" y="5669280"/>
            <a:ext cx="131673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Восприятие email-коммуникаций Сбера и направления развития канала</a:t>
            </a:r>
            <a:endParaRPr lang="en-US" sz="6600" dirty="0"/>
          </a:p>
        </p:txBody>
      </p:sp>
      <p:sp>
        <p:nvSpPr>
          <p:cNvPr id="6" name="date"/>
          <p:cNvSpPr txBox="1"/>
          <p:nvPr/>
        </p:nvSpPr>
        <p:spPr>
          <a:xfrm>
            <a:off x="1737360" y="1188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chemeClr val="accent6"/>
                </a:solidFill>
              </a:rPr>
              <a:t>Сентябрь 2026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Содержание</a:t>
            </a:r>
            <a:endParaRPr lang="en-US" sz="4000" dirty="0"/>
          </a:p>
        </p:txBody>
      </p:sp>
      <p:pic>
        <p:nvPicPr>
          <p:cNvPr id="3" name="Image 0" descr="/tmp/claude-0/-home-user--/79b729a8-3fa1-5cbb-8e3b-0cd80d582848/scratchpad/build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1040" y="457200"/>
            <a:ext cx="3657600" cy="3685032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1005840" y="4297680"/>
            <a:ext cx="10957712" cy="3566160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/>
        </p:spPr>
      </p:sp>
      <p:sp>
        <p:nvSpPr>
          <p:cNvPr id="5" name="section number"/>
          <p:cNvSpPr txBox="1"/>
          <p:nvPr/>
        </p:nvSpPr>
        <p:spPr>
          <a:xfrm>
            <a:off x="1645920" y="47091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6600" dirty="0"/>
          </a:p>
        </p:txBody>
      </p:sp>
      <p:sp>
        <p:nvSpPr>
          <p:cNvPr id="6" name="section title"/>
          <p:cNvSpPr txBox="1"/>
          <p:nvPr/>
        </p:nvSpPr>
        <p:spPr>
          <a:xfrm>
            <a:off x="1645920" y="5989320"/>
            <a:ext cx="967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Методология исследования</a:t>
            </a:r>
            <a:endParaRPr lang="en-US" sz="3200" dirty="0"/>
          </a:p>
        </p:txBody>
      </p:sp>
      <p:sp>
        <p:nvSpPr>
          <p:cNvPr id="7" name="card"/>
          <p:cNvSpPr/>
          <p:nvPr/>
        </p:nvSpPr>
        <p:spPr>
          <a:xfrm>
            <a:off x="1645920" y="6995160"/>
            <a:ext cx="1024128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section pages"/>
          <p:cNvSpPr txBox="1"/>
          <p:nvPr/>
        </p:nvSpPr>
        <p:spPr>
          <a:xfrm>
            <a:off x="1645920" y="699516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12420752" y="4297680"/>
            <a:ext cx="10957712" cy="3566160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/>
        </p:spPr>
      </p:sp>
      <p:sp>
        <p:nvSpPr>
          <p:cNvPr id="10" name="section number"/>
          <p:cNvSpPr txBox="1"/>
          <p:nvPr/>
        </p:nvSpPr>
        <p:spPr>
          <a:xfrm>
            <a:off x="13060832" y="47091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6600" dirty="0"/>
          </a:p>
        </p:txBody>
      </p:sp>
      <p:sp>
        <p:nvSpPr>
          <p:cNvPr id="11" name="section title"/>
          <p:cNvSpPr txBox="1"/>
          <p:nvPr/>
        </p:nvSpPr>
        <p:spPr>
          <a:xfrm>
            <a:off x="13060832" y="5989320"/>
            <a:ext cx="967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Ключевые выводы и рекомендации</a:t>
            </a:r>
            <a:endParaRPr lang="en-US" sz="3200" dirty="0"/>
          </a:p>
        </p:txBody>
      </p:sp>
      <p:sp>
        <p:nvSpPr>
          <p:cNvPr id="12" name="card"/>
          <p:cNvSpPr/>
          <p:nvPr/>
        </p:nvSpPr>
        <p:spPr>
          <a:xfrm>
            <a:off x="13060832" y="6995160"/>
            <a:ext cx="1627632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section pages"/>
          <p:cNvSpPr txBox="1"/>
          <p:nvPr/>
        </p:nvSpPr>
        <p:spPr>
          <a:xfrm>
            <a:off x="13060832" y="699516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accent1"/>
                </a:solidFill>
              </a:rPr>
              <a:t>4–10</a:t>
            </a:r>
            <a:endParaRPr lang="en-US" sz="1800" dirty="0"/>
          </a:p>
        </p:txBody>
      </p:sp>
      <p:sp>
        <p:nvSpPr>
          <p:cNvPr id="14" name="card"/>
          <p:cNvSpPr/>
          <p:nvPr/>
        </p:nvSpPr>
        <p:spPr>
          <a:xfrm>
            <a:off x="1005840" y="8321040"/>
            <a:ext cx="10957712" cy="3566160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/>
        </p:spPr>
      </p:sp>
      <p:sp>
        <p:nvSpPr>
          <p:cNvPr id="15" name="section number"/>
          <p:cNvSpPr txBox="1"/>
          <p:nvPr/>
        </p:nvSpPr>
        <p:spPr>
          <a:xfrm>
            <a:off x="1645920" y="87325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6600" dirty="0"/>
          </a:p>
        </p:txBody>
      </p:sp>
      <p:sp>
        <p:nvSpPr>
          <p:cNvPr id="16" name="section title"/>
          <p:cNvSpPr txBox="1"/>
          <p:nvPr/>
        </p:nvSpPr>
        <p:spPr>
          <a:xfrm>
            <a:off x="1645920" y="10012680"/>
            <a:ext cx="967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Гипотезы для SberCampaigning</a:t>
            </a:r>
            <a:endParaRPr lang="en-US" sz="3200" dirty="0"/>
          </a:p>
        </p:txBody>
      </p:sp>
      <p:sp>
        <p:nvSpPr>
          <p:cNvPr id="17" name="card"/>
          <p:cNvSpPr/>
          <p:nvPr/>
        </p:nvSpPr>
        <p:spPr>
          <a:xfrm>
            <a:off x="1645920" y="110185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section pages"/>
          <p:cNvSpPr txBox="1"/>
          <p:nvPr/>
        </p:nvSpPr>
        <p:spPr>
          <a:xfrm>
            <a:off x="1645920" y="11018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accent1"/>
                </a:solidFill>
              </a:rPr>
              <a:t>11–13</a:t>
            </a:r>
            <a:endParaRPr lang="en-US" sz="1800" dirty="0"/>
          </a:p>
        </p:txBody>
      </p:sp>
      <p:sp>
        <p:nvSpPr>
          <p:cNvPr id="19" name="card"/>
          <p:cNvSpPr/>
          <p:nvPr/>
        </p:nvSpPr>
        <p:spPr>
          <a:xfrm>
            <a:off x="12420752" y="8321040"/>
            <a:ext cx="10957712" cy="3566160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/>
        </p:spPr>
      </p:sp>
      <p:sp>
        <p:nvSpPr>
          <p:cNvPr id="20" name="section number"/>
          <p:cNvSpPr txBox="1"/>
          <p:nvPr/>
        </p:nvSpPr>
        <p:spPr>
          <a:xfrm>
            <a:off x="13060832" y="87325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6600" dirty="0"/>
          </a:p>
        </p:txBody>
      </p:sp>
      <p:sp>
        <p:nvSpPr>
          <p:cNvPr id="21" name="section title"/>
          <p:cNvSpPr txBox="1"/>
          <p:nvPr/>
        </p:nvSpPr>
        <p:spPr>
          <a:xfrm>
            <a:off x="13060832" y="10012680"/>
            <a:ext cx="967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Приложения</a:t>
            </a:r>
            <a:endParaRPr lang="en-US" sz="3200" dirty="0"/>
          </a:p>
        </p:txBody>
      </p:sp>
      <p:sp>
        <p:nvSpPr>
          <p:cNvPr id="22" name="card"/>
          <p:cNvSpPr/>
          <p:nvPr/>
        </p:nvSpPr>
        <p:spPr>
          <a:xfrm>
            <a:off x="13060832" y="110185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section pages"/>
          <p:cNvSpPr txBox="1"/>
          <p:nvPr/>
        </p:nvSpPr>
        <p:spPr>
          <a:xfrm>
            <a:off x="13060832" y="11018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accent1"/>
                </a:solidFill>
              </a:rPr>
              <a:t>15–25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МЕТОДОЛОГИЯ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Методология исследования</a:t>
            </a:r>
            <a:endParaRPr lang="en-US" sz="4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40280"/>
            <a:ext cx="22372625" cy="1600200"/>
          </a:xfrm>
          <a:prstGeom prst="rect">
            <a:avLst/>
          </a:prstGeom>
        </p:spPr>
      </p:pic>
      <p:sp>
        <p:nvSpPr>
          <p:cNvPr id="5" name="goal"/>
          <p:cNvSpPr txBox="1"/>
          <p:nvPr/>
        </p:nvSpPr>
        <p:spPr>
          <a:xfrm>
            <a:off x="1645920" y="2240280"/>
            <a:ext cx="2109246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chemeClr val="accent5"/>
                </a:solidFill>
              </a:rPr>
              <a:t>Цель: </a:t>
            </a:r>
            <a:pPr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chemeClr val="bg1"/>
                </a:solidFill>
              </a:rPr>
              <a:t>понять роль email в жизни клиентов, причины игнорирования банковских писем и направления для повышения утилизации и ценности email-рассылок для клиентов Сбера</a:t>
            </a:r>
            <a:endParaRPr lang="en-US" sz="2700" dirty="0"/>
          </a:p>
        </p:txBody>
      </p:sp>
      <p:sp>
        <p:nvSpPr>
          <p:cNvPr id="6" name="card"/>
          <p:cNvSpPr/>
          <p:nvPr/>
        </p:nvSpPr>
        <p:spPr>
          <a:xfrm>
            <a:off x="1005840" y="4114800"/>
            <a:ext cx="7040880" cy="3977640"/>
          </a:xfrm>
          <a:prstGeom prst="roundRect">
            <a:avLst>
              <a:gd name="adj" fmla="val 6897"/>
            </a:avLst>
          </a:prstGeom>
          <a:solidFill>
            <a:srgbClr val="F4F7FC"/>
          </a:solidFill>
          <a:ln/>
        </p:spPr>
      </p:sp>
      <p:sp>
        <p:nvSpPr>
          <p:cNvPr id="7" name="label"/>
          <p:cNvSpPr txBox="1"/>
          <p:nvPr/>
        </p:nvSpPr>
        <p:spPr>
          <a:xfrm>
            <a:off x="1554480" y="44805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МЕТОД ИССЛЕДОВАНИЯ:</a:t>
            </a:r>
            <a:endParaRPr lang="en-US" sz="1700" dirty="0"/>
          </a:p>
        </p:txBody>
      </p:sp>
      <p:sp>
        <p:nvSpPr>
          <p:cNvPr id="8" name="stat"/>
          <p:cNvSpPr txBox="1"/>
          <p:nvPr/>
        </p:nvSpPr>
        <p:spPr>
          <a:xfrm>
            <a:off x="1554480" y="489204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фокус-групп</a:t>
            </a:r>
            <a:endParaRPr lang="en-US" sz="12000" dirty="0"/>
          </a:p>
        </p:txBody>
      </p:sp>
      <p:sp>
        <p:nvSpPr>
          <p:cNvPr id="9" name="method facts"/>
          <p:cNvSpPr txBox="1"/>
          <p:nvPr/>
        </p:nvSpPr>
        <p:spPr>
          <a:xfrm>
            <a:off x="1554480" y="6629400"/>
            <a:ext cx="6217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В онлайн-формата</a:t>
            </a:r>
            <a:endParaRPr lang="en-US" sz="21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Длительность каждой группы: 2 часа</a:t>
            </a:r>
            <a:endParaRPr lang="en-US" sz="21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Количество участников на группе: 5</a:t>
            </a:r>
            <a:endParaRPr lang="en-US" sz="2100" dirty="0"/>
          </a:p>
        </p:txBody>
      </p:sp>
      <p:sp>
        <p:nvSpPr>
          <p:cNvPr id="10" name="card"/>
          <p:cNvSpPr/>
          <p:nvPr/>
        </p:nvSpPr>
        <p:spPr>
          <a:xfrm>
            <a:off x="8321040" y="4114800"/>
            <a:ext cx="15057425" cy="3977640"/>
          </a:xfrm>
          <a:prstGeom prst="roundRect">
            <a:avLst>
              <a:gd name="adj" fmla="val 6897"/>
            </a:avLst>
          </a:prstGeom>
          <a:solidFill>
            <a:srgbClr val="F4F7FC"/>
          </a:solidFill>
          <a:ln/>
        </p:spPr>
      </p:sp>
      <p:sp>
        <p:nvSpPr>
          <p:cNvPr id="11" name="label"/>
          <p:cNvSpPr txBox="1"/>
          <p:nvPr/>
        </p:nvSpPr>
        <p:spPr>
          <a:xfrm>
            <a:off x="886968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ЦЕЛЕВАЯ АУДИТОРИЯ</a:t>
            </a:r>
            <a:endParaRPr lang="en-US" sz="1700" dirty="0"/>
          </a:p>
        </p:txBody>
      </p:sp>
      <p:sp>
        <p:nvSpPr>
          <p:cNvPr id="12" name="audience 1"/>
          <p:cNvSpPr txBox="1"/>
          <p:nvPr/>
        </p:nvSpPr>
        <p:spPr>
          <a:xfrm>
            <a:off x="8869680" y="52120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Мужчины и женщины 20-55 лет</a:t>
            </a:r>
            <a:endParaRPr lang="en-US" sz="2100" dirty="0"/>
          </a:p>
          <a:p>
            <a:pPr marL="279400" indent="-279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Представители сегментов: Массовый, МВС</a:t>
            </a:r>
            <a:endParaRPr lang="en-US" sz="2100" dirty="0"/>
          </a:p>
          <a:p>
            <a:pPr marL="279400" indent="-279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Различный уровень дохода и цифровой активности</a:t>
            </a:r>
            <a:endParaRPr lang="en-US" sz="2100" dirty="0"/>
          </a:p>
        </p:txBody>
      </p:sp>
      <p:sp>
        <p:nvSpPr>
          <p:cNvPr id="13" name="audience 2"/>
          <p:cNvSpPr txBox="1"/>
          <p:nvPr/>
        </p:nvSpPr>
        <p:spPr>
          <a:xfrm>
            <a:off x="14081760" y="521208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Активные пользователи электронной почты</a:t>
            </a:r>
            <a:endParaRPr lang="en-US" sz="2100" dirty="0"/>
          </a:p>
          <a:p>
            <a:pPr marL="279400" indent="-279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Клиенты СБЕРа</a:t>
            </a:r>
            <a:endParaRPr lang="en-US" sz="2100" dirty="0"/>
          </a:p>
          <a:p>
            <a:pPr marL="279400" indent="-279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Пользователи экосистемы СБЕРа</a:t>
            </a:r>
            <a:endParaRPr lang="en-US" sz="2100" dirty="0"/>
          </a:p>
        </p:txBody>
      </p:sp>
      <p:sp>
        <p:nvSpPr>
          <p:cNvPr id="14" name="label"/>
          <p:cNvSpPr txBox="1"/>
          <p:nvPr/>
        </p:nvSpPr>
        <p:spPr>
          <a:xfrm>
            <a:off x="19293840" y="4480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ГЕОГРАФИЯ:</a:t>
            </a:r>
            <a:endParaRPr lang="en-US" sz="1700" dirty="0"/>
          </a:p>
        </p:txBody>
      </p:sp>
      <p:sp>
        <p:nvSpPr>
          <p:cNvPr id="15" name="geography"/>
          <p:cNvSpPr txBox="1"/>
          <p:nvPr/>
        </p:nvSpPr>
        <p:spPr>
          <a:xfrm>
            <a:off x="19293840" y="4983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Москва, Екатеринбург</a:t>
            </a:r>
            <a:endParaRPr lang="en-US" sz="2500" dirty="0"/>
          </a:p>
        </p:txBody>
      </p:sp>
      <p:pic>
        <p:nvPicPr>
          <p:cNvPr id="16" name="Image 1" descr="/tmp/claude-0/-home-user--/79b729a8-3fa1-5cbb-8e3b-0cd80d582848/scratchpad/build/image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840" y="5715000"/>
            <a:ext cx="3657600" cy="1828800"/>
          </a:xfrm>
          <a:prstGeom prst="rect">
            <a:avLst/>
          </a:prstGeom>
        </p:spPr>
      </p:pic>
      <p:sp>
        <p:nvSpPr>
          <p:cNvPr id="17" name="card"/>
          <p:cNvSpPr/>
          <p:nvPr/>
        </p:nvSpPr>
        <p:spPr>
          <a:xfrm>
            <a:off x="1005840" y="8366760"/>
            <a:ext cx="10972800" cy="45720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/>
        </p:spPr>
      </p:sp>
      <p:sp>
        <p:nvSpPr>
          <p:cNvPr id="18" name="label"/>
          <p:cNvSpPr txBox="1"/>
          <p:nvPr/>
        </p:nvSpPr>
        <p:spPr>
          <a:xfrm>
            <a:off x="1554480" y="8732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ОБСУЖДАЕМЫЕ ТЕМЫ</a:t>
            </a:r>
            <a:endParaRPr lang="en-US" sz="1700" dirty="0"/>
          </a:p>
        </p:txBody>
      </p:sp>
      <p:sp>
        <p:nvSpPr>
          <p:cNvPr id="19" name="topic"/>
          <p:cNvSpPr txBox="1"/>
          <p:nvPr/>
        </p:nvSpPr>
        <p:spPr>
          <a:xfrm>
            <a:off x="1554480" y="9509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100" kern="0" dirty="0">
                <a:solidFill>
                  <a:schemeClr val="accent2"/>
                </a:solidFill>
              </a:rPr>
              <a:t>ПРИВЫЧКИ</a:t>
            </a:r>
            <a:endParaRPr lang="en-US" sz="1700" dirty="0"/>
          </a:p>
        </p:txBody>
      </p:sp>
      <p:sp>
        <p:nvSpPr>
          <p:cNvPr id="20" name="topic text"/>
          <p:cNvSpPr txBox="1"/>
          <p:nvPr/>
        </p:nvSpPr>
        <p:spPr>
          <a:xfrm>
            <a:off x="5120640" y="9464040"/>
            <a:ext cx="6400800" cy="106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Задачи, решаемые в почте, регулярность проверки, сортировка, отношение к рассылкам</a:t>
            </a:r>
            <a:endParaRPr lang="en-US" sz="2100" dirty="0"/>
          </a:p>
        </p:txBody>
      </p:sp>
      <p:sp>
        <p:nvSpPr>
          <p:cNvPr id="21" name="topic"/>
          <p:cNvSpPr txBox="1"/>
          <p:nvPr/>
        </p:nvSpPr>
        <p:spPr>
          <a:xfrm>
            <a:off x="1554480" y="10698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100" kern="0" dirty="0">
                <a:solidFill>
                  <a:schemeClr val="accent2"/>
                </a:solidFill>
              </a:rPr>
              <a:t>БАНКОВСКИЕ ПИСЬМА</a:t>
            </a:r>
            <a:endParaRPr lang="en-US" sz="1700" dirty="0"/>
          </a:p>
        </p:txBody>
      </p:sp>
      <p:sp>
        <p:nvSpPr>
          <p:cNvPr id="22" name="topic text"/>
          <p:cNvSpPr txBox="1"/>
          <p:nvPr/>
        </p:nvSpPr>
        <p:spPr>
          <a:xfrm>
            <a:off x="5120640" y="10652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Причины открытия и игнорирования; реакции на темы и форматы, вовлекающие механики</a:t>
            </a:r>
            <a:endParaRPr lang="en-US" sz="2100" dirty="0"/>
          </a:p>
        </p:txBody>
      </p:sp>
      <p:sp>
        <p:nvSpPr>
          <p:cNvPr id="23" name="topic"/>
          <p:cNvSpPr txBox="1"/>
          <p:nvPr/>
        </p:nvSpPr>
        <p:spPr>
          <a:xfrm>
            <a:off x="1554480" y="11554587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100" kern="0" dirty="0">
                <a:solidFill>
                  <a:schemeClr val="accent2"/>
                </a:solidFill>
              </a:rPr>
              <a:t>ПРОДУКТОВЫЕ ВОЗМОЖНОСТИ</a:t>
            </a:r>
            <a:endParaRPr lang="en-US" sz="1700" dirty="0"/>
          </a:p>
        </p:txBody>
      </p:sp>
      <p:sp>
        <p:nvSpPr>
          <p:cNvPr id="24" name="topic text"/>
          <p:cNvSpPr txBox="1"/>
          <p:nvPr/>
        </p:nvSpPr>
        <p:spPr>
          <a:xfrm>
            <a:off x="5120640" y="11508867"/>
            <a:ext cx="6400800" cy="106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Идеи персонализации рассылок, коммуникации экосистемы, Rambler и сортировка писем с ИИ</a:t>
            </a:r>
            <a:endParaRPr lang="en-US" sz="2100" dirty="0"/>
          </a:p>
        </p:txBody>
      </p:sp>
      <p:sp>
        <p:nvSpPr>
          <p:cNvPr id="25" name="card"/>
          <p:cNvSpPr/>
          <p:nvPr/>
        </p:nvSpPr>
        <p:spPr>
          <a:xfrm>
            <a:off x="12252960" y="8366760"/>
            <a:ext cx="11125505" cy="45720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/>
        </p:spPr>
      </p:sp>
      <p:sp>
        <p:nvSpPr>
          <p:cNvPr id="26" name="label"/>
          <p:cNvSpPr txBox="1"/>
          <p:nvPr/>
        </p:nvSpPr>
        <p:spPr>
          <a:xfrm>
            <a:off x="12801600" y="8732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ЦЕЛИ ИССЛЕДОВАНИЯ</a:t>
            </a:r>
            <a:endParaRPr lang="en-US" sz="1700" dirty="0"/>
          </a:p>
        </p:txBody>
      </p:sp>
      <p:sp>
        <p:nvSpPr>
          <p:cNvPr id="27" name="icon disc"/>
          <p:cNvSpPr/>
          <p:nvPr/>
        </p:nvSpPr>
        <p:spPr>
          <a:xfrm>
            <a:off x="12801600" y="9482328"/>
            <a:ext cx="548640" cy="548640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9619488"/>
            <a:ext cx="274320" cy="274320"/>
          </a:xfrm>
          <a:prstGeom prst="rect">
            <a:avLst/>
          </a:prstGeom>
        </p:spPr>
      </p:pic>
      <p:sp>
        <p:nvSpPr>
          <p:cNvPr id="29" name="goal text"/>
          <p:cNvSpPr txBox="1"/>
          <p:nvPr/>
        </p:nvSpPr>
        <p:spPr>
          <a:xfrm>
            <a:off x="13624560" y="9464040"/>
            <a:ext cx="7285025" cy="709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Изучить привычки и предпочтения аудитории при пользовании e-mail-сервисами</a:t>
            </a:r>
            <a:endParaRPr lang="en-US" sz="2100" dirty="0"/>
          </a:p>
        </p:txBody>
      </p:sp>
      <p:sp>
        <p:nvSpPr>
          <p:cNvPr id="30" name="icon disc"/>
          <p:cNvSpPr/>
          <p:nvPr/>
        </p:nvSpPr>
        <p:spPr>
          <a:xfrm>
            <a:off x="12801600" y="10327386"/>
            <a:ext cx="548640" cy="548640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10464546"/>
            <a:ext cx="274320" cy="274320"/>
          </a:xfrm>
          <a:prstGeom prst="rect">
            <a:avLst/>
          </a:prstGeom>
        </p:spPr>
      </p:pic>
      <p:sp>
        <p:nvSpPr>
          <p:cNvPr id="32" name="goal text"/>
          <p:cNvSpPr txBox="1"/>
          <p:nvPr/>
        </p:nvSpPr>
        <p:spPr>
          <a:xfrm>
            <a:off x="13624560" y="10309098"/>
            <a:ext cx="7285025" cy="106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Изучить сценарии использования, понять, какая коммуникация привлекает пользователей, какие темы или механики интересны</a:t>
            </a:r>
            <a:endParaRPr lang="en-US" sz="2100" dirty="0"/>
          </a:p>
        </p:txBody>
      </p:sp>
      <p:sp>
        <p:nvSpPr>
          <p:cNvPr id="33" name="icon disc"/>
          <p:cNvSpPr/>
          <p:nvPr/>
        </p:nvSpPr>
        <p:spPr>
          <a:xfrm>
            <a:off x="12801600" y="11527155"/>
            <a:ext cx="548640" cy="548640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0" y="11664315"/>
            <a:ext cx="274320" cy="274320"/>
          </a:xfrm>
          <a:prstGeom prst="rect">
            <a:avLst/>
          </a:prstGeom>
        </p:spPr>
      </p:pic>
      <p:sp>
        <p:nvSpPr>
          <p:cNvPr id="35" name="goal text"/>
          <p:cNvSpPr txBox="1"/>
          <p:nvPr/>
        </p:nvSpPr>
        <p:spPr>
          <a:xfrm>
            <a:off x="13624560" y="11508867"/>
            <a:ext cx="7285025" cy="106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Разработать рекомендации для повышения интереса клиентов к каналу e-mail и к рассылкам банка, в частности</a:t>
            </a:r>
            <a:endParaRPr lang="en-US" sz="2100" dirty="0"/>
          </a:p>
        </p:txBody>
      </p:sp>
      <p:pic>
        <p:nvPicPr>
          <p:cNvPr id="36" name="Image 5" descr="/tmp/claude-0/-home-user--/79b729a8-3fa1-5cbb-8e3b-0cd80d582848/scratchpad/build/image1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66785" y="10287000"/>
            <a:ext cx="1554480" cy="20391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63040"/>
            <a:ext cx="2743200" cy="74980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94560" y="3108960"/>
            <a:ext cx="1828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chemeClr val="tx1"/>
                </a:solidFill>
              </a:rPr>
              <a:t>Ключевые выводы</a:t>
            </a:r>
            <a:endParaRPr lang="en-US" sz="9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chemeClr val="tx1"/>
                </a:solidFill>
              </a:rPr>
              <a:t>и рекомендации</a:t>
            </a:r>
            <a:endParaRPr lang="en-US" sz="9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КЛЮЧЕВЫЕ ВЫВОДЫ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Респонденты чаще заходят в почту за ожидаемым сообщением или для решения конкретной задачи</a:t>
            </a:r>
            <a:endParaRPr lang="en-US" sz="4200" dirty="0"/>
          </a:p>
        </p:txBody>
      </p:sp>
      <p:sp>
        <p:nvSpPr>
          <p:cNvPr id="5" name="lead"/>
          <p:cNvSpPr txBox="1"/>
          <p:nvPr/>
        </p:nvSpPr>
        <p:spPr>
          <a:xfrm>
            <a:off x="1005840" y="2788920"/>
            <a:ext cx="2237262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Электронная почта ассоциируется с </a:t>
            </a:r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tx1"/>
                </a:solidFill>
              </a:rPr>
              <a:t>огромным количеством рассылок и спама, поэтому респонденты склоны не заходить </a:t>
            </a:r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tx1"/>
                </a:solidFill>
              </a:rPr>
              <a:t>в почту без намерения. </a:t>
            </a:r>
            <a:pPr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Встречаются кейсы, когда пользователи забрасывают ящик из-за переполненности</a:t>
            </a:r>
            <a:endParaRPr lang="en-US" sz="2500" dirty="0"/>
          </a:p>
        </p:txBody>
      </p:sp>
      <p:sp>
        <p:nvSpPr>
          <p:cNvPr id="6" name="label"/>
          <p:cNvSpPr txBox="1"/>
          <p:nvPr/>
        </p:nvSpPr>
        <p:spPr>
          <a:xfrm>
            <a:off x="1005840" y="4297680"/>
            <a:ext cx="1426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ДВА НАБЛЮДАЕМЫХ СПОСОБА РАБОТЫ С ПОЧТОЙ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1005840" y="4846320"/>
            <a:ext cx="6995160" cy="2011680"/>
          </a:xfrm>
          <a:prstGeom prst="roundRect">
            <a:avLst>
              <a:gd name="adj" fmla="val 13636"/>
            </a:avLst>
          </a:prstGeom>
          <a:solidFill>
            <a:srgbClr val="F4F7FC"/>
          </a:solidFill>
          <a:ln/>
        </p:spPr>
      </p:sp>
      <p:sp>
        <p:nvSpPr>
          <p:cNvPr id="8" name="icon disc"/>
          <p:cNvSpPr/>
          <p:nvPr/>
        </p:nvSpPr>
        <p:spPr>
          <a:xfrm>
            <a:off x="1371600" y="5257800"/>
            <a:ext cx="640080" cy="640080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5417820"/>
            <a:ext cx="320040" cy="320040"/>
          </a:xfrm>
          <a:prstGeom prst="rect">
            <a:avLst/>
          </a:prstGeom>
        </p:spPr>
      </p:pic>
      <p:sp>
        <p:nvSpPr>
          <p:cNvPr id="10" name="way"/>
          <p:cNvSpPr txBox="1"/>
          <p:nvPr/>
        </p:nvSpPr>
        <p:spPr>
          <a:xfrm>
            <a:off x="2331720" y="51663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Методичная проверка и фильтры: </a:t>
            </a:r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случайные письма отсеиваются</a:t>
            </a:r>
            <a:endParaRPr lang="en-US" sz="2200" dirty="0"/>
          </a:p>
        </p:txBody>
      </p:sp>
      <p:sp>
        <p:nvSpPr>
          <p:cNvPr id="11" name="card"/>
          <p:cNvSpPr/>
          <p:nvPr/>
        </p:nvSpPr>
        <p:spPr>
          <a:xfrm>
            <a:off x="8275320" y="4846320"/>
            <a:ext cx="6995160" cy="2011680"/>
          </a:xfrm>
          <a:prstGeom prst="roundRect">
            <a:avLst>
              <a:gd name="adj" fmla="val 13636"/>
            </a:avLst>
          </a:prstGeom>
          <a:solidFill>
            <a:srgbClr val="F4F7FC"/>
          </a:solidFill>
          <a:ln/>
        </p:spPr>
      </p:sp>
      <p:sp>
        <p:nvSpPr>
          <p:cNvPr id="12" name="icon disc"/>
          <p:cNvSpPr/>
          <p:nvPr/>
        </p:nvSpPr>
        <p:spPr>
          <a:xfrm>
            <a:off x="8641080" y="5257800"/>
            <a:ext cx="640080" cy="640080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0" y="5417820"/>
            <a:ext cx="320040" cy="320040"/>
          </a:xfrm>
          <a:prstGeom prst="rect">
            <a:avLst/>
          </a:prstGeom>
        </p:spPr>
      </p:pic>
      <p:sp>
        <p:nvSpPr>
          <p:cNvPr id="14" name="way"/>
          <p:cNvSpPr txBox="1"/>
          <p:nvPr/>
        </p:nvSpPr>
        <p:spPr>
          <a:xfrm>
            <a:off x="9601200" y="51663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Проверка под задачу: </a:t>
            </a:r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остальное читают, когда есть время</a:t>
            </a:r>
            <a:endParaRPr lang="en-US" sz="2200" dirty="0"/>
          </a:p>
        </p:txBody>
      </p:sp>
      <p:sp>
        <p:nvSpPr>
          <p:cNvPr id="15" name="label"/>
          <p:cNvSpPr txBox="1"/>
          <p:nvPr/>
        </p:nvSpPr>
        <p:spPr>
          <a:xfrm>
            <a:off x="1005840" y="7269480"/>
            <a:ext cx="1426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ЗАЧЕМ КЛИЕНТЫ ЗАХОДЯТ В ПОЧТУ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1005840" y="7818120"/>
            <a:ext cx="4572000" cy="512064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/>
        </p:spPr>
      </p:sp>
      <p:sp>
        <p:nvSpPr>
          <p:cNvPr id="17" name="icon disc"/>
          <p:cNvSpPr/>
          <p:nvPr/>
        </p:nvSpPr>
        <p:spPr>
          <a:xfrm>
            <a:off x="1371600" y="8183880"/>
            <a:ext cx="731520" cy="731520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8366760"/>
            <a:ext cx="365760" cy="365760"/>
          </a:xfrm>
          <a:prstGeom prst="rect">
            <a:avLst/>
          </a:prstGeom>
        </p:spPr>
      </p:pic>
      <p:sp>
        <p:nvSpPr>
          <p:cNvPr id="19" name="reason"/>
          <p:cNvSpPr txBox="1"/>
          <p:nvPr/>
        </p:nvSpPr>
        <p:spPr>
          <a:xfrm>
            <a:off x="1371600" y="9144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Архив и подтверждение</a:t>
            </a:r>
            <a:endParaRPr lang="en-US" sz="2500" dirty="0"/>
          </a:p>
        </p:txBody>
      </p:sp>
      <p:sp>
        <p:nvSpPr>
          <p:cNvPr id="20" name="reason text"/>
          <p:cNvSpPr txBox="1"/>
          <p:nvPr/>
        </p:nvSpPr>
        <p:spPr>
          <a:xfrm>
            <a:off x="1371600" y="1024128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Переписка, чеки, билеты и документы сохраняются на годы; к ним возвращаются по необходимости</a:t>
            </a:r>
            <a:endParaRPr lang="en-US" sz="2100" dirty="0"/>
          </a:p>
        </p:txBody>
      </p:sp>
      <p:sp>
        <p:nvSpPr>
          <p:cNvPr id="21" name="card"/>
          <p:cNvSpPr/>
          <p:nvPr/>
        </p:nvSpPr>
        <p:spPr>
          <a:xfrm>
            <a:off x="5852160" y="7818120"/>
            <a:ext cx="4572000" cy="512064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/>
        </p:spPr>
      </p:sp>
      <p:sp>
        <p:nvSpPr>
          <p:cNvPr id="22" name="icon disc"/>
          <p:cNvSpPr/>
          <p:nvPr/>
        </p:nvSpPr>
        <p:spPr>
          <a:xfrm>
            <a:off x="6217920" y="8183880"/>
            <a:ext cx="731520" cy="731520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8366760"/>
            <a:ext cx="365760" cy="365760"/>
          </a:xfrm>
          <a:prstGeom prst="rect">
            <a:avLst/>
          </a:prstGeom>
        </p:spPr>
      </p:pic>
      <p:sp>
        <p:nvSpPr>
          <p:cNvPr id="24" name="reason"/>
          <p:cNvSpPr txBox="1"/>
          <p:nvPr/>
        </p:nvSpPr>
        <p:spPr>
          <a:xfrm>
            <a:off x="6217920" y="9144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Ожидаемое сообщение</a:t>
            </a:r>
            <a:endParaRPr lang="en-US" sz="2500" dirty="0"/>
          </a:p>
        </p:txBody>
      </p:sp>
      <p:sp>
        <p:nvSpPr>
          <p:cNvPr id="25" name="reason text"/>
          <p:cNvSpPr txBox="1"/>
          <p:nvPr/>
        </p:nvSpPr>
        <p:spPr>
          <a:xfrm>
            <a:off x="6217920" y="1024128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Работа, учеба, семейные дела, регистрация или информация по текущему продукту</a:t>
            </a:r>
            <a:endParaRPr lang="en-US" sz="2100" dirty="0"/>
          </a:p>
        </p:txBody>
      </p:sp>
      <p:sp>
        <p:nvSpPr>
          <p:cNvPr id="26" name="card"/>
          <p:cNvSpPr/>
          <p:nvPr/>
        </p:nvSpPr>
        <p:spPr>
          <a:xfrm>
            <a:off x="10698480" y="7818120"/>
            <a:ext cx="4572000" cy="512064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/>
        </p:spPr>
      </p:sp>
      <p:sp>
        <p:nvSpPr>
          <p:cNvPr id="27" name="icon disc"/>
          <p:cNvSpPr/>
          <p:nvPr/>
        </p:nvSpPr>
        <p:spPr>
          <a:xfrm>
            <a:off x="11064240" y="8183880"/>
            <a:ext cx="731520" cy="731520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8366760"/>
            <a:ext cx="365760" cy="365760"/>
          </a:xfrm>
          <a:prstGeom prst="rect">
            <a:avLst/>
          </a:prstGeom>
        </p:spPr>
      </p:pic>
      <p:sp>
        <p:nvSpPr>
          <p:cNvPr id="29" name="reason"/>
          <p:cNvSpPr txBox="1"/>
          <p:nvPr/>
        </p:nvSpPr>
        <p:spPr>
          <a:xfrm>
            <a:off x="11064240" y="9144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Поиск подходящей выгоды</a:t>
            </a:r>
            <a:endParaRPr lang="en-US" sz="2500" dirty="0"/>
          </a:p>
        </p:txBody>
      </p:sp>
      <p:sp>
        <p:nvSpPr>
          <p:cNvPr id="30" name="reason text"/>
          <p:cNvSpPr txBox="1"/>
          <p:nvPr/>
        </p:nvSpPr>
        <p:spPr>
          <a:xfrm>
            <a:off x="11064240" y="1024128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При появлении потребности ищут письма магазинов и сервисов по названию, акции или скидке</a:t>
            </a:r>
            <a:endParaRPr lang="en-US" sz="21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36240" y="4297680"/>
            <a:ext cx="7742225" cy="2148840"/>
          </a:xfrm>
          <a:prstGeom prst="rect">
            <a:avLst/>
          </a:prstGeom>
        </p:spPr>
      </p:pic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81185" y="5349240"/>
            <a:ext cx="777240" cy="777240"/>
          </a:xfrm>
          <a:prstGeom prst="rect">
            <a:avLst/>
          </a:prstGeom>
        </p:spPr>
      </p:pic>
      <p:sp>
        <p:nvSpPr>
          <p:cNvPr id="33" name="quote text"/>
          <p:cNvSpPr txBox="1"/>
          <p:nvPr/>
        </p:nvSpPr>
        <p:spPr>
          <a:xfrm>
            <a:off x="16047720" y="4663440"/>
            <a:ext cx="691926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«Переписку можно копнуть и за 5, и за 7 лет назад, и вот, пожалуйста, мы договаривались. Так что это доказательство»</a:t>
            </a:r>
            <a:endParaRPr lang="en-US" sz="2100" dirty="0"/>
          </a:p>
        </p:txBody>
      </p:sp>
      <p:sp>
        <p:nvSpPr>
          <p:cNvPr id="34" name="card"/>
          <p:cNvSpPr/>
          <p:nvPr/>
        </p:nvSpPr>
        <p:spPr>
          <a:xfrm>
            <a:off x="16047720" y="5788152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5" name="attribution"/>
          <p:cNvSpPr txBox="1"/>
          <p:nvPr/>
        </p:nvSpPr>
        <p:spPr>
          <a:xfrm>
            <a:off x="16047720" y="57881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30–44 года, Екатеринбург</a:t>
            </a:r>
            <a:endParaRPr lang="en-US" sz="15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36240" y="6629400"/>
            <a:ext cx="7742225" cy="2148840"/>
          </a:xfrm>
          <a:prstGeom prst="rect">
            <a:avLst/>
          </a:prstGeom>
        </p:spPr>
      </p:pic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81185" y="7680960"/>
            <a:ext cx="777240" cy="777240"/>
          </a:xfrm>
          <a:prstGeom prst="rect">
            <a:avLst/>
          </a:prstGeom>
        </p:spPr>
      </p:pic>
      <p:sp>
        <p:nvSpPr>
          <p:cNvPr id="38" name="quote text"/>
          <p:cNvSpPr txBox="1"/>
          <p:nvPr/>
        </p:nvSpPr>
        <p:spPr>
          <a:xfrm>
            <a:off x="16047720" y="6995160"/>
            <a:ext cx="691926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«А если я не жду никакого сообщения, то я, в принципе, на почту не захожу. Вот всё лето не заходила»</a:t>
            </a:r>
            <a:endParaRPr lang="en-US" sz="2100" dirty="0"/>
          </a:p>
        </p:txBody>
      </p:sp>
      <p:sp>
        <p:nvSpPr>
          <p:cNvPr id="39" name="card"/>
          <p:cNvSpPr/>
          <p:nvPr/>
        </p:nvSpPr>
        <p:spPr>
          <a:xfrm>
            <a:off x="16047720" y="8119872"/>
            <a:ext cx="3268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attribution"/>
          <p:cNvSpPr txBox="1"/>
          <p:nvPr/>
        </p:nvSpPr>
        <p:spPr>
          <a:xfrm>
            <a:off x="16047720" y="8119872"/>
            <a:ext cx="3268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20–29 лет, Екатеринбург</a:t>
            </a:r>
            <a:endParaRPr lang="en-US" sz="150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36240" y="8961120"/>
            <a:ext cx="7742225" cy="3977640"/>
          </a:xfrm>
          <a:prstGeom prst="rect">
            <a:avLst/>
          </a:prstGeom>
        </p:spPr>
      </p:pic>
      <p:sp>
        <p:nvSpPr>
          <p:cNvPr id="42" name="conclusion label"/>
          <p:cNvSpPr txBox="1"/>
          <p:nvPr/>
        </p:nvSpPr>
        <p:spPr>
          <a:xfrm>
            <a:off x="16093440" y="9235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spc="15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</a:t>
            </a:r>
            <a:endParaRPr lang="en-US" sz="2100" dirty="0"/>
          </a:p>
        </p:txBody>
      </p:sp>
      <p:sp>
        <p:nvSpPr>
          <p:cNvPr id="43" name="conclusion"/>
          <p:cNvSpPr txBox="1"/>
          <p:nvPr/>
        </p:nvSpPr>
        <p:spPr>
          <a:xfrm>
            <a:off x="16093440" y="9875520"/>
            <a:ext cx="682782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Отношение аудитории к электронной почте отличается при использовании почты по собственной инициативе и при получении рассылок</a:t>
            </a:r>
            <a:endParaRPr lang="en-US" sz="2000" dirty="0"/>
          </a:p>
          <a:p>
            <a:pPr marL="279400" indent="-279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Возможность привлечь внимание клиента в нужный момент ограничена. Шанс на прочтение выше, если письмо ожидаемо или связано с актуальной задачей клиента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КЛЮЧЕВЫЕ ВЫВОДЫ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Аудитория склонна игнорировать письма и рассылки от банков</a:t>
            </a:r>
            <a:endParaRPr lang="en-US" sz="4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40280"/>
            <a:ext cx="14081760" cy="1325880"/>
          </a:xfrm>
          <a:prstGeom prst="rect">
            <a:avLst/>
          </a:prstGeom>
        </p:spPr>
      </p:pic>
      <p:sp>
        <p:nvSpPr>
          <p:cNvPr id="6" name="key statement"/>
          <p:cNvSpPr txBox="1"/>
          <p:nvPr/>
        </p:nvSpPr>
        <p:spPr>
          <a:xfrm>
            <a:off x="1463040" y="2240280"/>
            <a:ext cx="1316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chemeClr val="bg1"/>
                </a:solidFill>
              </a:rPr>
              <a:t>Гипотеза о том, что потребители не читают рассылки из банков, подтвердилась</a:t>
            </a:r>
            <a:endParaRPr lang="en-US" sz="2600" dirty="0"/>
          </a:p>
        </p:txBody>
      </p:sp>
      <p:sp>
        <p:nvSpPr>
          <p:cNvPr id="7" name="exception"/>
          <p:cNvSpPr txBox="1"/>
          <p:nvPr/>
        </p:nvSpPr>
        <p:spPr>
          <a:xfrm>
            <a:off x="1005840" y="3794760"/>
            <a:ext cx="1408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Исключение составляют письма, информирующие, например, о приближающихся сроках оплаты кредита, или об изменениях условий обслуживания по их продуктам. Иногда обращают внимание на письма, сообщающие о выгодных акциях.</a:t>
            </a:r>
            <a:endParaRPr lang="en-US" sz="2300" dirty="0"/>
          </a:p>
        </p:txBody>
      </p:sp>
      <p:sp>
        <p:nvSpPr>
          <p:cNvPr id="8" name="label"/>
          <p:cNvSpPr txBox="1"/>
          <p:nvPr/>
        </p:nvSpPr>
        <p:spPr>
          <a:xfrm>
            <a:off x="1005840" y="5349240"/>
            <a:ext cx="1408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ПРИЧИНЫ ИГНОРИРОВАНИЯ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1005840" y="5852160"/>
            <a:ext cx="6903720" cy="3794760"/>
          </a:xfrm>
          <a:prstGeom prst="roundRect">
            <a:avLst>
              <a:gd name="adj" fmla="val 7229"/>
            </a:avLst>
          </a:prstGeom>
          <a:solidFill>
            <a:srgbClr val="F4F7FC"/>
          </a:solidFill>
          <a:ln/>
        </p:spPr>
      </p:sp>
      <p:sp>
        <p:nvSpPr>
          <p:cNvPr id="10" name="icon disc"/>
          <p:cNvSpPr/>
          <p:nvPr/>
        </p:nvSpPr>
        <p:spPr>
          <a:xfrm>
            <a:off x="1417320" y="6217920"/>
            <a:ext cx="731520" cy="731520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400800"/>
            <a:ext cx="365760" cy="365760"/>
          </a:xfrm>
          <a:prstGeom prst="rect">
            <a:avLst/>
          </a:prstGeom>
        </p:spPr>
      </p:pic>
      <p:sp>
        <p:nvSpPr>
          <p:cNvPr id="12" name="cause"/>
          <p:cNvSpPr txBox="1"/>
          <p:nvPr/>
        </p:nvSpPr>
        <p:spPr>
          <a:xfrm>
            <a:off x="1417320" y="713232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Ожидание продажи</a:t>
            </a:r>
            <a:endParaRPr lang="en-US" sz="2600" dirty="0"/>
          </a:p>
        </p:txBody>
      </p:sp>
      <p:sp>
        <p:nvSpPr>
          <p:cNvPr id="13" name="cause text"/>
          <p:cNvSpPr txBox="1"/>
          <p:nvPr/>
        </p:nvSpPr>
        <p:spPr>
          <a:xfrm>
            <a:off x="1417320" y="7818120"/>
            <a:ext cx="6080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Предложения кредитов и других продуктов не совпадают с текущей потребностью; рассылку считают выгодной прежде всего банку</a:t>
            </a:r>
            <a:endParaRPr lang="en-US" sz="2100" dirty="0"/>
          </a:p>
        </p:txBody>
      </p:sp>
      <p:sp>
        <p:nvSpPr>
          <p:cNvPr id="14" name="card"/>
          <p:cNvSpPr/>
          <p:nvPr/>
        </p:nvSpPr>
        <p:spPr>
          <a:xfrm>
            <a:off x="8183880" y="5852160"/>
            <a:ext cx="6903720" cy="3794760"/>
          </a:xfrm>
          <a:prstGeom prst="roundRect">
            <a:avLst>
              <a:gd name="adj" fmla="val 7229"/>
            </a:avLst>
          </a:prstGeom>
          <a:solidFill>
            <a:srgbClr val="F4F7FC"/>
          </a:solidFill>
          <a:ln/>
        </p:spPr>
      </p:sp>
      <p:sp>
        <p:nvSpPr>
          <p:cNvPr id="15" name="icon disc"/>
          <p:cNvSpPr/>
          <p:nvPr/>
        </p:nvSpPr>
        <p:spPr>
          <a:xfrm>
            <a:off x="8595360" y="6217920"/>
            <a:ext cx="731520" cy="731520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6400800"/>
            <a:ext cx="365760" cy="365760"/>
          </a:xfrm>
          <a:prstGeom prst="rect">
            <a:avLst/>
          </a:prstGeom>
        </p:spPr>
      </p:pic>
      <p:sp>
        <p:nvSpPr>
          <p:cNvPr id="17" name="cause"/>
          <p:cNvSpPr txBox="1"/>
          <p:nvPr/>
        </p:nvSpPr>
        <p:spPr>
          <a:xfrm>
            <a:off x="8595360" y="713232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Сильная привычка к приложению</a:t>
            </a:r>
            <a:endParaRPr lang="en-US" sz="2600" dirty="0"/>
          </a:p>
        </p:txBody>
      </p:sp>
      <p:sp>
        <p:nvSpPr>
          <p:cNvPr id="18" name="cause text"/>
          <p:cNvSpPr txBox="1"/>
          <p:nvPr/>
        </p:nvSpPr>
        <p:spPr>
          <a:xfrm>
            <a:off x="8595360" y="7818120"/>
            <a:ext cx="6080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Сведения о своих продуктах и важные уведомления привычнее получать в приложении; отдельная роль письма неочевидна</a:t>
            </a:r>
            <a:endParaRPr lang="en-US" sz="2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3360" y="2240280"/>
            <a:ext cx="7925105" cy="429768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81185" y="5440680"/>
            <a:ext cx="777240" cy="777240"/>
          </a:xfrm>
          <a:prstGeom prst="rect">
            <a:avLst/>
          </a:prstGeom>
        </p:spPr>
      </p:pic>
      <p:sp>
        <p:nvSpPr>
          <p:cNvPr id="21" name="quote text"/>
          <p:cNvSpPr txBox="1"/>
          <p:nvPr/>
        </p:nvSpPr>
        <p:spPr>
          <a:xfrm>
            <a:off x="15864840" y="2606040"/>
            <a:ext cx="7102145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Раньше не было приложений, на почту приходили выписки из банка. Сейчас в этом нет необходимости. И большую часть того, что присылают по рассылках, людям это не нужно, потому что оно слишком общее. Я не хочу, чтобы мне слали информацию, которая мне не нужна, потому что так информации дофига»</a:t>
            </a:r>
            <a:endParaRPr lang="en-US" sz="2100" dirty="0"/>
          </a:p>
        </p:txBody>
      </p:sp>
      <p:sp>
        <p:nvSpPr>
          <p:cNvPr id="22" name="card"/>
          <p:cNvSpPr/>
          <p:nvPr/>
        </p:nvSpPr>
        <p:spPr>
          <a:xfrm>
            <a:off x="15864840" y="5879592"/>
            <a:ext cx="2125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attribution"/>
          <p:cNvSpPr txBox="1"/>
          <p:nvPr/>
        </p:nvSpPr>
        <p:spPr>
          <a:xfrm>
            <a:off x="15864840" y="5879592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45-55, Москва</a:t>
            </a:r>
            <a:endParaRPr lang="en-US" sz="15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3360" y="6720840"/>
            <a:ext cx="7925105" cy="2834640"/>
          </a:xfrm>
          <a:prstGeom prst="rect">
            <a:avLst/>
          </a:prstGeom>
        </p:spPr>
      </p:pic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81185" y="8458200"/>
            <a:ext cx="777240" cy="777240"/>
          </a:xfrm>
          <a:prstGeom prst="rect">
            <a:avLst/>
          </a:prstGeom>
        </p:spPr>
      </p:pic>
      <p:sp>
        <p:nvSpPr>
          <p:cNvPr id="26" name="quote text"/>
          <p:cNvSpPr txBox="1"/>
          <p:nvPr/>
        </p:nvSpPr>
        <p:spPr>
          <a:xfrm>
            <a:off x="15864840" y="7086600"/>
            <a:ext cx="7102145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«На рассылки от банков не реагирую, потому что там скидывают и кредиты, и сплиты, и рассрочки ОЗОН. Я этим всем не пользуюсь, поэтому неинтересно»</a:t>
            </a:r>
            <a:endParaRPr lang="en-US" sz="2100" dirty="0"/>
          </a:p>
        </p:txBody>
      </p:sp>
      <p:sp>
        <p:nvSpPr>
          <p:cNvPr id="27" name="card"/>
          <p:cNvSpPr/>
          <p:nvPr/>
        </p:nvSpPr>
        <p:spPr>
          <a:xfrm>
            <a:off x="15864840" y="8897112"/>
            <a:ext cx="25831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8" name="attribution"/>
          <p:cNvSpPr txBox="1"/>
          <p:nvPr/>
        </p:nvSpPr>
        <p:spPr>
          <a:xfrm>
            <a:off x="15864840" y="8897112"/>
            <a:ext cx="2583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20–29 лет, Москва</a:t>
            </a:r>
            <a:endParaRPr lang="en-US" sz="15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9829800"/>
            <a:ext cx="22372625" cy="3108960"/>
          </a:xfrm>
          <a:prstGeom prst="rect">
            <a:avLst/>
          </a:prstGeom>
        </p:spPr>
      </p:pic>
      <p:sp>
        <p:nvSpPr>
          <p:cNvPr id="30" name="conclusion label"/>
          <p:cNvSpPr txBox="1"/>
          <p:nvPr/>
        </p:nvSpPr>
        <p:spPr>
          <a:xfrm>
            <a:off x="1554480" y="10149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spc="15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</a:t>
            </a:r>
            <a:endParaRPr lang="en-US" sz="2100" dirty="0"/>
          </a:p>
        </p:txBody>
      </p:sp>
      <p:sp>
        <p:nvSpPr>
          <p:cNvPr id="31" name="conclusion"/>
          <p:cNvSpPr txBox="1"/>
          <p:nvPr/>
        </p:nvSpPr>
        <p:spPr>
          <a:xfrm>
            <a:off x="1554480" y="10835640"/>
            <a:ext cx="102719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К рассылкам от Сбера предъявляют и дополнительные претензии: в отличие от, например, рассылок от Т-банка или Оzon-банка рассылки от Сбера оцениваются как слишком общие, формальные, без персональных рекомендаций и предложений. Они ничем не выделяются из потока рассылок и не вызывают желание с ними ознакомиться.</a:t>
            </a:r>
            <a:endParaRPr lang="en-US" sz="2100" dirty="0"/>
          </a:p>
        </p:txBody>
      </p:sp>
      <p:sp>
        <p:nvSpPr>
          <p:cNvPr id="32" name="conclusion"/>
          <p:cNvSpPr txBox="1"/>
          <p:nvPr/>
        </p:nvSpPr>
        <p:spPr>
          <a:xfrm>
            <a:off x="12557912" y="10835640"/>
            <a:ext cx="102719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Потребители чаще просматривают письма от банка, связанные с используемыми в данный момент продуктами или услугами Сбера - например, о приближающихся сроках оплаты кредита, или об изменениях условий обслуживания по счету, о начислении дивидендов и т.п.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КЛЮЧЕВЫЕ ВЫВОДЫ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Повысить интерес к использованию почтового канала и к email рассылкам банка сложно, но возможно</a:t>
            </a:r>
            <a:endParaRPr lang="en-US" sz="4200" dirty="0"/>
          </a:p>
        </p:txBody>
      </p:sp>
      <p:sp>
        <p:nvSpPr>
          <p:cNvPr id="4" name="card"/>
          <p:cNvSpPr/>
          <p:nvPr/>
        </p:nvSpPr>
        <p:spPr>
          <a:xfrm>
            <a:off x="1005840" y="2788920"/>
            <a:ext cx="7223760" cy="9052560"/>
          </a:xfrm>
          <a:prstGeom prst="roundRect">
            <a:avLst>
              <a:gd name="adj" fmla="val 3797"/>
            </a:avLst>
          </a:prstGeom>
          <a:solidFill>
            <a:srgbClr val="F4F7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3063240"/>
            <a:ext cx="6675120" cy="1828800"/>
          </a:xfrm>
          <a:prstGeom prst="rect">
            <a:avLst/>
          </a:prstGeom>
        </p:spPr>
      </p:pic>
      <p:sp>
        <p:nvSpPr>
          <p:cNvPr id="6" name="key statement"/>
          <p:cNvSpPr txBox="1"/>
          <p:nvPr/>
        </p:nvSpPr>
        <p:spPr>
          <a:xfrm>
            <a:off x="1645920" y="306324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chemeClr val="bg1"/>
                </a:solidFill>
              </a:rPr>
              <a:t>Аудитория привыкла считать, что </a:t>
            </a:r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chemeClr val="bg1"/>
                </a:solidFill>
              </a:rPr>
              <a:t>рассылки – это общие стандартные предложения, навязывание ненужных продуктов и услуг</a:t>
            </a:r>
            <a:endParaRPr lang="en-US" sz="2300" dirty="0"/>
          </a:p>
        </p:txBody>
      </p:sp>
      <p:sp>
        <p:nvSpPr>
          <p:cNvPr id="7" name="ideas intro"/>
          <p:cNvSpPr txBox="1"/>
          <p:nvPr/>
        </p:nvSpPr>
        <p:spPr>
          <a:xfrm>
            <a:off x="1463040" y="5120640"/>
            <a:ext cx="6309360" cy="1206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</a:rPr>
              <a:t>Однако в ходе дискуссий с потребителями было выявлено несколько идей как повысить к ним интерес:</a:t>
            </a:r>
            <a:endParaRPr lang="en-US" sz="2200" dirty="0"/>
          </a:p>
        </p:txBody>
      </p:sp>
      <p:sp>
        <p:nvSpPr>
          <p:cNvPr id="8" name="icon disc"/>
          <p:cNvSpPr/>
          <p:nvPr/>
        </p:nvSpPr>
        <p:spPr>
          <a:xfrm>
            <a:off x="1463040" y="6537198"/>
            <a:ext cx="566928" cy="566928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6678930"/>
            <a:ext cx="283464" cy="283464"/>
          </a:xfrm>
          <a:prstGeom prst="rect">
            <a:avLst/>
          </a:prstGeom>
        </p:spPr>
      </p:pic>
      <p:sp>
        <p:nvSpPr>
          <p:cNvPr id="10" name="idea"/>
          <p:cNvSpPr txBox="1"/>
          <p:nvPr/>
        </p:nvSpPr>
        <p:spPr>
          <a:xfrm>
            <a:off x="2286000" y="6509766"/>
            <a:ext cx="5486400" cy="132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Дать возможность </a:t>
            </a:r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настроить рассылку — выбрать в приложении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, получать ли письма, на какие темы и по каким продуктам</a:t>
            </a:r>
            <a:endParaRPr lang="en-US" sz="1900" dirty="0"/>
          </a:p>
        </p:txBody>
      </p:sp>
      <p:sp>
        <p:nvSpPr>
          <p:cNvPr id="11" name="icon disc"/>
          <p:cNvSpPr/>
          <p:nvPr/>
        </p:nvSpPr>
        <p:spPr>
          <a:xfrm>
            <a:off x="1463040" y="8217852"/>
            <a:ext cx="566928" cy="566928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772" y="8359584"/>
            <a:ext cx="283464" cy="283464"/>
          </a:xfrm>
          <a:prstGeom prst="rect">
            <a:avLst/>
          </a:prstGeom>
        </p:spPr>
      </p:pic>
      <p:sp>
        <p:nvSpPr>
          <p:cNvPr id="13" name="idea"/>
          <p:cNvSpPr txBox="1"/>
          <p:nvPr/>
        </p:nvSpPr>
        <p:spPr>
          <a:xfrm>
            <a:off x="2286000" y="8190420"/>
            <a:ext cx="5486400" cy="132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Заранее обозначать ценность письма 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— </a:t>
            </a:r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анонсировать важное сообщение в приложении или СМС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, объясняя, что клиент найдет в почте</a:t>
            </a:r>
            <a:endParaRPr lang="en-US" sz="1900" dirty="0"/>
          </a:p>
        </p:txBody>
      </p:sp>
      <p:sp>
        <p:nvSpPr>
          <p:cNvPr id="14" name="icon disc"/>
          <p:cNvSpPr/>
          <p:nvPr/>
        </p:nvSpPr>
        <p:spPr>
          <a:xfrm>
            <a:off x="1463040" y="9898507"/>
            <a:ext cx="566928" cy="566928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772" y="10040239"/>
            <a:ext cx="283464" cy="283464"/>
          </a:xfrm>
          <a:prstGeom prst="rect">
            <a:avLst/>
          </a:prstGeom>
        </p:spPr>
      </p:pic>
      <p:sp>
        <p:nvSpPr>
          <p:cNvPr id="16" name="idea"/>
          <p:cNvSpPr txBox="1"/>
          <p:nvPr/>
        </p:nvSpPr>
        <p:spPr>
          <a:xfrm>
            <a:off x="2286000" y="9871075"/>
            <a:ext cx="5486400" cy="1650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Проверить связку с сервисами экосистемы 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— включать банковское предложение в письмо сервиса, если оно связано с задачей клиента и дополняет основную пользу сообщения</a:t>
            </a:r>
            <a:endParaRPr lang="en-US" sz="1900" dirty="0"/>
          </a:p>
        </p:txBody>
      </p:sp>
      <p:sp>
        <p:nvSpPr>
          <p:cNvPr id="17" name="card"/>
          <p:cNvSpPr/>
          <p:nvPr/>
        </p:nvSpPr>
        <p:spPr>
          <a:xfrm>
            <a:off x="8503920" y="2788920"/>
            <a:ext cx="8686800" cy="9052560"/>
          </a:xfrm>
          <a:prstGeom prst="roundRect">
            <a:avLst>
              <a:gd name="adj" fmla="val 3158"/>
            </a:avLst>
          </a:prstGeom>
          <a:solidFill>
            <a:srgbClr val="F4F7FC"/>
          </a:solidFill>
          <a:ln/>
        </p:spPr>
      </p:sp>
      <p:sp>
        <p:nvSpPr>
          <p:cNvPr id="18" name="recommendation head"/>
          <p:cNvSpPr txBox="1"/>
          <p:nvPr/>
        </p:nvSpPr>
        <p:spPr>
          <a:xfrm>
            <a:off x="8961120" y="3154680"/>
            <a:ext cx="7772400" cy="868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Рекомендуется сместить акцент в почтовой коммуникации:</a:t>
            </a:r>
            <a:endParaRPr lang="en-US" sz="23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4215130"/>
            <a:ext cx="347472" cy="347472"/>
          </a:xfrm>
          <a:prstGeom prst="rect">
            <a:avLst/>
          </a:prstGeom>
        </p:spPr>
      </p:pic>
      <p:sp>
        <p:nvSpPr>
          <p:cNvPr id="20" name="recommendation"/>
          <p:cNvSpPr txBox="1"/>
          <p:nvPr/>
        </p:nvSpPr>
        <p:spPr>
          <a:xfrm>
            <a:off x="9646920" y="4160266"/>
            <a:ext cx="7086600" cy="75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tx1"/>
                </a:solidFill>
              </a:rPr>
              <a:t>Максимальная персонализация, вместо общих стандартных предложений</a:t>
            </a:r>
            <a:endParaRPr lang="en-US" sz="2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0" y="5198872"/>
            <a:ext cx="347472" cy="347472"/>
          </a:xfrm>
          <a:prstGeom prst="rect">
            <a:avLst/>
          </a:prstGeom>
        </p:spPr>
      </p:pic>
      <p:sp>
        <p:nvSpPr>
          <p:cNvPr id="22" name="recommendation"/>
          <p:cNvSpPr txBox="1"/>
          <p:nvPr/>
        </p:nvSpPr>
        <p:spPr>
          <a:xfrm>
            <a:off x="9646920" y="5144008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tx1"/>
                </a:solidFill>
              </a:rPr>
              <a:t>Понятная выгода и ценность для потребителя.</a:t>
            </a:r>
            <a:endParaRPr lang="en-US" sz="2100" dirty="0"/>
          </a:p>
        </p:txBody>
      </p:sp>
      <p:sp>
        <p:nvSpPr>
          <p:cNvPr id="23" name="card"/>
          <p:cNvSpPr/>
          <p:nvPr/>
        </p:nvSpPr>
        <p:spPr>
          <a:xfrm>
            <a:off x="8778240" y="5966968"/>
            <a:ext cx="8138160" cy="1282827"/>
          </a:xfrm>
          <a:prstGeom prst="roundRect">
            <a:avLst>
              <a:gd name="adj" fmla="val 17820"/>
            </a:avLst>
          </a:prstGeom>
          <a:solidFill>
            <a:srgbClr val="E3F3E7"/>
          </a:solidFill>
          <a:ln/>
        </p:spPr>
      </p:sp>
      <p:sp>
        <p:nvSpPr>
          <p:cNvPr id="24" name="format"/>
          <p:cNvSpPr txBox="1"/>
          <p:nvPr/>
        </p:nvSpPr>
        <p:spPr>
          <a:xfrm>
            <a:off x="9052560" y="5966968"/>
            <a:ext cx="7589520" cy="1282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Формат должен быть максимально лаконичный и визуализированный (видеоролик или инфографика), с конкретными данными (цифрами, процентами, сроками).</a:t>
            </a:r>
            <a:endParaRPr lang="en-US" sz="1900" dirty="0"/>
          </a:p>
        </p:txBody>
      </p:sp>
      <p:sp>
        <p:nvSpPr>
          <p:cNvPr id="25" name="examples label"/>
          <p:cNvSpPr txBox="1"/>
          <p:nvPr/>
        </p:nvSpPr>
        <p:spPr>
          <a:xfrm>
            <a:off x="8961120" y="7478395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1"/>
                </a:solidFill>
              </a:rPr>
              <a:t>Например:</a:t>
            </a:r>
            <a:endParaRPr lang="en-US" sz="1900" dirty="0"/>
          </a:p>
        </p:txBody>
      </p:sp>
      <p:sp>
        <p:nvSpPr>
          <p:cNvPr id="26" name="examples"/>
          <p:cNvSpPr txBox="1"/>
          <p:nvPr/>
        </p:nvSpPr>
        <p:spPr>
          <a:xfrm>
            <a:off x="8961120" y="7889875"/>
            <a:ext cx="7772400" cy="381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5900" indent="-215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Давать рекомендации по текущим продуктам и их более выгодным альтернативам.</a:t>
            </a:r>
            <a:endParaRPr lang="en-US" sz="1700" dirty="0"/>
          </a:p>
          <a:p>
            <a:pPr marL="215900" indent="-215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Информировать об изменениях в законодательстве или банковской сфере и их последствиях, которые касаются конкретного пользователя</a:t>
            </a:r>
            <a:endParaRPr lang="en-US" sz="1700" dirty="0"/>
          </a:p>
          <a:p>
            <a:pPr marL="215900" indent="-215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Давать рекомендации на основе трат – например, при оплате обучения в автошколе – письмо о том, что могут вернуть такую-то сумму налога за оплату обучения в автошкол;</a:t>
            </a:r>
            <a:endParaRPr lang="en-US" sz="1700" dirty="0"/>
          </a:p>
          <a:p>
            <a:pPr marL="215900" indent="-215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Предлагать краткие образовательные видеоролики или дайджесты на интересующие потребителя темы.</a:t>
            </a:r>
            <a:endParaRPr lang="en-US" sz="17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65040" y="2788920"/>
            <a:ext cx="5913425" cy="2468880"/>
          </a:xfrm>
          <a:prstGeom prst="rect">
            <a:avLst/>
          </a:prstGeom>
        </p:spPr>
      </p:pic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81185" y="4160520"/>
            <a:ext cx="777240" cy="777240"/>
          </a:xfrm>
          <a:prstGeom prst="rect">
            <a:avLst/>
          </a:prstGeom>
        </p:spPr>
      </p:pic>
      <p:sp>
        <p:nvSpPr>
          <p:cNvPr id="29" name="quote text"/>
          <p:cNvSpPr txBox="1"/>
          <p:nvPr/>
        </p:nvSpPr>
        <p:spPr>
          <a:xfrm>
            <a:off x="17876520" y="3154680"/>
            <a:ext cx="5090465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«Я портфель не проверяю каждый день, а тут после письма зашла, купила снова акции на эти»</a:t>
            </a:r>
            <a:endParaRPr lang="en-US" sz="1800" dirty="0"/>
          </a:p>
        </p:txBody>
      </p:sp>
      <p:sp>
        <p:nvSpPr>
          <p:cNvPr id="30" name="card"/>
          <p:cNvSpPr/>
          <p:nvPr/>
        </p:nvSpPr>
        <p:spPr>
          <a:xfrm>
            <a:off x="17876520" y="4599432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attribution"/>
          <p:cNvSpPr txBox="1"/>
          <p:nvPr/>
        </p:nvSpPr>
        <p:spPr>
          <a:xfrm>
            <a:off x="17876520" y="4599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30–44 года, Москва</a:t>
            </a:r>
            <a:endParaRPr lang="en-US" sz="15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65040" y="5440680"/>
            <a:ext cx="5913425" cy="3108960"/>
          </a:xfrm>
          <a:prstGeom prst="rect">
            <a:avLst/>
          </a:prstGeom>
        </p:spPr>
      </p:pic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281185" y="7452360"/>
            <a:ext cx="777240" cy="777240"/>
          </a:xfrm>
          <a:prstGeom prst="rect">
            <a:avLst/>
          </a:prstGeom>
        </p:spPr>
      </p:pic>
      <p:sp>
        <p:nvSpPr>
          <p:cNvPr id="34" name="quote text"/>
          <p:cNvSpPr txBox="1"/>
          <p:nvPr/>
        </p:nvSpPr>
        <p:spPr>
          <a:xfrm>
            <a:off x="17876520" y="5806440"/>
            <a:ext cx="5090465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«Я как-то раз отключил подписку на Яндекс.Музыку, и через 3 дня мне пришло письмо с индивидуальным предложением от них, что 60 дней подписки за 1 рубль»</a:t>
            </a:r>
            <a:endParaRPr lang="en-US" sz="1800" dirty="0"/>
          </a:p>
        </p:txBody>
      </p:sp>
      <p:sp>
        <p:nvSpPr>
          <p:cNvPr id="35" name="card"/>
          <p:cNvSpPr/>
          <p:nvPr/>
        </p:nvSpPr>
        <p:spPr>
          <a:xfrm>
            <a:off x="17876520" y="7891272"/>
            <a:ext cx="28117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6" name="attribution"/>
          <p:cNvSpPr txBox="1"/>
          <p:nvPr/>
        </p:nvSpPr>
        <p:spPr>
          <a:xfrm>
            <a:off x="17876520" y="7891272"/>
            <a:ext cx="2811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20-29, Екатеринбург</a:t>
            </a:r>
            <a:endParaRPr lang="en-US" sz="150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465040" y="8732520"/>
            <a:ext cx="5913425" cy="4206240"/>
          </a:xfrm>
          <a:prstGeom prst="rect">
            <a:avLst/>
          </a:prstGeom>
        </p:spPr>
      </p:pic>
      <p:sp>
        <p:nvSpPr>
          <p:cNvPr id="38" name="conclusion label"/>
          <p:cNvSpPr txBox="1"/>
          <p:nvPr/>
        </p:nvSpPr>
        <p:spPr>
          <a:xfrm>
            <a:off x="17876520" y="9006840"/>
            <a:ext cx="50904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spc="15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</a:t>
            </a:r>
            <a:endParaRPr lang="en-US" sz="2100" dirty="0"/>
          </a:p>
        </p:txBody>
      </p:sp>
      <p:sp>
        <p:nvSpPr>
          <p:cNvPr id="39" name="conclusion intro"/>
          <p:cNvSpPr txBox="1"/>
          <p:nvPr/>
        </p:nvSpPr>
        <p:spPr>
          <a:xfrm>
            <a:off x="17876520" y="9601200"/>
            <a:ext cx="509046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accent3"/>
                </a:solidFill>
              </a:rPr>
              <a:t>Письма банка привлекают внимание, когда касаются текущего продукта клиента:</a:t>
            </a:r>
            <a:endParaRPr lang="en-US" sz="1800" dirty="0"/>
          </a:p>
        </p:txBody>
      </p:sp>
      <p:sp>
        <p:nvSpPr>
          <p:cNvPr id="40" name="conclusion"/>
          <p:cNvSpPr txBox="1"/>
          <p:nvPr/>
        </p:nvSpPr>
        <p:spPr>
          <a:xfrm>
            <a:off x="17876520" y="10835640"/>
            <a:ext cx="509046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Изменения условий своего продукта,</a:t>
            </a:r>
            <a:endParaRPr lang="en-US" sz="1800" dirty="0"/>
          </a:p>
          <a:p>
            <a:pPr marL="279400" indent="-279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предстоящий платеж,</a:t>
            </a:r>
            <a:endParaRPr lang="en-US" sz="1800" dirty="0"/>
          </a:p>
          <a:p>
            <a:pPr marL="279400" indent="-279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начисление дивидендов</a:t>
            </a:r>
            <a:endParaRPr lang="en-US" sz="1800" dirty="0"/>
          </a:p>
          <a:p>
            <a:pPr marL="279400" indent="-279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важное обновление приложения</a:t>
            </a:r>
            <a:endParaRPr lang="en-US" sz="1800" dirty="0"/>
          </a:p>
        </p:txBody>
      </p:sp>
      <p:sp>
        <p:nvSpPr>
          <p:cNvPr id="41" name="card"/>
          <p:cNvSpPr/>
          <p:nvPr/>
        </p:nvSpPr>
        <p:spPr>
          <a:xfrm>
            <a:off x="1005840" y="12024360"/>
            <a:ext cx="16184880" cy="914400"/>
          </a:xfrm>
          <a:prstGeom prst="roundRect">
            <a:avLst>
              <a:gd name="adj" fmla="val 30000"/>
            </a:avLst>
          </a:prstGeom>
          <a:solidFill>
            <a:srgbClr val="E3F3E7"/>
          </a:solidFill>
          <a:ln/>
        </p:spPr>
      </p:sp>
      <p:sp>
        <p:nvSpPr>
          <p:cNvPr id="42" name="icon disc"/>
          <p:cNvSpPr/>
          <p:nvPr/>
        </p:nvSpPr>
        <p:spPr>
          <a:xfrm>
            <a:off x="1371600" y="12198096"/>
            <a:ext cx="566928" cy="566928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3332" y="12339828"/>
            <a:ext cx="283464" cy="283464"/>
          </a:xfrm>
          <a:prstGeom prst="rect">
            <a:avLst/>
          </a:prstGeom>
        </p:spPr>
      </p:pic>
      <p:sp>
        <p:nvSpPr>
          <p:cNvPr id="44" name="frequency"/>
          <p:cNvSpPr txBox="1"/>
          <p:nvPr/>
        </p:nvSpPr>
        <p:spPr>
          <a:xfrm>
            <a:off x="2286000" y="12024360"/>
            <a:ext cx="1453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Приемлемая частота рассылок </a:t>
            </a:r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– раз в неделю на бренд / компанию. Получение писем чаще, чем несколько раз в неделю, уже может восприниматься как спам.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КЛЮЧЕВЫЕ ВЫВОДЫ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Письмо от бренда может привлечь конкретной пользой, актуальным поводом и понятным отправителем</a:t>
            </a:r>
            <a:endParaRPr lang="en-US" sz="4200" dirty="0"/>
          </a:p>
        </p:txBody>
      </p:sp>
      <p:sp>
        <p:nvSpPr>
          <p:cNvPr id="5" name="column head"/>
          <p:cNvSpPr txBox="1"/>
          <p:nvPr/>
        </p:nvSpPr>
        <p:spPr>
          <a:xfrm>
            <a:off x="1371600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ЭЛЕМЕНТ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251960" y="2907792"/>
            <a:ext cx="5394960" cy="640080"/>
          </a:xfrm>
          <a:prstGeom prst="roundRect">
            <a:avLst>
              <a:gd name="adj" fmla="val 50000"/>
            </a:avLst>
          </a:prstGeom>
          <a:solidFill>
            <a:srgbClr val="D2EBD9"/>
          </a:solidFill>
          <a:ln/>
        </p:spPr>
      </p:sp>
      <p:sp>
        <p:nvSpPr>
          <p:cNvPr id="7" name="column head"/>
          <p:cNvSpPr txBox="1"/>
          <p:nvPr/>
        </p:nvSpPr>
        <p:spPr>
          <a:xfrm>
            <a:off x="4251960" y="290779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spc="200" kern="0" dirty="0">
                <a:solidFill>
                  <a:schemeClr val="accent3"/>
                </a:solidFill>
              </a:rPr>
              <a:t>ЧТО ПРИВЛЕКАЕТ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9875520" y="2907792"/>
            <a:ext cx="5303520" cy="640080"/>
          </a:xfrm>
          <a:prstGeom prst="roundRect">
            <a:avLst>
              <a:gd name="adj" fmla="val 50000"/>
            </a:avLst>
          </a:prstGeom>
          <a:solidFill>
            <a:srgbClr val="E3E9F2"/>
          </a:solidFill>
          <a:ln/>
        </p:spPr>
      </p:sp>
      <p:sp>
        <p:nvSpPr>
          <p:cNvPr id="9" name="column head"/>
          <p:cNvSpPr txBox="1"/>
          <p:nvPr/>
        </p:nvSpPr>
        <p:spPr>
          <a:xfrm>
            <a:off x="9875520" y="290779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ЧТО ОТТАЛКИВАЕТ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1005840" y="3840480"/>
            <a:ext cx="14173200" cy="1572768"/>
          </a:xfrm>
          <a:prstGeom prst="roundRect">
            <a:avLst>
              <a:gd name="adj" fmla="val 17442"/>
            </a:avLst>
          </a:prstGeom>
          <a:solidFill>
            <a:srgbClr val="F4F7FC"/>
          </a:solidFill>
          <a:ln/>
        </p:spPr>
      </p:sp>
      <p:sp>
        <p:nvSpPr>
          <p:cNvPr id="11" name="element"/>
          <p:cNvSpPr txBox="1"/>
          <p:nvPr/>
        </p:nvSpPr>
        <p:spPr>
          <a:xfrm>
            <a:off x="1371600" y="3840480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Повод</a:t>
            </a:r>
            <a:endParaRPr lang="en-US" sz="2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4480560"/>
            <a:ext cx="292608" cy="292608"/>
          </a:xfrm>
          <a:prstGeom prst="rect">
            <a:avLst/>
          </a:prstGeom>
        </p:spPr>
      </p:pic>
      <p:sp>
        <p:nvSpPr>
          <p:cNvPr id="13" name="attracts"/>
          <p:cNvSpPr txBox="1"/>
          <p:nvPr/>
        </p:nvSpPr>
        <p:spPr>
          <a:xfrm>
            <a:off x="4937760" y="3840480"/>
            <a:ext cx="4572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Связь с планами, потребностью или текущим продуктом</a:t>
            </a:r>
            <a:endParaRPr lang="en-US" sz="2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480560"/>
            <a:ext cx="292608" cy="292608"/>
          </a:xfrm>
          <a:prstGeom prst="rect">
            <a:avLst/>
          </a:prstGeom>
        </p:spPr>
      </p:pic>
      <p:sp>
        <p:nvSpPr>
          <p:cNvPr id="15" name="repels"/>
          <p:cNvSpPr txBox="1"/>
          <p:nvPr/>
        </p:nvSpPr>
        <p:spPr>
          <a:xfrm>
            <a:off x="10561320" y="3840480"/>
            <a:ext cx="4389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Общее предложение без связи с ситуацией клиента, но с пометкой для вас</a:t>
            </a:r>
            <a:endParaRPr lang="en-US" sz="2100" dirty="0"/>
          </a:p>
        </p:txBody>
      </p:sp>
      <p:sp>
        <p:nvSpPr>
          <p:cNvPr id="16" name="card"/>
          <p:cNvSpPr/>
          <p:nvPr/>
        </p:nvSpPr>
        <p:spPr>
          <a:xfrm>
            <a:off x="1005840" y="5577840"/>
            <a:ext cx="14173200" cy="1572768"/>
          </a:xfrm>
          <a:prstGeom prst="roundRect">
            <a:avLst>
              <a:gd name="adj" fmla="val 17442"/>
            </a:avLst>
          </a:prstGeom>
          <a:solidFill>
            <a:srgbClr val="F4F7FC"/>
          </a:solidFill>
          <a:ln/>
        </p:spPr>
      </p:sp>
      <p:sp>
        <p:nvSpPr>
          <p:cNvPr id="17" name="element"/>
          <p:cNvSpPr txBox="1"/>
          <p:nvPr/>
        </p:nvSpPr>
        <p:spPr>
          <a:xfrm>
            <a:off x="1371600" y="5577840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Тема письма</a:t>
            </a:r>
            <a:endParaRPr lang="en-US" sz="24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6217920"/>
            <a:ext cx="292608" cy="292608"/>
          </a:xfrm>
          <a:prstGeom prst="rect">
            <a:avLst/>
          </a:prstGeom>
        </p:spPr>
      </p:pic>
      <p:sp>
        <p:nvSpPr>
          <p:cNvPr id="19" name="attracts"/>
          <p:cNvSpPr txBox="1"/>
          <p:nvPr/>
        </p:nvSpPr>
        <p:spPr>
          <a:xfrm>
            <a:off x="4937760" y="5577840"/>
            <a:ext cx="4572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Сразу понятно, что внутри: выгода, изменение, конкретные условия</a:t>
            </a:r>
            <a:endParaRPr lang="en-US" sz="2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6217920"/>
            <a:ext cx="292608" cy="292608"/>
          </a:xfrm>
          <a:prstGeom prst="rect">
            <a:avLst/>
          </a:prstGeom>
        </p:spPr>
      </p:pic>
      <p:sp>
        <p:nvSpPr>
          <p:cNvPr id="21" name="repels"/>
          <p:cNvSpPr txBox="1"/>
          <p:nvPr/>
        </p:nvSpPr>
        <p:spPr>
          <a:xfrm>
            <a:off x="10561320" y="5577840"/>
            <a:ext cx="4389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«Срочно», «Внимание», громкие обещания и искусственная срочность</a:t>
            </a:r>
            <a:endParaRPr lang="en-US" sz="2100" dirty="0"/>
          </a:p>
        </p:txBody>
      </p:sp>
      <p:sp>
        <p:nvSpPr>
          <p:cNvPr id="22" name="card"/>
          <p:cNvSpPr/>
          <p:nvPr/>
        </p:nvSpPr>
        <p:spPr>
          <a:xfrm>
            <a:off x="1005840" y="7315200"/>
            <a:ext cx="14173200" cy="1572768"/>
          </a:xfrm>
          <a:prstGeom prst="roundRect">
            <a:avLst>
              <a:gd name="adj" fmla="val 17442"/>
            </a:avLst>
          </a:prstGeom>
          <a:solidFill>
            <a:srgbClr val="F4F7FC"/>
          </a:solidFill>
          <a:ln/>
        </p:spPr>
      </p:sp>
      <p:sp>
        <p:nvSpPr>
          <p:cNvPr id="23" name="element"/>
          <p:cNvSpPr txBox="1"/>
          <p:nvPr/>
        </p:nvSpPr>
        <p:spPr>
          <a:xfrm>
            <a:off x="1371600" y="7315200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Отправитель</a:t>
            </a:r>
            <a:endParaRPr lang="en-US" sz="24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7955280"/>
            <a:ext cx="292608" cy="292608"/>
          </a:xfrm>
          <a:prstGeom prst="rect">
            <a:avLst/>
          </a:prstGeom>
        </p:spPr>
      </p:pic>
      <p:sp>
        <p:nvSpPr>
          <p:cNvPr id="25" name="attracts"/>
          <p:cNvSpPr txBox="1"/>
          <p:nvPr/>
        </p:nvSpPr>
        <p:spPr>
          <a:xfrm>
            <a:off x="4937760" y="7315200"/>
            <a:ext cx="4572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Знакомый бренд, официальный домен, ожидаемая рассылка</a:t>
            </a:r>
            <a:endParaRPr lang="en-US" sz="2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0" y="7955280"/>
            <a:ext cx="292608" cy="292608"/>
          </a:xfrm>
          <a:prstGeom prst="rect">
            <a:avLst/>
          </a:prstGeom>
        </p:spPr>
      </p:pic>
      <p:sp>
        <p:nvSpPr>
          <p:cNvPr id="27" name="repels"/>
          <p:cNvSpPr txBox="1"/>
          <p:nvPr/>
        </p:nvSpPr>
        <p:spPr>
          <a:xfrm>
            <a:off x="10561320" y="7315200"/>
            <a:ext cx="4389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Неизвестный адрес и отсутствие памяти о подписке</a:t>
            </a:r>
            <a:endParaRPr lang="en-US" sz="2100" dirty="0"/>
          </a:p>
        </p:txBody>
      </p:sp>
      <p:sp>
        <p:nvSpPr>
          <p:cNvPr id="28" name="card"/>
          <p:cNvSpPr/>
          <p:nvPr/>
        </p:nvSpPr>
        <p:spPr>
          <a:xfrm>
            <a:off x="1005840" y="9052560"/>
            <a:ext cx="14173200" cy="1572768"/>
          </a:xfrm>
          <a:prstGeom prst="roundRect">
            <a:avLst>
              <a:gd name="adj" fmla="val 17442"/>
            </a:avLst>
          </a:prstGeom>
          <a:solidFill>
            <a:srgbClr val="F4F7FC"/>
          </a:solidFill>
          <a:ln/>
        </p:spPr>
      </p:sp>
      <p:sp>
        <p:nvSpPr>
          <p:cNvPr id="29" name="element"/>
          <p:cNvSpPr txBox="1"/>
          <p:nvPr/>
        </p:nvSpPr>
        <p:spPr>
          <a:xfrm>
            <a:off x="1371600" y="9052560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После открытия</a:t>
            </a:r>
            <a:endParaRPr lang="en-US" sz="24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9692640"/>
            <a:ext cx="292608" cy="292608"/>
          </a:xfrm>
          <a:prstGeom prst="rect">
            <a:avLst/>
          </a:prstGeom>
        </p:spPr>
      </p:pic>
      <p:sp>
        <p:nvSpPr>
          <p:cNvPr id="31" name="attracts"/>
          <p:cNvSpPr txBox="1"/>
          <p:nvPr/>
        </p:nvSpPr>
        <p:spPr>
          <a:xfrm>
            <a:off x="4937760" y="9052560"/>
            <a:ext cx="4572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Короткое объяснение, понятные примеры и следующий шаг</a:t>
            </a:r>
            <a:endParaRPr lang="en-US" sz="2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60" y="9692640"/>
            <a:ext cx="292608" cy="292608"/>
          </a:xfrm>
          <a:prstGeom prst="rect">
            <a:avLst/>
          </a:prstGeom>
        </p:spPr>
      </p:pic>
      <p:sp>
        <p:nvSpPr>
          <p:cNvPr id="33" name="repels"/>
          <p:cNvSpPr txBox="1"/>
          <p:nvPr/>
        </p:nvSpPr>
        <p:spPr>
          <a:xfrm>
            <a:off x="10561320" y="9052560"/>
            <a:ext cx="4389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Длинный сложный текст; непонятно, что изменилось и что делать</a:t>
            </a:r>
            <a:endParaRPr lang="en-US" sz="21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44800" y="2907792"/>
            <a:ext cx="7833665" cy="7717536"/>
          </a:xfrm>
          <a:prstGeom prst="rect">
            <a:avLst/>
          </a:prstGeom>
        </p:spPr>
      </p:pic>
      <p:sp>
        <p:nvSpPr>
          <p:cNvPr id="35" name="conclusion label"/>
          <p:cNvSpPr txBox="1"/>
          <p:nvPr/>
        </p:nvSpPr>
        <p:spPr>
          <a:xfrm>
            <a:off x="16093440" y="3291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spc="15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</a:t>
            </a:r>
            <a:endParaRPr lang="en-US" sz="2100" dirty="0"/>
          </a:p>
        </p:txBody>
      </p:sp>
      <p:sp>
        <p:nvSpPr>
          <p:cNvPr id="36" name="conclusion"/>
          <p:cNvSpPr txBox="1"/>
          <p:nvPr/>
        </p:nvSpPr>
        <p:spPr>
          <a:xfrm>
            <a:off x="16093440" y="4069080"/>
            <a:ext cx="6736385" cy="64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chemeClr val="accent3"/>
                </a:solidFill>
              </a:rPr>
              <a:t>Узнаваемость бренда помогает вызвать доверие, но не гарантирует внимания.</a:t>
            </a:r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 Клиент может доверять Сберу и при этом не видеть причины открыть конкретное письмо</a:t>
            </a:r>
            <a:endParaRPr lang="en-US" sz="2200" dirty="0"/>
          </a:p>
          <a:p>
            <a:pPr marL="279400" indent="-279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chemeClr val="accent3"/>
                </a:solidFill>
              </a:rPr>
              <a:t>Персонализация может оставаться незаметной для клиента.</a:t>
            </a:r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 Даже подобранное предложение воспринимается как массовое, если непонятна его связь с личной ситуацией</a:t>
            </a:r>
            <a:endParaRPr lang="en-US" sz="2200" dirty="0"/>
          </a:p>
          <a:p>
            <a:pPr marL="279400" indent="-279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chemeClr val="accent3"/>
                </a:solidFill>
              </a:rPr>
              <a:t>Интерес к предложению зависит от момента.</a:t>
            </a:r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 Соответствия профилю клиента может быть недостаточно: важна связь с его текущими планами, потребностями или используемыми продуктами</a:t>
            </a:r>
            <a:endParaRPr lang="en-US" sz="22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10899648"/>
            <a:ext cx="11003432" cy="2039112"/>
          </a:xfrm>
          <a:prstGeom prst="rect">
            <a:avLst/>
          </a:prstGeom>
        </p:spPr>
      </p:pic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11992" y="11841480"/>
            <a:ext cx="777240" cy="777240"/>
          </a:xfrm>
          <a:prstGeom prst="rect">
            <a:avLst/>
          </a:prstGeom>
        </p:spPr>
      </p:pic>
      <p:sp>
        <p:nvSpPr>
          <p:cNvPr id="39" name="quote text"/>
          <p:cNvSpPr txBox="1"/>
          <p:nvPr/>
        </p:nvSpPr>
        <p:spPr>
          <a:xfrm>
            <a:off x="1417320" y="11265408"/>
            <a:ext cx="1018047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«В моменте какие-то вещи реально могут быть актуальны. Допустим, если я планирую отпуск, а там акция, что студентам 50% скидки на билеты»</a:t>
            </a:r>
            <a:endParaRPr lang="en-US" sz="2000" dirty="0"/>
          </a:p>
        </p:txBody>
      </p:sp>
      <p:sp>
        <p:nvSpPr>
          <p:cNvPr id="40" name="card"/>
          <p:cNvSpPr/>
          <p:nvPr/>
        </p:nvSpPr>
        <p:spPr>
          <a:xfrm>
            <a:off x="1417320" y="12280392"/>
            <a:ext cx="25831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1" name="attribution"/>
          <p:cNvSpPr txBox="1"/>
          <p:nvPr/>
        </p:nvSpPr>
        <p:spPr>
          <a:xfrm>
            <a:off x="1417320" y="12280392"/>
            <a:ext cx="2583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20–29 лет, Москва</a:t>
            </a:r>
            <a:endParaRPr lang="en-US" sz="15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75032" y="10899648"/>
            <a:ext cx="11003432" cy="2039112"/>
          </a:xfrm>
          <a:prstGeom prst="rect">
            <a:avLst/>
          </a:prstGeom>
        </p:spPr>
      </p:pic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81185" y="11841480"/>
            <a:ext cx="777240" cy="777240"/>
          </a:xfrm>
          <a:prstGeom prst="rect">
            <a:avLst/>
          </a:prstGeom>
        </p:spPr>
      </p:pic>
      <p:sp>
        <p:nvSpPr>
          <p:cNvPr id="44" name="quote text"/>
          <p:cNvSpPr txBox="1"/>
          <p:nvPr/>
        </p:nvSpPr>
        <p:spPr>
          <a:xfrm>
            <a:off x="12786512" y="11265408"/>
            <a:ext cx="1018047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«Я последние несколько лет обращаю внимание на сам адрес электронной почты, откуда отправлен»</a:t>
            </a:r>
            <a:endParaRPr lang="en-US" sz="2000" dirty="0"/>
          </a:p>
        </p:txBody>
      </p:sp>
      <p:sp>
        <p:nvSpPr>
          <p:cNvPr id="45" name="card"/>
          <p:cNvSpPr/>
          <p:nvPr/>
        </p:nvSpPr>
        <p:spPr>
          <a:xfrm>
            <a:off x="12786512" y="12280392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6" name="attribution"/>
          <p:cNvSpPr txBox="1"/>
          <p:nvPr/>
        </p:nvSpPr>
        <p:spPr>
          <a:xfrm>
            <a:off x="12786512" y="122803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30–44 года, Москва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КЛЮЧЕВЫЕ ВЫВОДЫ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Персональные письма ценят за помощь с конкретным решением</a:t>
            </a:r>
            <a:endParaRPr lang="en-US" sz="4200" dirty="0"/>
          </a:p>
        </p:txBody>
      </p:sp>
      <p:sp>
        <p:nvSpPr>
          <p:cNvPr id="5" name="direction head"/>
          <p:cNvSpPr txBox="1"/>
          <p:nvPr/>
        </p:nvSpPr>
        <p:spPr>
          <a:xfrm>
            <a:off x="1005840" y="2240280"/>
            <a:ext cx="2237262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От персональных писем ждут практической пользы в трех направлениях</a:t>
            </a:r>
            <a:endParaRPr lang="en-US" sz="2600" dirty="0"/>
          </a:p>
        </p:txBody>
      </p:sp>
      <p:sp>
        <p:nvSpPr>
          <p:cNvPr id="6" name="card"/>
          <p:cNvSpPr/>
          <p:nvPr/>
        </p:nvSpPr>
        <p:spPr>
          <a:xfrm>
            <a:off x="1005840" y="2971800"/>
            <a:ext cx="7274662" cy="1691640"/>
          </a:xfrm>
          <a:prstGeom prst="roundRect">
            <a:avLst>
              <a:gd name="adj" fmla="val 16216"/>
            </a:avLst>
          </a:prstGeom>
          <a:solidFill>
            <a:srgbClr val="F4F7FC"/>
          </a:solidFill>
          <a:ln/>
        </p:spPr>
      </p:sp>
      <p:sp>
        <p:nvSpPr>
          <p:cNvPr id="7" name="icon disc"/>
          <p:cNvSpPr/>
          <p:nvPr/>
        </p:nvSpPr>
        <p:spPr>
          <a:xfrm>
            <a:off x="1371600" y="3497580"/>
            <a:ext cx="640080" cy="640080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3657600"/>
            <a:ext cx="320040" cy="320040"/>
          </a:xfrm>
          <a:prstGeom prst="rect">
            <a:avLst/>
          </a:prstGeom>
        </p:spPr>
      </p:pic>
      <p:sp>
        <p:nvSpPr>
          <p:cNvPr id="9" name="direction"/>
          <p:cNvSpPr txBox="1"/>
          <p:nvPr/>
        </p:nvSpPr>
        <p:spPr>
          <a:xfrm>
            <a:off x="2286000" y="2971800"/>
            <a:ext cx="562874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Контроль обязательств: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 помощь с платежами, сроками и продлением услуг</a:t>
            </a:r>
            <a:endParaRPr lang="en-US" sz="2100" dirty="0"/>
          </a:p>
        </p:txBody>
      </p:sp>
      <p:sp>
        <p:nvSpPr>
          <p:cNvPr id="10" name="card"/>
          <p:cNvSpPr/>
          <p:nvPr/>
        </p:nvSpPr>
        <p:spPr>
          <a:xfrm>
            <a:off x="8554822" y="2971800"/>
            <a:ext cx="7274662" cy="1691640"/>
          </a:xfrm>
          <a:prstGeom prst="roundRect">
            <a:avLst>
              <a:gd name="adj" fmla="val 16216"/>
            </a:avLst>
          </a:prstGeom>
          <a:solidFill>
            <a:srgbClr val="F4F7FC"/>
          </a:solidFill>
          <a:ln/>
        </p:spPr>
      </p:sp>
      <p:sp>
        <p:nvSpPr>
          <p:cNvPr id="11" name="icon disc"/>
          <p:cNvSpPr/>
          <p:nvPr/>
        </p:nvSpPr>
        <p:spPr>
          <a:xfrm>
            <a:off x="8920582" y="3497580"/>
            <a:ext cx="640080" cy="640080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602" y="3657600"/>
            <a:ext cx="320040" cy="320040"/>
          </a:xfrm>
          <a:prstGeom prst="rect">
            <a:avLst/>
          </a:prstGeom>
        </p:spPr>
      </p:pic>
      <p:sp>
        <p:nvSpPr>
          <p:cNvPr id="13" name="direction"/>
          <p:cNvSpPr txBox="1"/>
          <p:nvPr/>
        </p:nvSpPr>
        <p:spPr>
          <a:xfrm>
            <a:off x="9834982" y="2971800"/>
            <a:ext cx="562874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Личная выгода: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 возможности сэкономить и преимущества для постоянных клиентов</a:t>
            </a:r>
            <a:endParaRPr lang="en-US" sz="2100" dirty="0"/>
          </a:p>
        </p:txBody>
      </p:sp>
      <p:sp>
        <p:nvSpPr>
          <p:cNvPr id="14" name="card"/>
          <p:cNvSpPr/>
          <p:nvPr/>
        </p:nvSpPr>
        <p:spPr>
          <a:xfrm>
            <a:off x="16103803" y="2971800"/>
            <a:ext cx="7274662" cy="1691640"/>
          </a:xfrm>
          <a:prstGeom prst="roundRect">
            <a:avLst>
              <a:gd name="adj" fmla="val 16216"/>
            </a:avLst>
          </a:prstGeom>
          <a:solidFill>
            <a:srgbClr val="F4F7FC"/>
          </a:solidFill>
          <a:ln/>
        </p:spPr>
      </p:sp>
      <p:sp>
        <p:nvSpPr>
          <p:cNvPr id="15" name="icon disc"/>
          <p:cNvSpPr/>
          <p:nvPr/>
        </p:nvSpPr>
        <p:spPr>
          <a:xfrm>
            <a:off x="16469563" y="3497580"/>
            <a:ext cx="640080" cy="640080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9583" y="3657600"/>
            <a:ext cx="320040" cy="320040"/>
          </a:xfrm>
          <a:prstGeom prst="rect">
            <a:avLst/>
          </a:prstGeom>
        </p:spPr>
      </p:pic>
      <p:sp>
        <p:nvSpPr>
          <p:cNvPr id="17" name="direction"/>
          <p:cNvSpPr txBox="1"/>
          <p:nvPr/>
        </p:nvSpPr>
        <p:spPr>
          <a:xfrm>
            <a:off x="17383963" y="2971800"/>
            <a:ext cx="562874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Подходящие предложения: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 продукты и услуги с учетом текущих потребностей</a:t>
            </a:r>
            <a:endParaRPr lang="en-US" sz="2100" dirty="0"/>
          </a:p>
        </p:txBody>
      </p:sp>
      <p:sp>
        <p:nvSpPr>
          <p:cNvPr id="18" name="column head"/>
          <p:cNvSpPr txBox="1"/>
          <p:nvPr/>
        </p:nvSpPr>
        <p:spPr>
          <a:xfrm>
            <a:off x="1463040" y="4937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ОБСУЖДАВШАЯСЯ ИДЕЯ</a:t>
            </a:r>
            <a:endParaRPr lang="en-US" sz="1500" dirty="0"/>
          </a:p>
        </p:txBody>
      </p:sp>
      <p:sp>
        <p:nvSpPr>
          <p:cNvPr id="19" name="column head"/>
          <p:cNvSpPr txBox="1"/>
          <p:nvPr/>
        </p:nvSpPr>
        <p:spPr>
          <a:xfrm>
            <a:off x="6492240" y="49377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РЕАКЦИЯ УЧАСТНИКОВ</a:t>
            </a:r>
            <a:endParaRPr lang="en-US" sz="1500" dirty="0"/>
          </a:p>
        </p:txBody>
      </p:sp>
      <p:sp>
        <p:nvSpPr>
          <p:cNvPr id="20" name="column head"/>
          <p:cNvSpPr txBox="1"/>
          <p:nvPr/>
        </p:nvSpPr>
        <p:spPr>
          <a:xfrm>
            <a:off x="14721840" y="4937760"/>
            <a:ext cx="82908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НАПРАВЛЕНИЕ УСИЛЕНИЯ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1005840" y="5394960"/>
            <a:ext cx="22372625" cy="960120"/>
          </a:xfrm>
          <a:prstGeom prst="roundRect">
            <a:avLst>
              <a:gd name="adj" fmla="val 28571"/>
            </a:avLst>
          </a:prstGeom>
          <a:solidFill>
            <a:srgbClr val="F4F7FC"/>
          </a:solidFill>
          <a:ln/>
        </p:spPr>
      </p:sp>
      <p:sp>
        <p:nvSpPr>
          <p:cNvPr id="22" name="idea"/>
          <p:cNvSpPr txBox="1"/>
          <p:nvPr/>
        </p:nvSpPr>
        <p:spPr>
          <a:xfrm>
            <a:off x="1463040" y="53949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Персональная подборка</a:t>
            </a:r>
            <a:endParaRPr lang="en-US" sz="2400" dirty="0"/>
          </a:p>
        </p:txBody>
      </p:sp>
      <p:sp>
        <p:nvSpPr>
          <p:cNvPr id="23" name="reaction"/>
          <p:cNvSpPr txBox="1"/>
          <p:nvPr/>
        </p:nvSpPr>
        <p:spPr>
          <a:xfrm>
            <a:off x="6492240" y="539496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Неясно, что получу и какую пользу это даст</a:t>
            </a:r>
            <a:endParaRPr lang="en-US" sz="2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0320" y="5701284"/>
            <a:ext cx="347472" cy="347472"/>
          </a:xfrm>
          <a:prstGeom prst="rect">
            <a:avLst/>
          </a:prstGeom>
        </p:spPr>
      </p:pic>
      <p:sp>
        <p:nvSpPr>
          <p:cNvPr id="25" name="strengthening"/>
          <p:cNvSpPr txBox="1"/>
          <p:nvPr/>
        </p:nvSpPr>
        <p:spPr>
          <a:xfrm>
            <a:off x="14721840" y="5394960"/>
            <a:ext cx="82908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Назвать конкретную задачу клиента и результат</a:t>
            </a:r>
            <a:endParaRPr lang="en-US" sz="2100" dirty="0"/>
          </a:p>
        </p:txBody>
      </p:sp>
      <p:sp>
        <p:nvSpPr>
          <p:cNvPr id="26" name="card"/>
          <p:cNvSpPr/>
          <p:nvPr/>
        </p:nvSpPr>
        <p:spPr>
          <a:xfrm>
            <a:off x="1005840" y="6446520"/>
            <a:ext cx="22372625" cy="960120"/>
          </a:xfrm>
          <a:prstGeom prst="roundRect">
            <a:avLst>
              <a:gd name="adj" fmla="val 28571"/>
            </a:avLst>
          </a:prstGeom>
          <a:solidFill>
            <a:srgbClr val="F4F7FC"/>
          </a:solidFill>
          <a:ln/>
        </p:spPr>
      </p:sp>
      <p:sp>
        <p:nvSpPr>
          <p:cNvPr id="27" name="idea"/>
          <p:cNvSpPr txBox="1"/>
          <p:nvPr/>
        </p:nvSpPr>
        <p:spPr>
          <a:xfrm>
            <a:off x="1463040" y="64465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Аналитика расходов</a:t>
            </a:r>
            <a:endParaRPr lang="en-US" sz="2400" dirty="0"/>
          </a:p>
        </p:txBody>
      </p:sp>
      <p:sp>
        <p:nvSpPr>
          <p:cNvPr id="28" name="reaction"/>
          <p:cNvSpPr txBox="1"/>
          <p:nvPr/>
        </p:nvSpPr>
        <p:spPr>
          <a:xfrm>
            <a:off x="6492240" y="644652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Уже есть в приложении; расходы по другим банкам не учтены</a:t>
            </a:r>
            <a:endParaRPr lang="en-US" sz="21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0320" y="6752844"/>
            <a:ext cx="347472" cy="347472"/>
          </a:xfrm>
          <a:prstGeom prst="rect">
            <a:avLst/>
          </a:prstGeom>
        </p:spPr>
      </p:pic>
      <p:sp>
        <p:nvSpPr>
          <p:cNvPr id="30" name="strengthening"/>
          <p:cNvSpPr txBox="1"/>
          <p:nvPr/>
        </p:nvSpPr>
        <p:spPr>
          <a:xfrm>
            <a:off x="14721840" y="6446520"/>
            <a:ext cx="82908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Показать возможность сэкономить или решить задачу</a:t>
            </a:r>
            <a:endParaRPr lang="en-US" sz="2100" dirty="0"/>
          </a:p>
        </p:txBody>
      </p:sp>
      <p:sp>
        <p:nvSpPr>
          <p:cNvPr id="31" name="card"/>
          <p:cNvSpPr/>
          <p:nvPr/>
        </p:nvSpPr>
        <p:spPr>
          <a:xfrm>
            <a:off x="1005840" y="7498080"/>
            <a:ext cx="22372625" cy="960120"/>
          </a:xfrm>
          <a:prstGeom prst="roundRect">
            <a:avLst>
              <a:gd name="adj" fmla="val 28571"/>
            </a:avLst>
          </a:prstGeom>
          <a:solidFill>
            <a:srgbClr val="F4F7FC"/>
          </a:solidFill>
          <a:ln/>
        </p:spPr>
      </p:sp>
      <p:sp>
        <p:nvSpPr>
          <p:cNvPr id="32" name="idea"/>
          <p:cNvSpPr txBox="1"/>
          <p:nvPr/>
        </p:nvSpPr>
        <p:spPr>
          <a:xfrm>
            <a:off x="1463040" y="74980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Повышенный кешбэк</a:t>
            </a:r>
            <a:endParaRPr lang="en-US" sz="2400" dirty="0"/>
          </a:p>
        </p:txBody>
      </p:sp>
      <p:sp>
        <p:nvSpPr>
          <p:cNvPr id="33" name="reaction"/>
          <p:cNvSpPr txBox="1"/>
          <p:nvPr/>
        </p:nvSpPr>
        <p:spPr>
          <a:xfrm>
            <a:off x="6492240" y="749808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Интересно; хотят самостоятельно выбирать категории</a:t>
            </a:r>
            <a:endParaRPr lang="en-US" sz="21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90320" y="7804404"/>
            <a:ext cx="347472" cy="347472"/>
          </a:xfrm>
          <a:prstGeom prst="rect">
            <a:avLst/>
          </a:prstGeom>
        </p:spPr>
      </p:pic>
      <p:sp>
        <p:nvSpPr>
          <p:cNvPr id="35" name="strengthening"/>
          <p:cNvSpPr txBox="1"/>
          <p:nvPr/>
        </p:nvSpPr>
        <p:spPr>
          <a:xfrm>
            <a:off x="14721840" y="7498080"/>
            <a:ext cx="82908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Дать выбор и объяснить, какие категории подходят</a:t>
            </a:r>
            <a:endParaRPr lang="en-US" sz="2100" dirty="0"/>
          </a:p>
        </p:txBody>
      </p:sp>
      <p:sp>
        <p:nvSpPr>
          <p:cNvPr id="36" name="card"/>
          <p:cNvSpPr/>
          <p:nvPr/>
        </p:nvSpPr>
        <p:spPr>
          <a:xfrm>
            <a:off x="1005840" y="8549640"/>
            <a:ext cx="22372625" cy="960120"/>
          </a:xfrm>
          <a:prstGeom prst="roundRect">
            <a:avLst>
              <a:gd name="adj" fmla="val 28571"/>
            </a:avLst>
          </a:prstGeom>
          <a:solidFill>
            <a:srgbClr val="F4F7FC"/>
          </a:solidFill>
          <a:ln/>
        </p:spPr>
      </p:sp>
      <p:sp>
        <p:nvSpPr>
          <p:cNvPr id="37" name="idea"/>
          <p:cNvSpPr txBox="1"/>
          <p:nvPr/>
        </p:nvSpPr>
        <p:spPr>
          <a:xfrm>
            <a:off x="1463040" y="85496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Сервисная выписка</a:t>
            </a:r>
            <a:endParaRPr lang="en-US" sz="2400" dirty="0"/>
          </a:p>
        </p:txBody>
      </p:sp>
      <p:sp>
        <p:nvSpPr>
          <p:cNvPr id="38" name="reaction"/>
          <p:cNvSpPr txBox="1"/>
          <p:nvPr/>
        </p:nvSpPr>
        <p:spPr>
          <a:xfrm>
            <a:off x="6492240" y="854964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Непонятно содержание; ожидают доступность в приложении</a:t>
            </a:r>
            <a:endParaRPr lang="en-US" sz="21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90320" y="8855964"/>
            <a:ext cx="347472" cy="347472"/>
          </a:xfrm>
          <a:prstGeom prst="rect">
            <a:avLst/>
          </a:prstGeom>
        </p:spPr>
      </p:pic>
      <p:sp>
        <p:nvSpPr>
          <p:cNvPr id="40" name="strengthening"/>
          <p:cNvSpPr txBox="1"/>
          <p:nvPr/>
        </p:nvSpPr>
        <p:spPr>
          <a:xfrm>
            <a:off x="14721840" y="8549640"/>
            <a:ext cx="82908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Объяснить изменения и доступные действия</a:t>
            </a:r>
            <a:endParaRPr lang="en-US" sz="210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9738360"/>
            <a:ext cx="7863840" cy="3200400"/>
          </a:xfrm>
          <a:prstGeom prst="rect">
            <a:avLst/>
          </a:prstGeom>
        </p:spPr>
      </p:pic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11841480"/>
            <a:ext cx="777240" cy="777240"/>
          </a:xfrm>
          <a:prstGeom prst="rect">
            <a:avLst/>
          </a:prstGeom>
        </p:spPr>
      </p:pic>
      <p:sp>
        <p:nvSpPr>
          <p:cNvPr id="43" name="quote text"/>
          <p:cNvSpPr txBox="1"/>
          <p:nvPr/>
        </p:nvSpPr>
        <p:spPr>
          <a:xfrm>
            <a:off x="1417320" y="10104120"/>
            <a:ext cx="70408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«Он меня изучил, и мне интересно, что для меня подобрал. Я хочу, чтобы они мне помогали оптимизировать мои траты»</a:t>
            </a:r>
            <a:endParaRPr lang="en-US" sz="1900" dirty="0"/>
          </a:p>
        </p:txBody>
      </p:sp>
      <p:sp>
        <p:nvSpPr>
          <p:cNvPr id="44" name="card"/>
          <p:cNvSpPr/>
          <p:nvPr/>
        </p:nvSpPr>
        <p:spPr>
          <a:xfrm>
            <a:off x="1417320" y="12280392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5" name="attribution"/>
          <p:cNvSpPr txBox="1"/>
          <p:nvPr/>
        </p:nvSpPr>
        <p:spPr>
          <a:xfrm>
            <a:off x="1417320" y="122803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30–44 года, Москва</a:t>
            </a:r>
            <a:endParaRPr lang="en-US" sz="1500" dirty="0"/>
          </a:p>
        </p:txBody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0" y="9738360"/>
            <a:ext cx="14234465" cy="3200400"/>
          </a:xfrm>
          <a:prstGeom prst="rect">
            <a:avLst/>
          </a:prstGeom>
        </p:spPr>
      </p:pic>
      <p:sp>
        <p:nvSpPr>
          <p:cNvPr id="47" name="conclusion label"/>
          <p:cNvSpPr txBox="1"/>
          <p:nvPr/>
        </p:nvSpPr>
        <p:spPr>
          <a:xfrm>
            <a:off x="9692640" y="10012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spc="15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СБЕРА:</a:t>
            </a:r>
            <a:endParaRPr lang="en-US" sz="2100" dirty="0"/>
          </a:p>
        </p:txBody>
      </p:sp>
      <p:sp>
        <p:nvSpPr>
          <p:cNvPr id="48" name="conclusion"/>
          <p:cNvSpPr txBox="1"/>
          <p:nvPr/>
        </p:nvSpPr>
        <p:spPr>
          <a:xfrm>
            <a:off x="9692640" y="10607040"/>
            <a:ext cx="6583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Связывать совет с тратами и продуктами клиента</a:t>
            </a:r>
            <a:endParaRPr lang="en-US" sz="2100" dirty="0"/>
          </a:p>
          <a:p>
            <a:pPr marL="279400" indent="-279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Объяснять личную выгоду и следующий шаг</a:t>
            </a:r>
            <a:endParaRPr lang="en-US" sz="2100" dirty="0"/>
          </a:p>
          <a:p>
            <a:pPr marL="279400" indent="-279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Предлагать выбор категорий и условий</a:t>
            </a:r>
            <a:endParaRPr lang="en-US" sz="2100" dirty="0"/>
          </a:p>
        </p:txBody>
      </p:sp>
      <p:sp>
        <p:nvSpPr>
          <p:cNvPr id="49" name="ideas label"/>
          <p:cNvSpPr txBox="1"/>
          <p:nvPr/>
        </p:nvSpPr>
        <p:spPr>
          <a:xfrm>
            <a:off x="16824960" y="100401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spc="200" kern="0" dirty="0">
                <a:solidFill>
                  <a:schemeClr val="accent3"/>
                </a:solidFill>
              </a:rPr>
              <a:t>ПРАКТИЧЕСКИЕ ИДЕИ ИЗ ГРУПП</a:t>
            </a:r>
            <a:endParaRPr lang="en-US" sz="1500" dirty="0"/>
          </a:p>
        </p:txBody>
      </p:sp>
      <p:sp>
        <p:nvSpPr>
          <p:cNvPr id="50" name="ideas"/>
          <p:cNvSpPr txBox="1"/>
          <p:nvPr/>
        </p:nvSpPr>
        <p:spPr>
          <a:xfrm>
            <a:off x="16824960" y="10607040"/>
            <a:ext cx="618774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Налоговый вычет по тратам</a:t>
            </a:r>
            <a:endParaRPr lang="en-US" sz="2100" dirty="0"/>
          </a:p>
          <a:p>
            <a:pPr marL="279400" indent="-279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Расчет условий вклада</a:t>
            </a:r>
            <a:endParaRPr lang="en-US" sz="2100" dirty="0"/>
          </a:p>
          <a:p>
            <a:pPr marL="279400" indent="-279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Выбор тем рассылки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КЛЮЧЕВЫЕ ВЫВОДЫ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Письма от компаний экосистемы чаще ценят за работающую выгоду и помощь с используемыми услугами</a:t>
            </a:r>
            <a:endParaRPr lang="en-US" sz="4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926080"/>
            <a:ext cx="5943600" cy="31089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4937760"/>
            <a:ext cx="777240" cy="777240"/>
          </a:xfrm>
          <a:prstGeom prst="rect">
            <a:avLst/>
          </a:prstGeom>
        </p:spPr>
      </p:pic>
      <p:sp>
        <p:nvSpPr>
          <p:cNvPr id="7" name="quote text"/>
          <p:cNvSpPr txBox="1"/>
          <p:nvPr/>
        </p:nvSpPr>
        <p:spPr>
          <a:xfrm>
            <a:off x="1417320" y="3291840"/>
            <a:ext cx="51206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«Было бы неплохо, если бы мне Сбер напомнил заранее, что у меня заканчивается полис ОСАГО»</a:t>
            </a:r>
            <a:endParaRPr lang="en-US" sz="2100" dirty="0"/>
          </a:p>
        </p:txBody>
      </p:sp>
      <p:sp>
        <p:nvSpPr>
          <p:cNvPr id="8" name="card"/>
          <p:cNvSpPr/>
          <p:nvPr/>
        </p:nvSpPr>
        <p:spPr>
          <a:xfrm>
            <a:off x="1417320" y="5376672"/>
            <a:ext cx="3268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attribution"/>
          <p:cNvSpPr txBox="1"/>
          <p:nvPr/>
        </p:nvSpPr>
        <p:spPr>
          <a:xfrm>
            <a:off x="1417320" y="5376672"/>
            <a:ext cx="3268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20–29 лет, Екатеринбург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926080"/>
            <a:ext cx="5486400" cy="310896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0" y="4937760"/>
            <a:ext cx="777240" cy="777240"/>
          </a:xfrm>
          <a:prstGeom prst="rect">
            <a:avLst/>
          </a:prstGeom>
        </p:spPr>
      </p:pic>
      <p:sp>
        <p:nvSpPr>
          <p:cNvPr id="12" name="quote text"/>
          <p:cNvSpPr txBox="1"/>
          <p:nvPr/>
        </p:nvSpPr>
        <p:spPr>
          <a:xfrm>
            <a:off x="7635240" y="3291840"/>
            <a:ext cx="46634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«Автостраховка, помимо того, что хранится в приложении банка, приходит и на почту»</a:t>
            </a:r>
            <a:endParaRPr lang="en-US" sz="2100" dirty="0"/>
          </a:p>
        </p:txBody>
      </p:sp>
      <p:sp>
        <p:nvSpPr>
          <p:cNvPr id="13" name="card"/>
          <p:cNvSpPr/>
          <p:nvPr/>
        </p:nvSpPr>
        <p:spPr>
          <a:xfrm>
            <a:off x="7635240" y="5376672"/>
            <a:ext cx="3268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attribution"/>
          <p:cNvSpPr txBox="1"/>
          <p:nvPr/>
        </p:nvSpPr>
        <p:spPr>
          <a:xfrm>
            <a:off x="7635240" y="5376672"/>
            <a:ext cx="3268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20–29 лет, Екатеринбург</a:t>
            </a:r>
            <a:endParaRPr lang="en-US" sz="15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0" y="2926080"/>
            <a:ext cx="10393985" cy="3108960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81185" y="4937760"/>
            <a:ext cx="777240" cy="777240"/>
          </a:xfrm>
          <a:prstGeom prst="rect">
            <a:avLst/>
          </a:prstGeom>
        </p:spPr>
      </p:pic>
      <p:sp>
        <p:nvSpPr>
          <p:cNvPr id="17" name="quote text"/>
          <p:cNvSpPr txBox="1"/>
          <p:nvPr/>
        </p:nvSpPr>
        <p:spPr>
          <a:xfrm>
            <a:off x="13395960" y="3291840"/>
            <a:ext cx="9571025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«Мне пришло по СБЕР-страхованию предложение по страховке всех членов семьи по фиксированной ставке на 3 года. А я страхуюсь от клеща каждый год, конечно, я оформила. Но не сразу через письмо, я на сайт зашла по сбер id».</a:t>
            </a:r>
            <a:endParaRPr lang="en-US" sz="2100" dirty="0"/>
          </a:p>
        </p:txBody>
      </p:sp>
      <p:sp>
        <p:nvSpPr>
          <p:cNvPr id="18" name="card"/>
          <p:cNvSpPr/>
          <p:nvPr/>
        </p:nvSpPr>
        <p:spPr>
          <a:xfrm>
            <a:off x="13395960" y="5376672"/>
            <a:ext cx="28117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attribution"/>
          <p:cNvSpPr txBox="1"/>
          <p:nvPr/>
        </p:nvSpPr>
        <p:spPr>
          <a:xfrm>
            <a:off x="13395960" y="5376672"/>
            <a:ext cx="2811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45-55, Екатеринбург</a:t>
            </a:r>
            <a:endParaRPr lang="en-US" sz="1500" dirty="0"/>
          </a:p>
        </p:txBody>
      </p:sp>
      <p:sp>
        <p:nvSpPr>
          <p:cNvPr id="20" name="label"/>
          <p:cNvSpPr txBox="1"/>
          <p:nvPr/>
        </p:nvSpPr>
        <p:spPr>
          <a:xfrm>
            <a:off x="1005840" y="630936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КОГДА РЕСПОНДЕНТЫ ОТМЕЧАЛИ РАССЫЛКУ КАК ЦЕННУЮ</a:t>
            </a:r>
            <a:endParaRPr lang="en-US" sz="1700" dirty="0"/>
          </a:p>
        </p:txBody>
      </p:sp>
      <p:sp>
        <p:nvSpPr>
          <p:cNvPr id="21" name="card"/>
          <p:cNvSpPr/>
          <p:nvPr/>
        </p:nvSpPr>
        <p:spPr>
          <a:xfrm>
            <a:off x="1005840" y="6858000"/>
            <a:ext cx="7274662" cy="301752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/>
        </p:spPr>
      </p:sp>
      <p:sp>
        <p:nvSpPr>
          <p:cNvPr id="22" name="icon disc"/>
          <p:cNvSpPr/>
          <p:nvPr/>
        </p:nvSpPr>
        <p:spPr>
          <a:xfrm>
            <a:off x="1371600" y="7178040"/>
            <a:ext cx="640080" cy="640080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1620" y="7338060"/>
            <a:ext cx="320040" cy="320040"/>
          </a:xfrm>
          <a:prstGeom prst="rect">
            <a:avLst/>
          </a:prstGeom>
        </p:spPr>
      </p:pic>
      <p:sp>
        <p:nvSpPr>
          <p:cNvPr id="24" name="value"/>
          <p:cNvSpPr txBox="1"/>
          <p:nvPr/>
        </p:nvSpPr>
        <p:spPr>
          <a:xfrm>
            <a:off x="2240280" y="7132320"/>
            <a:ext cx="57201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Работающая выгода</a:t>
            </a:r>
            <a:endParaRPr lang="en-US" sz="2200" dirty="0"/>
          </a:p>
        </p:txBody>
      </p:sp>
      <p:sp>
        <p:nvSpPr>
          <p:cNvPr id="25" name="value text"/>
          <p:cNvSpPr txBox="1"/>
          <p:nvPr/>
        </p:nvSpPr>
        <p:spPr>
          <a:xfrm>
            <a:off x="1371600" y="8138160"/>
            <a:ext cx="65431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Скидка или купон действительно применяются; понятные условия создают доверие к следующим письмам</a:t>
            </a:r>
            <a:endParaRPr lang="en-US" sz="2000" dirty="0"/>
          </a:p>
        </p:txBody>
      </p:sp>
      <p:sp>
        <p:nvSpPr>
          <p:cNvPr id="26" name="card"/>
          <p:cNvSpPr/>
          <p:nvPr/>
        </p:nvSpPr>
        <p:spPr>
          <a:xfrm>
            <a:off x="8554822" y="6858000"/>
            <a:ext cx="7274662" cy="301752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/>
        </p:spPr>
      </p:sp>
      <p:sp>
        <p:nvSpPr>
          <p:cNvPr id="27" name="icon disc"/>
          <p:cNvSpPr/>
          <p:nvPr/>
        </p:nvSpPr>
        <p:spPr>
          <a:xfrm>
            <a:off x="8920582" y="7178040"/>
            <a:ext cx="640080" cy="640080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0602" y="7338060"/>
            <a:ext cx="320040" cy="320040"/>
          </a:xfrm>
          <a:prstGeom prst="rect">
            <a:avLst/>
          </a:prstGeom>
        </p:spPr>
      </p:pic>
      <p:sp>
        <p:nvSpPr>
          <p:cNvPr id="29" name="value"/>
          <p:cNvSpPr txBox="1"/>
          <p:nvPr/>
        </p:nvSpPr>
        <p:spPr>
          <a:xfrm>
            <a:off x="9789262" y="7132320"/>
            <a:ext cx="57201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Документы под рукой</a:t>
            </a:r>
            <a:endParaRPr lang="en-US" sz="2200" dirty="0"/>
          </a:p>
        </p:txBody>
      </p:sp>
      <p:sp>
        <p:nvSpPr>
          <p:cNvPr id="30" name="value text"/>
          <p:cNvSpPr txBox="1"/>
          <p:nvPr/>
        </p:nvSpPr>
        <p:spPr>
          <a:xfrm>
            <a:off x="8920582" y="8138160"/>
            <a:ext cx="65431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Полис, билет, чек или QR-код можно сохранить и использовать, когда нет доступа к приложению или сети</a:t>
            </a:r>
            <a:endParaRPr lang="en-US" sz="2000" dirty="0"/>
          </a:p>
        </p:txBody>
      </p:sp>
      <p:sp>
        <p:nvSpPr>
          <p:cNvPr id="31" name="card"/>
          <p:cNvSpPr/>
          <p:nvPr/>
        </p:nvSpPr>
        <p:spPr>
          <a:xfrm>
            <a:off x="16103803" y="6858000"/>
            <a:ext cx="7274662" cy="301752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/>
        </p:spPr>
      </p:sp>
      <p:sp>
        <p:nvSpPr>
          <p:cNvPr id="32" name="icon disc"/>
          <p:cNvSpPr/>
          <p:nvPr/>
        </p:nvSpPr>
        <p:spPr>
          <a:xfrm>
            <a:off x="16469563" y="7178040"/>
            <a:ext cx="640080" cy="640080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29583" y="7338060"/>
            <a:ext cx="320040" cy="320040"/>
          </a:xfrm>
          <a:prstGeom prst="rect">
            <a:avLst/>
          </a:prstGeom>
        </p:spPr>
      </p:pic>
      <p:sp>
        <p:nvSpPr>
          <p:cNvPr id="34" name="value"/>
          <p:cNvSpPr txBox="1"/>
          <p:nvPr/>
        </p:nvSpPr>
        <p:spPr>
          <a:xfrm>
            <a:off x="17338243" y="7132320"/>
            <a:ext cx="57201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Помощь или предложение по действующей услуге</a:t>
            </a:r>
            <a:endParaRPr lang="en-US" sz="2200" dirty="0"/>
          </a:p>
        </p:txBody>
      </p:sp>
      <p:sp>
        <p:nvSpPr>
          <p:cNvPr id="35" name="value text"/>
          <p:cNvSpPr txBox="1"/>
          <p:nvPr/>
        </p:nvSpPr>
        <p:spPr>
          <a:xfrm>
            <a:off x="16469563" y="8138160"/>
            <a:ext cx="65431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Напомнить о продлении полиса или платеже; предложить скидку постоянному клиенту, а не только за первый заказ</a:t>
            </a:r>
            <a:endParaRPr lang="en-US" sz="20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10149840"/>
            <a:ext cx="22372625" cy="2788920"/>
          </a:xfrm>
          <a:prstGeom prst="rect">
            <a:avLst/>
          </a:prstGeom>
        </p:spPr>
      </p:pic>
      <p:sp>
        <p:nvSpPr>
          <p:cNvPr id="37" name="conclusion label"/>
          <p:cNvSpPr txBox="1"/>
          <p:nvPr/>
        </p:nvSpPr>
        <p:spPr>
          <a:xfrm>
            <a:off x="1554480" y="1040587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spc="15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СБЕРА:</a:t>
            </a:r>
            <a:endParaRPr lang="en-US" sz="2100" dirty="0"/>
          </a:p>
        </p:txBody>
      </p:sp>
      <p:sp>
        <p:nvSpPr>
          <p:cNvPr id="38" name="conclusion"/>
          <p:cNvSpPr txBox="1"/>
          <p:nvPr/>
        </p:nvSpPr>
        <p:spPr>
          <a:xfrm>
            <a:off x="1554480" y="11018520"/>
            <a:ext cx="68479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Коммерческий потенциал почты связан с уже существующей потребностью: 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предложение по знакомой услуге с понятной выгодой может стать поводом для покупки</a:t>
            </a:r>
            <a:endParaRPr lang="en-US" sz="1900" dirty="0"/>
          </a:p>
        </p:txBody>
      </p:sp>
      <p:sp>
        <p:nvSpPr>
          <p:cNvPr id="39" name="conclusion"/>
          <p:cNvSpPr txBox="1"/>
          <p:nvPr/>
        </p:nvSpPr>
        <p:spPr>
          <a:xfrm>
            <a:off x="8768182" y="11018520"/>
            <a:ext cx="68479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Условия для постоянных клиентов важны при повторном выборе сервиса: 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участники ждут напоминания о продлении и выгоды, которая поможет предпочесть Сбер конкурентам</a:t>
            </a:r>
            <a:endParaRPr lang="en-US" sz="1900" dirty="0"/>
          </a:p>
        </p:txBody>
      </p:sp>
      <p:sp>
        <p:nvSpPr>
          <p:cNvPr id="40" name="conclusion"/>
          <p:cNvSpPr txBox="1"/>
          <p:nvPr/>
        </p:nvSpPr>
        <p:spPr>
          <a:xfrm>
            <a:off x="15981883" y="11018520"/>
            <a:ext cx="68479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Вклад письма в продажу может быть шире прямых переходов: 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клиент может узнать о предложении из почты, а оформить его самостоятельно на сайте или в приложении. Оценка только по кликам может недооценивать роль канала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63040"/>
            <a:ext cx="2743200" cy="74980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94560" y="3108960"/>
            <a:ext cx="1828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chemeClr val="tx1"/>
                </a:solidFill>
              </a:rPr>
              <a:t>Гипотезы для проработки</a:t>
            </a:r>
            <a:endParaRPr lang="en-US" sz="9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ГИПОТЕЗЫ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Гипотезы для дальней проработки</a:t>
            </a:r>
            <a:endParaRPr lang="en-US" sz="4200" dirty="0"/>
          </a:p>
        </p:txBody>
      </p:sp>
      <p:sp>
        <p:nvSpPr>
          <p:cNvPr id="5" name="column head"/>
          <p:cNvSpPr txBox="1"/>
          <p:nvPr/>
        </p:nvSpPr>
        <p:spPr>
          <a:xfrm>
            <a:off x="1371600" y="260604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Гипотеза</a:t>
            </a:r>
            <a:endParaRPr lang="en-US" sz="1500" dirty="0"/>
          </a:p>
        </p:txBody>
      </p:sp>
      <p:sp>
        <p:nvSpPr>
          <p:cNvPr id="6" name="column head"/>
          <p:cNvSpPr txBox="1"/>
          <p:nvPr/>
        </p:nvSpPr>
        <p:spPr>
          <a:xfrm>
            <a:off x="1161288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Вариант проверки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154680"/>
            <a:ext cx="9326880" cy="2194560"/>
          </a:xfrm>
          <a:prstGeom prst="rect">
            <a:avLst/>
          </a:prstGeom>
        </p:spPr>
      </p:pic>
      <p:sp>
        <p:nvSpPr>
          <p:cNvPr id="8" name="icon disc"/>
          <p:cNvSpPr/>
          <p:nvPr/>
        </p:nvSpPr>
        <p:spPr>
          <a:xfrm>
            <a:off x="1371600" y="396849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332" y="4110228"/>
            <a:ext cx="283464" cy="283464"/>
          </a:xfrm>
          <a:prstGeom prst="rect">
            <a:avLst/>
          </a:prstGeom>
        </p:spPr>
      </p:pic>
      <p:sp>
        <p:nvSpPr>
          <p:cNvPr id="10" name="hypothesis"/>
          <p:cNvSpPr txBox="1"/>
          <p:nvPr/>
        </p:nvSpPr>
        <p:spPr>
          <a:xfrm>
            <a:off x="2194560" y="315468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Почта дает дополнительные продажи среди клиентов, слабо вовлеченных в другие каналы</a:t>
            </a:r>
            <a:endParaRPr lang="en-US" sz="2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4050792"/>
            <a:ext cx="402336" cy="402336"/>
          </a:xfrm>
          <a:prstGeom prst="rect">
            <a:avLst/>
          </a:prstGeom>
        </p:spPr>
      </p:pic>
      <p:sp>
        <p:nvSpPr>
          <p:cNvPr id="12" name="card"/>
          <p:cNvSpPr/>
          <p:nvPr/>
        </p:nvSpPr>
        <p:spPr>
          <a:xfrm>
            <a:off x="11521440" y="3154680"/>
            <a:ext cx="11857025" cy="2194560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/>
        </p:spPr>
      </p:sp>
      <p:sp>
        <p:nvSpPr>
          <p:cNvPr id="13" name="test"/>
          <p:cNvSpPr txBox="1"/>
          <p:nvPr/>
        </p:nvSpPr>
        <p:spPr>
          <a:xfrm>
            <a:off x="11978640" y="3154680"/>
            <a:ext cx="1094262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Выделить клиентов, которые редко используют приложение, но взаимодействуют с почтой. Сравнить текущую коммуникацию с добавлением письма и без него</a:t>
            </a:r>
            <a:endParaRPr lang="en-US" sz="2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532120"/>
            <a:ext cx="9326880" cy="2194560"/>
          </a:xfrm>
          <a:prstGeom prst="rect">
            <a:avLst/>
          </a:prstGeom>
        </p:spPr>
      </p:pic>
      <p:sp>
        <p:nvSpPr>
          <p:cNvPr id="15" name="icon disc"/>
          <p:cNvSpPr/>
          <p:nvPr/>
        </p:nvSpPr>
        <p:spPr>
          <a:xfrm>
            <a:off x="1371600" y="634593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332" y="6487668"/>
            <a:ext cx="283464" cy="283464"/>
          </a:xfrm>
          <a:prstGeom prst="rect">
            <a:avLst/>
          </a:prstGeom>
        </p:spPr>
      </p:pic>
      <p:sp>
        <p:nvSpPr>
          <p:cNvPr id="17" name="hypothesis"/>
          <p:cNvSpPr txBox="1"/>
          <p:nvPr/>
        </p:nvSpPr>
        <p:spPr>
          <a:xfrm>
            <a:off x="2194560" y="553212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Личный расчет выгоды в письме помогает завершить выбор продукта</a:t>
            </a:r>
            <a:endParaRPr lang="en-US" sz="25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480" y="6428232"/>
            <a:ext cx="402336" cy="402336"/>
          </a:xfrm>
          <a:prstGeom prst="rect">
            <a:avLst/>
          </a:prstGeom>
        </p:spPr>
      </p:pic>
      <p:sp>
        <p:nvSpPr>
          <p:cNvPr id="19" name="card"/>
          <p:cNvSpPr/>
          <p:nvPr/>
        </p:nvSpPr>
        <p:spPr>
          <a:xfrm>
            <a:off x="11521440" y="5532120"/>
            <a:ext cx="11857025" cy="2194560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/>
        </p:spPr>
      </p:sp>
      <p:sp>
        <p:nvSpPr>
          <p:cNvPr id="20" name="test"/>
          <p:cNvSpPr txBox="1"/>
          <p:nvPr/>
        </p:nvSpPr>
        <p:spPr>
          <a:xfrm>
            <a:off x="11978640" y="5532120"/>
            <a:ext cx="1094262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Для продукта, требующего обдумывания, сравнить действующее письмо с персональным расчетом: что клиент получит, сколько заплатит, какие условия важны</a:t>
            </a:r>
            <a:endParaRPr lang="en-US" sz="22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7909560"/>
            <a:ext cx="9326880" cy="2194560"/>
          </a:xfrm>
          <a:prstGeom prst="rect">
            <a:avLst/>
          </a:prstGeom>
        </p:spPr>
      </p:pic>
      <p:sp>
        <p:nvSpPr>
          <p:cNvPr id="22" name="icon disc"/>
          <p:cNvSpPr/>
          <p:nvPr/>
        </p:nvSpPr>
        <p:spPr>
          <a:xfrm>
            <a:off x="1371600" y="872337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3332" y="8865108"/>
            <a:ext cx="283464" cy="283464"/>
          </a:xfrm>
          <a:prstGeom prst="rect">
            <a:avLst/>
          </a:prstGeom>
        </p:spPr>
      </p:pic>
      <p:sp>
        <p:nvSpPr>
          <p:cNvPr id="24" name="hypothesis"/>
          <p:cNvSpPr txBox="1"/>
          <p:nvPr/>
        </p:nvSpPr>
        <p:spPr>
          <a:xfrm>
            <a:off x="2194560" y="790956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Письма по используемым услугам могут стать точкой дополнительных продаж</a:t>
            </a:r>
            <a:endParaRPr lang="en-US" sz="25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8480" y="8805672"/>
            <a:ext cx="402336" cy="402336"/>
          </a:xfrm>
          <a:prstGeom prst="rect">
            <a:avLst/>
          </a:prstGeom>
        </p:spPr>
      </p:pic>
      <p:sp>
        <p:nvSpPr>
          <p:cNvPr id="26" name="card"/>
          <p:cNvSpPr/>
          <p:nvPr/>
        </p:nvSpPr>
        <p:spPr>
          <a:xfrm>
            <a:off x="11521440" y="7909560"/>
            <a:ext cx="11857025" cy="2194560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/>
        </p:spPr>
      </p:sp>
      <p:sp>
        <p:nvSpPr>
          <p:cNvPr id="27" name="test"/>
          <p:cNvSpPr txBox="1"/>
          <p:nvPr/>
        </p:nvSpPr>
        <p:spPr>
          <a:xfrm>
            <a:off x="11978640" y="7909560"/>
            <a:ext cx="1094262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Проверить предложение, связанное с текущей задачей клиента: например, дополнительное покрытие при продлении страховки. Сравнить с текущей коммуникацией без такого предложения</a:t>
            </a:r>
            <a:endParaRPr lang="en-US" sz="22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10287000"/>
            <a:ext cx="9326880" cy="2194560"/>
          </a:xfrm>
          <a:prstGeom prst="rect">
            <a:avLst/>
          </a:prstGeom>
        </p:spPr>
      </p:pic>
      <p:sp>
        <p:nvSpPr>
          <p:cNvPr id="29" name="icon disc"/>
          <p:cNvSpPr/>
          <p:nvPr/>
        </p:nvSpPr>
        <p:spPr>
          <a:xfrm>
            <a:off x="1371600" y="111008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3332" y="11242548"/>
            <a:ext cx="283464" cy="283464"/>
          </a:xfrm>
          <a:prstGeom prst="rect">
            <a:avLst/>
          </a:prstGeom>
        </p:spPr>
      </p:pic>
      <p:sp>
        <p:nvSpPr>
          <p:cNvPr id="31" name="hypothesis"/>
          <p:cNvSpPr txBox="1"/>
          <p:nvPr/>
        </p:nvSpPr>
        <p:spPr>
          <a:xfrm>
            <a:off x="2194560" y="1028700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Подписка на конкретную тему и пользу вовлекает клиентов, игнорирующих общие рассылки</a:t>
            </a:r>
            <a:endParaRPr lang="en-US" sz="25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98480" y="11183112"/>
            <a:ext cx="402336" cy="402336"/>
          </a:xfrm>
          <a:prstGeom prst="rect">
            <a:avLst/>
          </a:prstGeom>
        </p:spPr>
      </p:pic>
      <p:sp>
        <p:nvSpPr>
          <p:cNvPr id="33" name="card"/>
          <p:cNvSpPr/>
          <p:nvPr/>
        </p:nvSpPr>
        <p:spPr>
          <a:xfrm>
            <a:off x="11521440" y="10287000"/>
            <a:ext cx="11857025" cy="2194560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/>
        </p:spPr>
      </p:sp>
      <p:sp>
        <p:nvSpPr>
          <p:cNvPr id="34" name="test"/>
          <p:cNvSpPr txBox="1"/>
          <p:nvPr/>
        </p:nvSpPr>
        <p:spPr>
          <a:xfrm>
            <a:off x="11978640" y="10287000"/>
            <a:ext cx="1094262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Части неактивной почтовой базы предложить выбрать интересующую тему и получать соответствующие предложения. Сравнить всю приглашенную группу с контрольной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ИИ В КОММУНИКАЦИЯХ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Гипотезы для дальней проработки</a:t>
            </a:r>
            <a:endParaRPr lang="en-US" sz="4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97480"/>
            <a:ext cx="22372625" cy="1645920"/>
          </a:xfrm>
          <a:prstGeom prst="rect">
            <a:avLst/>
          </a:prstGeom>
        </p:spPr>
      </p:pic>
      <p:sp>
        <p:nvSpPr>
          <p:cNvPr id="6" name="key statement"/>
          <p:cNvSpPr txBox="1"/>
          <p:nvPr/>
        </p:nvSpPr>
        <p:spPr>
          <a:xfrm>
            <a:off x="1645920" y="2697480"/>
            <a:ext cx="2109246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chemeClr val="bg1"/>
                </a:solidFill>
              </a:rPr>
              <a:t>Основание из исследования: </a:t>
            </a:r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chemeClr val="bg1"/>
                </a:solidFill>
              </a:rPr>
              <a:t>общие предложения игнорируют. Интерес вызывают письма по своим продуктам, советы по ситуации клиента и понятный следующий шаг</a:t>
            </a:r>
            <a:endParaRPr lang="en-US" sz="2600" dirty="0"/>
          </a:p>
        </p:txBody>
      </p:sp>
      <p:sp>
        <p:nvSpPr>
          <p:cNvPr id="7" name="card"/>
          <p:cNvSpPr/>
          <p:nvPr/>
        </p:nvSpPr>
        <p:spPr>
          <a:xfrm>
            <a:off x="1005840" y="4617720"/>
            <a:ext cx="7213702" cy="8321040"/>
          </a:xfrm>
          <a:prstGeom prst="roundRect">
            <a:avLst>
              <a:gd name="adj" fmla="val 3803"/>
            </a:avLst>
          </a:prstGeom>
          <a:solidFill>
            <a:srgbClr val="F4F7FC"/>
          </a:solidFill>
          <a:ln/>
        </p:spPr>
      </p:sp>
      <p:sp>
        <p:nvSpPr>
          <p:cNvPr id="8" name="icon disc"/>
          <p:cNvSpPr/>
          <p:nvPr/>
        </p:nvSpPr>
        <p:spPr>
          <a:xfrm>
            <a:off x="1508760" y="5120640"/>
            <a:ext cx="914400" cy="914400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5349240"/>
            <a:ext cx="457200" cy="457200"/>
          </a:xfrm>
          <a:prstGeom prst="rect">
            <a:avLst/>
          </a:prstGeom>
        </p:spPr>
      </p:pic>
      <p:sp>
        <p:nvSpPr>
          <p:cNvPr id="10" name="idea title"/>
          <p:cNvSpPr txBox="1"/>
          <p:nvPr/>
        </p:nvSpPr>
        <p:spPr>
          <a:xfrm>
            <a:off x="1508760" y="6400800"/>
            <a:ext cx="620786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Объяснять изменения по продукту</a:t>
            </a:r>
            <a:endParaRPr lang="en-US" sz="3300" dirty="0"/>
          </a:p>
        </p:txBody>
      </p:sp>
      <p:sp>
        <p:nvSpPr>
          <p:cNvPr id="11" name="idea role"/>
          <p:cNvSpPr txBox="1"/>
          <p:nvPr/>
        </p:nvSpPr>
        <p:spPr>
          <a:xfrm>
            <a:off x="1508760" y="8229600"/>
            <a:ext cx="620786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На основе актуальных условий готовить краткое объяснение: что изменилось для клиента и какое действие доступно</a:t>
            </a:r>
            <a:endParaRPr lang="en-US" sz="2500" dirty="0"/>
          </a:p>
        </p:txBody>
      </p:sp>
      <p:sp>
        <p:nvSpPr>
          <p:cNvPr id="12" name="card"/>
          <p:cNvSpPr/>
          <p:nvPr/>
        </p:nvSpPr>
        <p:spPr>
          <a:xfrm>
            <a:off x="1280160" y="10835640"/>
            <a:ext cx="6665062" cy="1828800"/>
          </a:xfrm>
          <a:prstGeom prst="roundRect">
            <a:avLst>
              <a:gd name="adj" fmla="val 12500"/>
            </a:avLst>
          </a:prstGeom>
          <a:solidFill>
            <a:srgbClr val="E3F3E7"/>
          </a:solidFill>
          <a:ln/>
        </p:spPr>
      </p:sp>
      <p:sp>
        <p:nvSpPr>
          <p:cNvPr id="13" name="example"/>
          <p:cNvSpPr txBox="1"/>
          <p:nvPr/>
        </p:nvSpPr>
        <p:spPr>
          <a:xfrm>
            <a:off x="1554480" y="10835640"/>
            <a:ext cx="611642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</a:rPr>
              <a:t>Пример: что меняется при продлении полиса</a:t>
            </a:r>
            <a:endParaRPr lang="en-US" sz="2200" dirty="0"/>
          </a:p>
        </p:txBody>
      </p:sp>
      <p:sp>
        <p:nvSpPr>
          <p:cNvPr id="14" name="card"/>
          <p:cNvSpPr/>
          <p:nvPr/>
        </p:nvSpPr>
        <p:spPr>
          <a:xfrm>
            <a:off x="8585302" y="4617720"/>
            <a:ext cx="7213702" cy="8321040"/>
          </a:xfrm>
          <a:prstGeom prst="roundRect">
            <a:avLst>
              <a:gd name="adj" fmla="val 3803"/>
            </a:avLst>
          </a:prstGeom>
          <a:solidFill>
            <a:srgbClr val="F4F7FC"/>
          </a:solidFill>
          <a:ln/>
        </p:spPr>
      </p:sp>
      <p:sp>
        <p:nvSpPr>
          <p:cNvPr id="15" name="icon disc"/>
          <p:cNvSpPr/>
          <p:nvPr/>
        </p:nvSpPr>
        <p:spPr>
          <a:xfrm>
            <a:off x="9088222" y="5120640"/>
            <a:ext cx="914400" cy="914400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6822" y="5349240"/>
            <a:ext cx="457200" cy="457200"/>
          </a:xfrm>
          <a:prstGeom prst="rect">
            <a:avLst/>
          </a:prstGeom>
        </p:spPr>
      </p:pic>
      <p:sp>
        <p:nvSpPr>
          <p:cNvPr id="17" name="idea title"/>
          <p:cNvSpPr txBox="1"/>
          <p:nvPr/>
        </p:nvSpPr>
        <p:spPr>
          <a:xfrm>
            <a:off x="9088222" y="6400800"/>
            <a:ext cx="620786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Давать совет по ситуации клиента</a:t>
            </a:r>
            <a:endParaRPr lang="en-US" sz="3300" dirty="0"/>
          </a:p>
        </p:txBody>
      </p:sp>
      <p:sp>
        <p:nvSpPr>
          <p:cNvPr id="18" name="idea role"/>
          <p:cNvSpPr txBox="1"/>
          <p:nvPr/>
        </p:nvSpPr>
        <p:spPr>
          <a:xfrm>
            <a:off x="9088222" y="8229600"/>
            <a:ext cx="620786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Учитывать траты и текущие продукты, объяснять доступную выгоду и предлагать следующий шаг</a:t>
            </a:r>
            <a:endParaRPr lang="en-US" sz="2500" dirty="0"/>
          </a:p>
        </p:txBody>
      </p:sp>
      <p:sp>
        <p:nvSpPr>
          <p:cNvPr id="19" name="card"/>
          <p:cNvSpPr/>
          <p:nvPr/>
        </p:nvSpPr>
        <p:spPr>
          <a:xfrm>
            <a:off x="8859622" y="10835640"/>
            <a:ext cx="6665062" cy="1828800"/>
          </a:xfrm>
          <a:prstGeom prst="roundRect">
            <a:avLst>
              <a:gd name="adj" fmla="val 12500"/>
            </a:avLst>
          </a:prstGeom>
          <a:solidFill>
            <a:srgbClr val="E3F3E7"/>
          </a:solidFill>
          <a:ln/>
        </p:spPr>
      </p:sp>
      <p:sp>
        <p:nvSpPr>
          <p:cNvPr id="20" name="example"/>
          <p:cNvSpPr txBox="1"/>
          <p:nvPr/>
        </p:nvSpPr>
        <p:spPr>
          <a:xfrm>
            <a:off x="9133942" y="10835640"/>
            <a:ext cx="611642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</a:rPr>
              <a:t>Пример: какие категории кешбэка стоит рассмотреть</a:t>
            </a:r>
            <a:endParaRPr lang="en-US" sz="2200" dirty="0"/>
          </a:p>
        </p:txBody>
      </p:sp>
      <p:sp>
        <p:nvSpPr>
          <p:cNvPr id="21" name="card"/>
          <p:cNvSpPr/>
          <p:nvPr/>
        </p:nvSpPr>
        <p:spPr>
          <a:xfrm>
            <a:off x="16164763" y="4617720"/>
            <a:ext cx="7213702" cy="8321040"/>
          </a:xfrm>
          <a:prstGeom prst="roundRect">
            <a:avLst>
              <a:gd name="adj" fmla="val 3803"/>
            </a:avLst>
          </a:prstGeom>
          <a:solidFill>
            <a:srgbClr val="F4F7FC"/>
          </a:solidFill>
          <a:ln/>
        </p:spPr>
      </p:sp>
      <p:sp>
        <p:nvSpPr>
          <p:cNvPr id="22" name="icon disc"/>
          <p:cNvSpPr/>
          <p:nvPr/>
        </p:nvSpPr>
        <p:spPr>
          <a:xfrm>
            <a:off x="16667683" y="5120640"/>
            <a:ext cx="914400" cy="914400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6283" y="5349240"/>
            <a:ext cx="457200" cy="457200"/>
          </a:xfrm>
          <a:prstGeom prst="rect">
            <a:avLst/>
          </a:prstGeom>
        </p:spPr>
      </p:pic>
      <p:sp>
        <p:nvSpPr>
          <p:cNvPr id="24" name="idea title"/>
          <p:cNvSpPr txBox="1"/>
          <p:nvPr/>
        </p:nvSpPr>
        <p:spPr>
          <a:xfrm>
            <a:off x="16667683" y="6400800"/>
            <a:ext cx="620786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Продолжать письмо в диалоге</a:t>
            </a:r>
            <a:endParaRPr lang="en-US" sz="3300" dirty="0"/>
          </a:p>
        </p:txBody>
      </p:sp>
      <p:sp>
        <p:nvSpPr>
          <p:cNvPr id="25" name="idea role"/>
          <p:cNvSpPr txBox="1"/>
          <p:nvPr/>
        </p:nvSpPr>
        <p:spPr>
          <a:xfrm>
            <a:off x="16667683" y="8229600"/>
            <a:ext cx="620786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Передавать тему письма помощнику в приложении, чтобы клиент мог уточнить условия и получить инструкцию</a:t>
            </a:r>
            <a:endParaRPr lang="en-US" sz="2500" dirty="0"/>
          </a:p>
        </p:txBody>
      </p:sp>
      <p:sp>
        <p:nvSpPr>
          <p:cNvPr id="26" name="card"/>
          <p:cNvSpPr/>
          <p:nvPr/>
        </p:nvSpPr>
        <p:spPr>
          <a:xfrm>
            <a:off x="16439083" y="10835640"/>
            <a:ext cx="6665062" cy="1828800"/>
          </a:xfrm>
          <a:prstGeom prst="roundRect">
            <a:avLst>
              <a:gd name="adj" fmla="val 12500"/>
            </a:avLst>
          </a:prstGeom>
          <a:solidFill>
            <a:srgbClr val="E3F3E7"/>
          </a:solidFill>
          <a:ln/>
        </p:spPr>
      </p:sp>
      <p:sp>
        <p:nvSpPr>
          <p:cNvPr id="27" name="example"/>
          <p:cNvSpPr txBox="1"/>
          <p:nvPr/>
        </p:nvSpPr>
        <p:spPr>
          <a:xfrm>
            <a:off x="16713403" y="10835640"/>
            <a:ext cx="611642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</a:rPr>
              <a:t>Пример: «Как воспользоваться предложением из письма?»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1289304"/>
            <a:ext cx="2743200" cy="749808"/>
          </a:xfrm>
          <a:prstGeom prst="rect">
            <a:avLst/>
          </a:prstGeom>
        </p:spPr>
      </p:pic>
      <p:sp>
        <p:nvSpPr>
          <p:cNvPr id="3" name="decor circle"/>
          <p:cNvSpPr/>
          <p:nvPr/>
        </p:nvSpPr>
        <p:spPr>
          <a:xfrm>
            <a:off x="15087600" y="2377440"/>
            <a:ext cx="10058400" cy="10058400"/>
          </a:xfrm>
          <a:prstGeom prst="ellipse">
            <a:avLst/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4" name="decor circle"/>
          <p:cNvSpPr/>
          <p:nvPr/>
        </p:nvSpPr>
        <p:spPr>
          <a:xfrm>
            <a:off x="17922240" y="5394960"/>
            <a:ext cx="6583680" cy="6583680"/>
          </a:xfrm>
          <a:prstGeom prst="ellipse">
            <a:avLst/>
          </a:prstGeom>
          <a:solidFill>
            <a:schemeClr val="accent5">
              <a:alpha val="20000"/>
            </a:schemeClr>
          </a:solidFill>
          <a:ln/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517904" y="4023360"/>
            <a:ext cx="18288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0" b="1" dirty="0">
                <a:solidFill>
                  <a:schemeClr val="bg1"/>
                </a:solidFill>
              </a:rPr>
              <a:t>Спасибо</a:t>
            </a:r>
            <a:endParaRPr lang="en-US" sz="13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3000" b="1" dirty="0">
                <a:solidFill>
                  <a:schemeClr val="bg1"/>
                </a:solidFill>
              </a:rPr>
              <a:t>за внимание!</a:t>
            </a:r>
            <a:endParaRPr lang="en-US" sz="13000" dirty="0"/>
          </a:p>
        </p:txBody>
      </p:sp>
      <p:sp>
        <p:nvSpPr>
          <p:cNvPr id="6" name="footer"/>
          <p:cNvSpPr txBox="1"/>
          <p:nvPr/>
        </p:nvSpPr>
        <p:spPr>
          <a:xfrm>
            <a:off x="1517904" y="113385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bg1"/>
                </a:solidFill>
              </a:rPr>
              <a:t>ДМиК. Стратегический маркетинг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</a:rPr>
              <a:t>Сентябрь 2026</a:t>
            </a:r>
            <a:endParaRPr lang="en-US" sz="2200" dirty="0"/>
          </a:p>
        </p:txBody>
      </p:sp>
      <p:sp>
        <p:nvSpPr>
          <p:cNvPr id="7" name="footer"/>
          <p:cNvSpPr txBox="1"/>
          <p:nvPr/>
        </p:nvSpPr>
        <p:spPr>
          <a:xfrm>
            <a:off x="10972800" y="113385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bg1"/>
                </a:solidFill>
              </a:rPr>
              <a:t>ПАО Сбербанк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</a:rPr>
              <a:t>Строго для внутреннего использования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63040"/>
            <a:ext cx="2743200" cy="74980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94560" y="3108960"/>
            <a:ext cx="1828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chemeClr val="tx1"/>
                </a:solidFill>
              </a:rPr>
              <a:t>Приложение</a:t>
            </a:r>
            <a:endParaRPr lang="en-US" sz="9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Банковские приложения – основной канал получения информации от банков. Email рассылки от банков практически не читают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017520"/>
            <a:ext cx="12070080" cy="1566164"/>
          </a:xfrm>
          <a:prstGeom prst="rect">
            <a:avLst/>
          </a:prstGeom>
        </p:spPr>
      </p:pic>
      <p:sp>
        <p:nvSpPr>
          <p:cNvPr id="4" name="key statement"/>
          <p:cNvSpPr txBox="1"/>
          <p:nvPr/>
        </p:nvSpPr>
        <p:spPr>
          <a:xfrm>
            <a:off x="1554480" y="3017520"/>
            <a:ext cx="11155680" cy="1566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bg1"/>
                </a:solidFill>
              </a:rPr>
              <a:t>Гипотеза о том, что потребители не читают рассылки из банков, подтвердилась.</a:t>
            </a:r>
            <a:endParaRPr lang="en-US" sz="2200" dirty="0"/>
          </a:p>
        </p:txBody>
      </p:sp>
      <p:sp>
        <p:nvSpPr>
          <p:cNvPr id="5" name="text"/>
          <p:cNvSpPr txBox="1"/>
          <p:nvPr/>
        </p:nvSpPr>
        <p:spPr>
          <a:xfrm>
            <a:off x="1097280" y="5037963"/>
            <a:ext cx="12070080" cy="76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Большинство потребителей действительно практически не читает писем и рассылок из банка:</a:t>
            </a:r>
            <a:endParaRPr lang="en-US" sz="2000" dirty="0"/>
          </a:p>
        </p:txBody>
      </p:sp>
      <p:sp>
        <p:nvSpPr>
          <p:cNvPr id="6" name="icon disc"/>
          <p:cNvSpPr/>
          <p:nvPr/>
        </p:nvSpPr>
        <p:spPr>
          <a:xfrm>
            <a:off x="1097280" y="6286754"/>
            <a:ext cx="585216" cy="585216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6433058"/>
            <a:ext cx="292608" cy="292608"/>
          </a:xfrm>
          <a:prstGeom prst="rect">
            <a:avLst/>
          </a:prstGeom>
        </p:spPr>
      </p:pic>
      <p:sp>
        <p:nvSpPr>
          <p:cNvPr id="8" name="point"/>
          <p:cNvSpPr txBox="1"/>
          <p:nvPr/>
        </p:nvSpPr>
        <p:spPr>
          <a:xfrm>
            <a:off x="2048256" y="6259322"/>
            <a:ext cx="11119104" cy="178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Банковские приложения - более официальный, надежный и удобный канал. 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Информацию о новых продуктах и услугах, о состоянии счета, изменениях в условиях обслуживания и т.п. привычнее и удобнее получать через приложение. Кроме того, информация в приложении, в отличие от рассылок, воспринимается как более точная и персонализированная.</a:t>
            </a:r>
            <a:endParaRPr lang="en-US" sz="2000" dirty="0"/>
          </a:p>
        </p:txBody>
      </p:sp>
      <p:sp>
        <p:nvSpPr>
          <p:cNvPr id="9" name="icon disc"/>
          <p:cNvSpPr/>
          <p:nvPr/>
        </p:nvSpPr>
        <p:spPr>
          <a:xfrm>
            <a:off x="1097280" y="8521573"/>
            <a:ext cx="585216" cy="585216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8667877"/>
            <a:ext cx="292608" cy="292608"/>
          </a:xfrm>
          <a:prstGeom prst="rect">
            <a:avLst/>
          </a:prstGeom>
        </p:spPr>
      </p:pic>
      <p:sp>
        <p:nvSpPr>
          <p:cNvPr id="11" name="point"/>
          <p:cNvSpPr txBox="1"/>
          <p:nvPr/>
        </p:nvSpPr>
        <p:spPr>
          <a:xfrm>
            <a:off x="2048256" y="8494141"/>
            <a:ext cx="11119104" cy="2118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Потребители предпочитают, чтобы инициатива исходила от них, а не от банка. 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Большая часть рассылок от банка оценивается как не актуальная, не своевременная, выгодная не потребителям, а банку. Поэтому рассылки воспринимают как навязывание ненужных услуг и продуктов. В случае интереса к продуктам или услугам банка предпочитают сами обращаться в банк через приложение, сайт или офис.</a:t>
            </a:r>
            <a:endParaRPr lang="en-US" sz="2000" dirty="0"/>
          </a:p>
        </p:txBody>
      </p:sp>
      <p:sp>
        <p:nvSpPr>
          <p:cNvPr id="12" name="icon disc"/>
          <p:cNvSpPr/>
          <p:nvPr/>
        </p:nvSpPr>
        <p:spPr>
          <a:xfrm>
            <a:off x="1097280" y="11094212"/>
            <a:ext cx="585216" cy="585216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11240516"/>
            <a:ext cx="292608" cy="292608"/>
          </a:xfrm>
          <a:prstGeom prst="rect">
            <a:avLst/>
          </a:prstGeom>
        </p:spPr>
      </p:pic>
      <p:sp>
        <p:nvSpPr>
          <p:cNvPr id="14" name="point"/>
          <p:cNvSpPr txBox="1"/>
          <p:nvPr/>
        </p:nvSpPr>
        <p:spPr>
          <a:xfrm>
            <a:off x="2048256" y="11066780"/>
            <a:ext cx="11119104" cy="178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Частота, объем и качество информации от банков не соответствует потребностям аудитории. 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Есть ощущение, что среди рассылок абсолютное большинство информации – не нужная, а какие-то действительно полезные или важные сообщения просто теряются в таком потоке. Массовость рассылок снижает их релевантность, т.к. очень редко «попадает» в интересы потребителей.</a:t>
            </a:r>
            <a:endParaRPr lang="en-US" sz="2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70280" y="2926080"/>
            <a:ext cx="9708185" cy="2690654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81185" y="4519454"/>
            <a:ext cx="777240" cy="777240"/>
          </a:xfrm>
          <a:prstGeom prst="rect">
            <a:avLst/>
          </a:prstGeom>
        </p:spPr>
      </p:pic>
      <p:sp>
        <p:nvSpPr>
          <p:cNvPr id="17" name="quote text"/>
          <p:cNvSpPr txBox="1"/>
          <p:nvPr/>
        </p:nvSpPr>
        <p:spPr>
          <a:xfrm>
            <a:off x="14081760" y="3291840"/>
            <a:ext cx="8885225" cy="139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Раньше не было приложений, на почту приходили выписки из банка. Сейчас в этом нет необходимости. И большую часть того, что присылают по рассылках, людям это не нужно, потому что оно слишком общее. Я не хочу, чтобы мне слали информацию, которая мне не нужна, потому что так информации дофига»</a:t>
            </a:r>
            <a:endParaRPr lang="en-US" sz="1700" dirty="0"/>
          </a:p>
        </p:txBody>
      </p:sp>
      <p:sp>
        <p:nvSpPr>
          <p:cNvPr id="18" name="card"/>
          <p:cNvSpPr/>
          <p:nvPr/>
        </p:nvSpPr>
        <p:spPr>
          <a:xfrm>
            <a:off x="14081760" y="4958366"/>
            <a:ext cx="23545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attribution"/>
          <p:cNvSpPr txBox="1"/>
          <p:nvPr/>
        </p:nvSpPr>
        <p:spPr>
          <a:xfrm>
            <a:off x="14081760" y="4958366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(45-55, Москва)</a:t>
            </a:r>
            <a:endParaRPr lang="en-US" sz="15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70280" y="5845334"/>
            <a:ext cx="9708185" cy="2403507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81185" y="7151561"/>
            <a:ext cx="777240" cy="777240"/>
          </a:xfrm>
          <a:prstGeom prst="rect">
            <a:avLst/>
          </a:prstGeom>
        </p:spPr>
      </p:pic>
      <p:sp>
        <p:nvSpPr>
          <p:cNvPr id="22" name="quote text"/>
          <p:cNvSpPr txBox="1"/>
          <p:nvPr/>
        </p:nvSpPr>
        <p:spPr>
          <a:xfrm>
            <a:off x="14081760" y="6211094"/>
            <a:ext cx="8885225" cy="110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«Банк - это высокой степени серьезности инстанция. И ждать от него важную информацию к себе на почту, а не через профильное приложение, мы не привыкли»</a:t>
            </a:r>
            <a:endParaRPr lang="en-US" sz="1700" dirty="0"/>
          </a:p>
        </p:txBody>
      </p:sp>
      <p:sp>
        <p:nvSpPr>
          <p:cNvPr id="23" name="card"/>
          <p:cNvSpPr/>
          <p:nvPr/>
        </p:nvSpPr>
        <p:spPr>
          <a:xfrm>
            <a:off x="14081760" y="7590473"/>
            <a:ext cx="23545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4" name="attribution"/>
          <p:cNvSpPr txBox="1"/>
          <p:nvPr/>
        </p:nvSpPr>
        <p:spPr>
          <a:xfrm>
            <a:off x="14081760" y="7590473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(30-44, Москва)</a:t>
            </a:r>
            <a:endParaRPr lang="en-US" sz="15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70280" y="8477441"/>
            <a:ext cx="9708185" cy="2116360"/>
          </a:xfrm>
          <a:prstGeom prst="rect">
            <a:avLst/>
          </a:prstGeom>
        </p:spPr>
      </p:pic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281185" y="9496520"/>
            <a:ext cx="777240" cy="777240"/>
          </a:xfrm>
          <a:prstGeom prst="rect">
            <a:avLst/>
          </a:prstGeom>
        </p:spPr>
      </p:pic>
      <p:sp>
        <p:nvSpPr>
          <p:cNvPr id="27" name="quote text"/>
          <p:cNvSpPr txBox="1"/>
          <p:nvPr/>
        </p:nvSpPr>
        <p:spPr>
          <a:xfrm>
            <a:off x="14081760" y="8843201"/>
            <a:ext cx="8885225" cy="81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«У меня всё, что мне нужно, присылает приложение уведомлением. Если что-то важное, я через приложение зайду, почитаю. А почту смысл читать?»</a:t>
            </a:r>
            <a:endParaRPr lang="en-US" sz="1700" dirty="0"/>
          </a:p>
        </p:txBody>
      </p:sp>
      <p:sp>
        <p:nvSpPr>
          <p:cNvPr id="28" name="card"/>
          <p:cNvSpPr/>
          <p:nvPr/>
        </p:nvSpPr>
        <p:spPr>
          <a:xfrm>
            <a:off x="14081760" y="9935432"/>
            <a:ext cx="2125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9" name="attribution"/>
          <p:cNvSpPr txBox="1"/>
          <p:nvPr/>
        </p:nvSpPr>
        <p:spPr>
          <a:xfrm>
            <a:off x="14081760" y="9935432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(30-44, Екат)</a:t>
            </a:r>
            <a:endParaRPr lang="en-US" sz="15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70280" y="10822400"/>
            <a:ext cx="9708185" cy="2116360"/>
          </a:xfrm>
          <a:prstGeom prst="rect">
            <a:avLst/>
          </a:prstGeom>
        </p:spPr>
      </p:pic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81185" y="11841480"/>
            <a:ext cx="777240" cy="777240"/>
          </a:xfrm>
          <a:prstGeom prst="rect">
            <a:avLst/>
          </a:prstGeom>
        </p:spPr>
      </p:pic>
      <p:sp>
        <p:nvSpPr>
          <p:cNvPr id="32" name="quote text"/>
          <p:cNvSpPr txBox="1"/>
          <p:nvPr/>
        </p:nvSpPr>
        <p:spPr>
          <a:xfrm>
            <a:off x="14081760" y="11188160"/>
            <a:ext cx="8885225" cy="81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«На рассылки от банков не реагирую, потому что там скидывают и кредиты, и сплиты, и рассрочки ОЗОН. Я этим всем не пользуюсь, поэтому неинтересно»</a:t>
            </a:r>
            <a:endParaRPr lang="en-US" sz="1700" dirty="0"/>
          </a:p>
        </p:txBody>
      </p:sp>
      <p:sp>
        <p:nvSpPr>
          <p:cNvPr id="33" name="card"/>
          <p:cNvSpPr/>
          <p:nvPr/>
        </p:nvSpPr>
        <p:spPr>
          <a:xfrm>
            <a:off x="14081760" y="12280392"/>
            <a:ext cx="23545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attribution"/>
          <p:cNvSpPr txBox="1"/>
          <p:nvPr/>
        </p:nvSpPr>
        <p:spPr>
          <a:xfrm>
            <a:off x="14081760" y="12280392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(20-29, Москва)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Из всей массы рассылок от Сбера потребители просматривают письма с информацией о текущих продуктах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926080"/>
            <a:ext cx="10058400" cy="4023360"/>
          </a:xfrm>
          <a:prstGeom prst="rect">
            <a:avLst/>
          </a:prstGeom>
        </p:spPr>
      </p:pic>
      <p:sp>
        <p:nvSpPr>
          <p:cNvPr id="4" name="key statement"/>
          <p:cNvSpPr txBox="1"/>
          <p:nvPr/>
        </p:nvSpPr>
        <p:spPr>
          <a:xfrm>
            <a:off x="1554480" y="2926080"/>
            <a:ext cx="8961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</a:rPr>
              <a:t>Потребители все же просматривают письма от банка, связанные с используемыми в данный момент продуктами или услугами Сбера - например, о приближающихся сроках оплаты кредита, или об изменениях условий обслуживания по счету, о начислении дивидендов и т.п.</a:t>
            </a:r>
            <a:endParaRPr lang="en-US" sz="2400" dirty="0"/>
          </a:p>
        </p:txBody>
      </p:sp>
      <p:sp>
        <p:nvSpPr>
          <p:cNvPr id="5" name="icon disc"/>
          <p:cNvSpPr/>
          <p:nvPr/>
        </p:nvSpPr>
        <p:spPr>
          <a:xfrm>
            <a:off x="11475720" y="3063240"/>
            <a:ext cx="585216" cy="58521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2024" y="3209544"/>
            <a:ext cx="292608" cy="292608"/>
          </a:xfrm>
          <a:prstGeom prst="rect">
            <a:avLst/>
          </a:prstGeom>
        </p:spPr>
      </p:pic>
      <p:sp>
        <p:nvSpPr>
          <p:cNvPr id="7" name="point"/>
          <p:cNvSpPr txBox="1"/>
          <p:nvPr/>
        </p:nvSpPr>
        <p:spPr>
          <a:xfrm>
            <a:off x="12390120" y="3017520"/>
            <a:ext cx="10988345" cy="1160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Среди общей массы рассылок обращают внимание на эти письма благодаря теме письма, в которой указан конкретный продукт и предмет письма (например, изменение условий по вкладам).</a:t>
            </a:r>
            <a:endParaRPr lang="en-US" sz="2200" dirty="0"/>
          </a:p>
        </p:txBody>
      </p:sp>
      <p:sp>
        <p:nvSpPr>
          <p:cNvPr id="8" name="icon disc"/>
          <p:cNvSpPr/>
          <p:nvPr/>
        </p:nvSpPr>
        <p:spPr>
          <a:xfrm>
            <a:off x="11475720" y="4649343"/>
            <a:ext cx="585216" cy="58521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024" y="4795647"/>
            <a:ext cx="292608" cy="292608"/>
          </a:xfrm>
          <a:prstGeom prst="rect">
            <a:avLst/>
          </a:prstGeom>
        </p:spPr>
      </p:pic>
      <p:sp>
        <p:nvSpPr>
          <p:cNvPr id="10" name="point"/>
          <p:cNvSpPr txBox="1"/>
          <p:nvPr/>
        </p:nvSpPr>
        <p:spPr>
          <a:xfrm>
            <a:off x="12390120" y="4603623"/>
            <a:ext cx="109883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Также, как правило, информация дублируется в приложении, а в некоторых случаях предваряется SMS от банка.</a:t>
            </a:r>
            <a:endParaRPr lang="en-US" sz="2200" dirty="0"/>
          </a:p>
        </p:txBody>
      </p:sp>
      <p:sp>
        <p:nvSpPr>
          <p:cNvPr id="11" name="icon disc"/>
          <p:cNvSpPr/>
          <p:nvPr/>
        </p:nvSpPr>
        <p:spPr>
          <a:xfrm>
            <a:off x="11475720" y="5897880"/>
            <a:ext cx="585216" cy="58521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2024" y="6044184"/>
            <a:ext cx="292608" cy="292608"/>
          </a:xfrm>
          <a:prstGeom prst="rect">
            <a:avLst/>
          </a:prstGeom>
        </p:spPr>
      </p:pic>
      <p:sp>
        <p:nvSpPr>
          <p:cNvPr id="13" name="point"/>
          <p:cNvSpPr txBox="1"/>
          <p:nvPr/>
        </p:nvSpPr>
        <p:spPr>
          <a:xfrm>
            <a:off x="12390120" y="5852160"/>
            <a:ext cx="109883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В противном случае письмо может остаться не замеченным среди других рассылок.</a:t>
            </a:r>
            <a:endParaRPr lang="en-US" sz="2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7315200"/>
            <a:ext cx="7244182" cy="562356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2742" y="11841480"/>
            <a:ext cx="777240" cy="777240"/>
          </a:xfrm>
          <a:prstGeom prst="rect">
            <a:avLst/>
          </a:prstGeom>
        </p:spPr>
      </p:pic>
      <p:sp>
        <p:nvSpPr>
          <p:cNvPr id="16" name="quote text"/>
          <p:cNvSpPr txBox="1"/>
          <p:nvPr/>
        </p:nvSpPr>
        <p:spPr>
          <a:xfrm>
            <a:off x="1417320" y="7680960"/>
            <a:ext cx="6421222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i="1" dirty="0">
                <a:solidFill>
                  <a:schemeClr val="tx1"/>
                </a:solidFill>
              </a:rPr>
              <a:t>«Банк раньше высылал, когда подходил срок оплаты налога за автомобиль. Вот это я просматривала. Раз в год страховая присылает на почту, там они делают тебе ссылку, чтобы ты перешёл. Но, опять же, если бы не подтверждение SMS, я бы фиг туда, может, и зашла»</a:t>
            </a:r>
            <a:endParaRPr lang="en-US" sz="2400" dirty="0"/>
          </a:p>
        </p:txBody>
      </p:sp>
      <p:sp>
        <p:nvSpPr>
          <p:cNvPr id="17" name="card"/>
          <p:cNvSpPr/>
          <p:nvPr/>
        </p:nvSpPr>
        <p:spPr>
          <a:xfrm>
            <a:off x="1417320" y="12280392"/>
            <a:ext cx="23545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attribution"/>
          <p:cNvSpPr txBox="1"/>
          <p:nvPr/>
        </p:nvSpPr>
        <p:spPr>
          <a:xfrm>
            <a:off x="1417320" y="12280392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(30-44, Москва)</a:t>
            </a:r>
            <a:endParaRPr lang="en-US" sz="15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0062" y="7315200"/>
            <a:ext cx="7244182" cy="5623560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16963" y="11841480"/>
            <a:ext cx="777240" cy="777240"/>
          </a:xfrm>
          <a:prstGeom prst="rect">
            <a:avLst/>
          </a:prstGeom>
        </p:spPr>
      </p:pic>
      <p:sp>
        <p:nvSpPr>
          <p:cNvPr id="21" name="quote text"/>
          <p:cNvSpPr txBox="1"/>
          <p:nvPr/>
        </p:nvSpPr>
        <p:spPr>
          <a:xfrm>
            <a:off x="8981542" y="7680960"/>
            <a:ext cx="6421222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i="1" dirty="0">
                <a:solidFill>
                  <a:schemeClr val="tx1"/>
                </a:solidFill>
              </a:rPr>
              <a:t>«У меня в Сбербанке открыты инвестиции, недавно вот пришло письмо, что мне выплатили дивиденды. Я портфель не проверяю каждый день, а тут после письма зашла, купила снова акции на эти. Всё, То есть портфель инвестиционный без меня сам работает, а я только письма читаю и вот захожу что-то продать, купить»</a:t>
            </a:r>
            <a:endParaRPr lang="en-US" sz="2400" dirty="0"/>
          </a:p>
        </p:txBody>
      </p:sp>
      <p:sp>
        <p:nvSpPr>
          <p:cNvPr id="22" name="card"/>
          <p:cNvSpPr/>
          <p:nvPr/>
        </p:nvSpPr>
        <p:spPr>
          <a:xfrm>
            <a:off x="8981542" y="12280392"/>
            <a:ext cx="23545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attribution"/>
          <p:cNvSpPr txBox="1"/>
          <p:nvPr/>
        </p:nvSpPr>
        <p:spPr>
          <a:xfrm>
            <a:off x="8981542" y="12280392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(30-44, Москва)</a:t>
            </a:r>
            <a:endParaRPr lang="en-US" sz="15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34283" y="7315200"/>
            <a:ext cx="7244182" cy="5623560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281185" y="11841480"/>
            <a:ext cx="777240" cy="777240"/>
          </a:xfrm>
          <a:prstGeom prst="rect">
            <a:avLst/>
          </a:prstGeom>
        </p:spPr>
      </p:pic>
      <p:sp>
        <p:nvSpPr>
          <p:cNvPr id="26" name="quote text"/>
          <p:cNvSpPr txBox="1"/>
          <p:nvPr/>
        </p:nvSpPr>
        <p:spPr>
          <a:xfrm>
            <a:off x="16545763" y="7680960"/>
            <a:ext cx="6421222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i="1" dirty="0">
                <a:solidFill>
                  <a:schemeClr val="tx1"/>
                </a:solidFill>
              </a:rPr>
              <a:t>«Там должно быть что-то конкретное написано - изменились условия по вашим вкладам, или - наше приложение перестанет работать завтра, установите его. То есть это должно быть что-то важное и полезное»</a:t>
            </a:r>
            <a:endParaRPr lang="en-US" sz="2400" dirty="0"/>
          </a:p>
        </p:txBody>
      </p:sp>
      <p:sp>
        <p:nvSpPr>
          <p:cNvPr id="27" name="card"/>
          <p:cNvSpPr/>
          <p:nvPr/>
        </p:nvSpPr>
        <p:spPr>
          <a:xfrm>
            <a:off x="16545763" y="12280392"/>
            <a:ext cx="23545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8" name="attribution"/>
          <p:cNvSpPr txBox="1"/>
          <p:nvPr/>
        </p:nvSpPr>
        <p:spPr>
          <a:xfrm>
            <a:off x="16545763" y="12280392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(45-55, Москва)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Потенциально могут быть интересны письма, несущие другую полезную конкретную информацию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017520"/>
            <a:ext cx="12252960" cy="1599946"/>
          </a:xfrm>
          <a:prstGeom prst="rect">
            <a:avLst/>
          </a:prstGeom>
        </p:spPr>
      </p:pic>
      <p:sp>
        <p:nvSpPr>
          <p:cNvPr id="4" name="key statement"/>
          <p:cNvSpPr txBox="1"/>
          <p:nvPr/>
        </p:nvSpPr>
        <p:spPr>
          <a:xfrm>
            <a:off x="1554480" y="3017520"/>
            <a:ext cx="11338560" cy="1599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chemeClr val="bg1"/>
                </a:solidFill>
              </a:rPr>
              <a:t>В меньшей степени ожидают получать от банка полезные материалы, не связанные напрямую с банковскими продуктами и услугами.</a:t>
            </a:r>
            <a:endParaRPr lang="en-US" sz="2300" dirty="0"/>
          </a:p>
        </p:txBody>
      </p:sp>
      <p:sp>
        <p:nvSpPr>
          <p:cNvPr id="5" name="text"/>
          <p:cNvSpPr txBox="1"/>
          <p:nvPr/>
        </p:nvSpPr>
        <p:spPr>
          <a:xfrm>
            <a:off x="1097280" y="5121995"/>
            <a:ext cx="12252960" cy="115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Интерес к подобным материалам присутствует, в случае удачной подачи (понятной, интересной) может повысить интерес к каналу электронной почты и частоту пользования ею:</a:t>
            </a:r>
            <a:endParaRPr lang="en-US" sz="2100" dirty="0"/>
          </a:p>
        </p:txBody>
      </p:sp>
      <p:sp>
        <p:nvSpPr>
          <p:cNvPr id="6" name="card"/>
          <p:cNvSpPr/>
          <p:nvPr/>
        </p:nvSpPr>
        <p:spPr>
          <a:xfrm>
            <a:off x="1097280" y="6782096"/>
            <a:ext cx="3901440" cy="4119753"/>
          </a:xfrm>
          <a:prstGeom prst="roundRect">
            <a:avLst>
              <a:gd name="adj" fmla="val 6563"/>
            </a:avLst>
          </a:prstGeom>
          <a:solidFill>
            <a:srgbClr val="F4F7FC"/>
          </a:solidFill>
          <a:ln/>
        </p:spPr>
      </p:sp>
      <p:sp>
        <p:nvSpPr>
          <p:cNvPr id="7" name="icon disc"/>
          <p:cNvSpPr/>
          <p:nvPr/>
        </p:nvSpPr>
        <p:spPr>
          <a:xfrm>
            <a:off x="1508760" y="7193576"/>
            <a:ext cx="585216" cy="58521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7339880"/>
            <a:ext cx="292608" cy="292608"/>
          </a:xfrm>
          <a:prstGeom prst="rect">
            <a:avLst/>
          </a:prstGeom>
        </p:spPr>
      </p:pic>
      <p:sp>
        <p:nvSpPr>
          <p:cNvPr id="9" name="item"/>
          <p:cNvSpPr txBox="1"/>
          <p:nvPr/>
        </p:nvSpPr>
        <p:spPr>
          <a:xfrm>
            <a:off x="1508760" y="8007392"/>
            <a:ext cx="3078480" cy="2620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Информирование об изменениях законодательства </a:t>
            </a:r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- 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и как они скажутся на конкретном потребителе</a:t>
            </a:r>
            <a:endParaRPr lang="en-US" sz="2100" dirty="0"/>
          </a:p>
        </p:txBody>
      </p:sp>
      <p:sp>
        <p:nvSpPr>
          <p:cNvPr id="10" name="card"/>
          <p:cNvSpPr/>
          <p:nvPr/>
        </p:nvSpPr>
        <p:spPr>
          <a:xfrm>
            <a:off x="5273040" y="6782096"/>
            <a:ext cx="3901440" cy="4119753"/>
          </a:xfrm>
          <a:prstGeom prst="roundRect">
            <a:avLst>
              <a:gd name="adj" fmla="val 6563"/>
            </a:avLst>
          </a:prstGeom>
          <a:solidFill>
            <a:srgbClr val="F4F7FC"/>
          </a:solidFill>
          <a:ln/>
        </p:spPr>
      </p:sp>
      <p:sp>
        <p:nvSpPr>
          <p:cNvPr id="11" name="icon disc"/>
          <p:cNvSpPr/>
          <p:nvPr/>
        </p:nvSpPr>
        <p:spPr>
          <a:xfrm>
            <a:off x="5684520" y="7193576"/>
            <a:ext cx="585216" cy="58521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824" y="7339880"/>
            <a:ext cx="292608" cy="292608"/>
          </a:xfrm>
          <a:prstGeom prst="rect">
            <a:avLst/>
          </a:prstGeom>
        </p:spPr>
      </p:pic>
      <p:sp>
        <p:nvSpPr>
          <p:cNvPr id="13" name="item"/>
          <p:cNvSpPr txBox="1"/>
          <p:nvPr/>
        </p:nvSpPr>
        <p:spPr>
          <a:xfrm>
            <a:off x="5684520" y="8007392"/>
            <a:ext cx="3078480" cy="2620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Финансовые советы на основе потребительского поведения 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(например, возврат налога за оплату обучения или лечения)</a:t>
            </a:r>
            <a:endParaRPr lang="en-US" sz="2100" dirty="0"/>
          </a:p>
        </p:txBody>
      </p:sp>
      <p:sp>
        <p:nvSpPr>
          <p:cNvPr id="14" name="card"/>
          <p:cNvSpPr/>
          <p:nvPr/>
        </p:nvSpPr>
        <p:spPr>
          <a:xfrm>
            <a:off x="9448800" y="6782096"/>
            <a:ext cx="3901440" cy="4119753"/>
          </a:xfrm>
          <a:prstGeom prst="roundRect">
            <a:avLst>
              <a:gd name="adj" fmla="val 6563"/>
            </a:avLst>
          </a:prstGeom>
          <a:solidFill>
            <a:srgbClr val="F4F7FC"/>
          </a:solidFill>
          <a:ln/>
        </p:spPr>
      </p:sp>
      <p:sp>
        <p:nvSpPr>
          <p:cNvPr id="15" name="icon disc"/>
          <p:cNvSpPr/>
          <p:nvPr/>
        </p:nvSpPr>
        <p:spPr>
          <a:xfrm>
            <a:off x="9860280" y="7193576"/>
            <a:ext cx="585216" cy="58521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6584" y="7339880"/>
            <a:ext cx="292608" cy="292608"/>
          </a:xfrm>
          <a:prstGeom prst="rect">
            <a:avLst/>
          </a:prstGeom>
        </p:spPr>
      </p:pic>
      <p:sp>
        <p:nvSpPr>
          <p:cNvPr id="17" name="item"/>
          <p:cNvSpPr txBox="1"/>
          <p:nvPr/>
        </p:nvSpPr>
        <p:spPr>
          <a:xfrm>
            <a:off x="9860280" y="8007392"/>
            <a:ext cx="3078480" cy="2620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Образовательная информация 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– связанная, например, с финансовой грамотностью или инвестированием</a:t>
            </a:r>
            <a:endParaRPr lang="en-US" sz="2100" dirty="0"/>
          </a:p>
        </p:txBody>
      </p:sp>
      <p:sp>
        <p:nvSpPr>
          <p:cNvPr id="18" name="card"/>
          <p:cNvSpPr/>
          <p:nvPr/>
        </p:nvSpPr>
        <p:spPr>
          <a:xfrm>
            <a:off x="1097280" y="11406378"/>
            <a:ext cx="12252960" cy="1440942"/>
          </a:xfrm>
          <a:prstGeom prst="roundRect">
            <a:avLst>
              <a:gd name="adj" fmla="val 17768"/>
            </a:avLst>
          </a:prstGeom>
          <a:solidFill>
            <a:srgbClr val="E3F3E7"/>
          </a:solidFill>
          <a:ln/>
        </p:spPr>
      </p:sp>
      <p:sp>
        <p:nvSpPr>
          <p:cNvPr id="19" name="secondary statement"/>
          <p:cNvSpPr txBox="1"/>
          <p:nvPr/>
        </p:nvSpPr>
        <p:spPr>
          <a:xfrm>
            <a:off x="1554480" y="11406378"/>
            <a:ext cx="11338560" cy="1440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Узкоцелевые информационные письма </a:t>
            </a:r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– например, информирование о необходимости </a:t>
            </a:r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обновить приложение - обычно также прочитываются.</a:t>
            </a:r>
            <a:endParaRPr lang="en-US" sz="2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3160" y="2926080"/>
            <a:ext cx="9525305" cy="2543302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81185" y="4372102"/>
            <a:ext cx="777240" cy="777240"/>
          </a:xfrm>
          <a:prstGeom prst="rect">
            <a:avLst/>
          </a:prstGeom>
        </p:spPr>
      </p:pic>
      <p:sp>
        <p:nvSpPr>
          <p:cNvPr id="22" name="quote text"/>
          <p:cNvSpPr txBox="1"/>
          <p:nvPr/>
        </p:nvSpPr>
        <p:spPr>
          <a:xfrm>
            <a:off x="14264640" y="3291840"/>
            <a:ext cx="8702345" cy="1244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«Какие-то изменения касаемые налогов, финансов, что-то в законодательстве, условно, раз в месяц, именно рассылка такого маленького дайджеста. Что там изменится с первого числа»</a:t>
            </a:r>
            <a:endParaRPr lang="en-US" sz="1900" dirty="0"/>
          </a:p>
        </p:txBody>
      </p:sp>
      <p:sp>
        <p:nvSpPr>
          <p:cNvPr id="23" name="card"/>
          <p:cNvSpPr/>
          <p:nvPr/>
        </p:nvSpPr>
        <p:spPr>
          <a:xfrm>
            <a:off x="14264640" y="4811014"/>
            <a:ext cx="28117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4" name="attribution"/>
          <p:cNvSpPr txBox="1"/>
          <p:nvPr/>
        </p:nvSpPr>
        <p:spPr>
          <a:xfrm>
            <a:off x="14264640" y="4811014"/>
            <a:ext cx="2811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45-55, Екатеринбург</a:t>
            </a:r>
            <a:endParaRPr lang="en-US" sz="15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53160" y="5697982"/>
            <a:ext cx="9525305" cy="3827018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81185" y="8427720"/>
            <a:ext cx="777240" cy="777240"/>
          </a:xfrm>
          <a:prstGeom prst="rect">
            <a:avLst/>
          </a:prstGeom>
        </p:spPr>
      </p:pic>
      <p:sp>
        <p:nvSpPr>
          <p:cNvPr id="27" name="quote text"/>
          <p:cNvSpPr txBox="1"/>
          <p:nvPr/>
        </p:nvSpPr>
        <p:spPr>
          <a:xfrm>
            <a:off x="14264640" y="6063742"/>
            <a:ext cx="8702345" cy="252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«Что-то про финансовую грамотность. Какие-то короткие, понятные видеоролики, я бы заинтересовалась. Если бы я интересовалась инвестициями, то про инвестиции я бы тоже посмотрела. Если бы банк мог отследить и сделать видео, допустим, про то, как там за автошколу можно вернуть налоговый вычет или за какие-то покупки, я не знаю, какой там перечень, за что можно сделать налоговый вычет, то я бы заинтересовалась»</a:t>
            </a:r>
            <a:endParaRPr lang="en-US" sz="1900" dirty="0"/>
          </a:p>
        </p:txBody>
      </p:sp>
      <p:sp>
        <p:nvSpPr>
          <p:cNvPr id="28" name="card"/>
          <p:cNvSpPr/>
          <p:nvPr/>
        </p:nvSpPr>
        <p:spPr>
          <a:xfrm>
            <a:off x="14264640" y="8866632"/>
            <a:ext cx="2125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9" name="attribution"/>
          <p:cNvSpPr txBox="1"/>
          <p:nvPr/>
        </p:nvSpPr>
        <p:spPr>
          <a:xfrm>
            <a:off x="14264640" y="8866632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20-29, Москва</a:t>
            </a:r>
            <a:endParaRPr lang="en-US" sz="15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53160" y="9753600"/>
            <a:ext cx="9525305" cy="3185160"/>
          </a:xfrm>
          <a:prstGeom prst="rect">
            <a:avLst/>
          </a:prstGeom>
        </p:spPr>
      </p:pic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281185" y="11841480"/>
            <a:ext cx="777240" cy="777240"/>
          </a:xfrm>
          <a:prstGeom prst="rect">
            <a:avLst/>
          </a:prstGeom>
        </p:spPr>
      </p:pic>
      <p:sp>
        <p:nvSpPr>
          <p:cNvPr id="32" name="quote text"/>
          <p:cNvSpPr txBox="1"/>
          <p:nvPr/>
        </p:nvSpPr>
        <p:spPr>
          <a:xfrm>
            <a:off x="14264640" y="10119360"/>
            <a:ext cx="8702345" cy="188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«Я не припомню письма от банка, которое несет в себе какую-то пользу. за исключением сберовских или тиньковских рассылок о том, что нужно успеть залить новое приложение. Но они это делают и через СМС, и через пуши в своем приложении, и через электронную почту, всеми возможными каналами»</a:t>
            </a:r>
            <a:endParaRPr lang="en-US" sz="1900" dirty="0"/>
          </a:p>
        </p:txBody>
      </p:sp>
      <p:sp>
        <p:nvSpPr>
          <p:cNvPr id="33" name="card"/>
          <p:cNvSpPr/>
          <p:nvPr/>
        </p:nvSpPr>
        <p:spPr>
          <a:xfrm>
            <a:off x="14264640" y="12280392"/>
            <a:ext cx="28117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attribution"/>
          <p:cNvSpPr txBox="1"/>
          <p:nvPr/>
        </p:nvSpPr>
        <p:spPr>
          <a:xfrm>
            <a:off x="14264640" y="12280392"/>
            <a:ext cx="2811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30-44, Екатеринбург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Тестирование гипотез: что могло бы быть интересно получать от Сбера 1/2</a:t>
            </a:r>
            <a:endParaRPr lang="en-US" sz="4000" dirty="0"/>
          </a:p>
        </p:txBody>
      </p:sp>
      <p:sp>
        <p:nvSpPr>
          <p:cNvPr id="3" name="card"/>
          <p:cNvSpPr/>
          <p:nvPr/>
        </p:nvSpPr>
        <p:spPr>
          <a:xfrm>
            <a:off x="1097280" y="3017520"/>
            <a:ext cx="5669280" cy="4829175"/>
          </a:xfrm>
          <a:prstGeom prst="roundRect">
            <a:avLst>
              <a:gd name="adj" fmla="val 5302"/>
            </a:avLst>
          </a:prstGeom>
          <a:solidFill>
            <a:srgbClr val="F4F7FC"/>
          </a:solidFill>
          <a:ln/>
        </p:spPr>
      </p:sp>
      <p:sp>
        <p:nvSpPr>
          <p:cNvPr id="4" name="icon disc"/>
          <p:cNvSpPr/>
          <p:nvPr/>
        </p:nvSpPr>
        <p:spPr>
          <a:xfrm>
            <a:off x="1508760" y="3429000"/>
            <a:ext cx="585216" cy="585216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064" y="3575304"/>
            <a:ext cx="292608" cy="292608"/>
          </a:xfrm>
          <a:prstGeom prst="rect">
            <a:avLst/>
          </a:prstGeom>
        </p:spPr>
      </p:pic>
      <p:sp>
        <p:nvSpPr>
          <p:cNvPr id="6" name="item"/>
          <p:cNvSpPr txBox="1"/>
          <p:nvPr/>
        </p:nvSpPr>
        <p:spPr>
          <a:xfrm>
            <a:off x="1508760" y="4242816"/>
            <a:ext cx="4846320" cy="3329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Персональная финансовая подборка – 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не вполне понятно, что это. Несмотря на слово «персональная» звучит расплывчато и не очень интересно.</a:t>
            </a:r>
            <a:endParaRPr lang="en-US" sz="2100" dirty="0"/>
          </a:p>
        </p:txBody>
      </p:sp>
      <p:sp>
        <p:nvSpPr>
          <p:cNvPr id="7" name="card"/>
          <p:cNvSpPr/>
          <p:nvPr/>
        </p:nvSpPr>
        <p:spPr>
          <a:xfrm>
            <a:off x="7040880" y="3017520"/>
            <a:ext cx="5669280" cy="4829175"/>
          </a:xfrm>
          <a:prstGeom prst="roundRect">
            <a:avLst>
              <a:gd name="adj" fmla="val 5302"/>
            </a:avLst>
          </a:prstGeom>
          <a:solidFill>
            <a:srgbClr val="F4F7FC"/>
          </a:solidFill>
          <a:ln/>
        </p:spPr>
      </p:sp>
      <p:sp>
        <p:nvSpPr>
          <p:cNvPr id="8" name="icon disc"/>
          <p:cNvSpPr/>
          <p:nvPr/>
        </p:nvSpPr>
        <p:spPr>
          <a:xfrm>
            <a:off x="7452360" y="3429000"/>
            <a:ext cx="585216" cy="585216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664" y="3575304"/>
            <a:ext cx="292608" cy="292608"/>
          </a:xfrm>
          <a:prstGeom prst="rect">
            <a:avLst/>
          </a:prstGeom>
        </p:spPr>
      </p:pic>
      <p:sp>
        <p:nvSpPr>
          <p:cNvPr id="10" name="item"/>
          <p:cNvSpPr txBox="1"/>
          <p:nvPr/>
        </p:nvSpPr>
        <p:spPr>
          <a:xfrm>
            <a:off x="7452360" y="4242816"/>
            <a:ext cx="4846320" cy="3329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Аналитика расходов – 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вызывает недоумение, т.к. подобная функция уже есть в МП банка. Кроме того, информация ожидается не полная, поскольку анализ делается на основе расходов по Сберу, а большинство потребителей пользуются не только этим банком</a:t>
            </a:r>
            <a:endParaRPr lang="en-US" sz="2100" dirty="0"/>
          </a:p>
        </p:txBody>
      </p:sp>
      <p:sp>
        <p:nvSpPr>
          <p:cNvPr id="11" name="card"/>
          <p:cNvSpPr/>
          <p:nvPr/>
        </p:nvSpPr>
        <p:spPr>
          <a:xfrm>
            <a:off x="1097280" y="8193405"/>
            <a:ext cx="11612880" cy="2505075"/>
          </a:xfrm>
          <a:prstGeom prst="roundRect">
            <a:avLst>
              <a:gd name="adj" fmla="val 10221"/>
            </a:avLst>
          </a:prstGeom>
          <a:solidFill>
            <a:srgbClr val="E3F3E7"/>
          </a:solidFill>
          <a:ln/>
        </p:spPr>
      </p:sp>
      <p:sp>
        <p:nvSpPr>
          <p:cNvPr id="12" name="secondary statement"/>
          <p:cNvSpPr txBox="1"/>
          <p:nvPr/>
        </p:nvSpPr>
        <p:spPr>
          <a:xfrm>
            <a:off x="1554480" y="8193405"/>
            <a:ext cx="10698480" cy="2505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В качестве альтернативы предлагают идеи персональной финансовой аналитики – то есть советов и рекомендаций на основе совершенных трат, с элементами финансовой грамотности. Не просто анализ трат, а разъяснение, как распоряжаться средствами лучше, что именно делать.</a:t>
            </a:r>
            <a:endParaRPr lang="en-US" sz="2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1109960"/>
            <a:ext cx="11612880" cy="1828800"/>
          </a:xfrm>
          <a:prstGeom prst="rect">
            <a:avLst/>
          </a:prstGeom>
        </p:spPr>
      </p:pic>
      <p:sp>
        <p:nvSpPr>
          <p:cNvPr id="14" name="cashback note"/>
          <p:cNvSpPr txBox="1"/>
          <p:nvPr/>
        </p:nvSpPr>
        <p:spPr>
          <a:xfrm>
            <a:off x="1645920" y="111099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chemeClr val="accent5"/>
                </a:solidFill>
              </a:rPr>
              <a:t>Повышенный кэшбек – </a:t>
            </a:r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chemeClr val="bg1"/>
                </a:solidFill>
              </a:rPr>
              <a:t>интересно, оптимально было бы предоставить потребителям выбирать категории самим.</a:t>
            </a:r>
            <a:endParaRPr lang="en-US" sz="2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2926080"/>
            <a:ext cx="10165385" cy="3680629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81185" y="5509429"/>
            <a:ext cx="777240" cy="777240"/>
          </a:xfrm>
          <a:prstGeom prst="rect">
            <a:avLst/>
          </a:prstGeom>
        </p:spPr>
      </p:pic>
      <p:sp>
        <p:nvSpPr>
          <p:cNvPr id="17" name="quote text"/>
          <p:cNvSpPr txBox="1"/>
          <p:nvPr/>
        </p:nvSpPr>
        <p:spPr>
          <a:xfrm>
            <a:off x="13624560" y="3291840"/>
            <a:ext cx="9342425" cy="2382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</a:rPr>
              <a:t>«Я не очень финансово грамотная, деньги трачу шаляй-валяй. И если мне банк проанализирует, что я заходила, я там что-то как-то тратила, при этом он мне пропишет, что вот, там, не знаю, вы недавно так совершали, ну, а почему нет? Если банк за меня подумает и мне какие-то вот, не знаю, фишки накидает, то будет очень здорово»</a:t>
            </a:r>
            <a:endParaRPr lang="en-US" sz="2200" dirty="0"/>
          </a:p>
        </p:txBody>
      </p:sp>
      <p:sp>
        <p:nvSpPr>
          <p:cNvPr id="18" name="card"/>
          <p:cNvSpPr/>
          <p:nvPr/>
        </p:nvSpPr>
        <p:spPr>
          <a:xfrm>
            <a:off x="13624560" y="5948341"/>
            <a:ext cx="2125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attribution"/>
          <p:cNvSpPr txBox="1"/>
          <p:nvPr/>
        </p:nvSpPr>
        <p:spPr>
          <a:xfrm>
            <a:off x="13624560" y="5948341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(30-44, Екат)</a:t>
            </a:r>
            <a:endParaRPr lang="en-US" sz="15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13080" y="6835309"/>
            <a:ext cx="10165385" cy="3309027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81185" y="9047057"/>
            <a:ext cx="777240" cy="777240"/>
          </a:xfrm>
          <a:prstGeom prst="rect">
            <a:avLst/>
          </a:prstGeom>
        </p:spPr>
      </p:pic>
      <p:sp>
        <p:nvSpPr>
          <p:cNvPr id="22" name="quote text"/>
          <p:cNvSpPr txBox="1"/>
          <p:nvPr/>
        </p:nvSpPr>
        <p:spPr>
          <a:xfrm>
            <a:off x="13624560" y="7201069"/>
            <a:ext cx="9342425" cy="2010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</a:rPr>
              <a:t>«Смените категорию кэшбэков, поменяйте что-нибудь в инвестициях. Есть новое предложение по вкладу по-вашему, да, что если там то-то, то-то вот так-то чуть-чуть поддобавить, то будет лучше. А то пока у них персональные индивидуальные предложения – это какая-то фигня»</a:t>
            </a:r>
            <a:endParaRPr lang="en-US" sz="2200" dirty="0"/>
          </a:p>
        </p:txBody>
      </p:sp>
      <p:sp>
        <p:nvSpPr>
          <p:cNvPr id="23" name="card"/>
          <p:cNvSpPr/>
          <p:nvPr/>
        </p:nvSpPr>
        <p:spPr>
          <a:xfrm>
            <a:off x="13624560" y="9485969"/>
            <a:ext cx="2125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4" name="attribution"/>
          <p:cNvSpPr txBox="1"/>
          <p:nvPr/>
        </p:nvSpPr>
        <p:spPr>
          <a:xfrm>
            <a:off x="13624560" y="9485969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(30-44, Екат)</a:t>
            </a:r>
            <a:endParaRPr lang="en-US" sz="15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13080" y="10372937"/>
            <a:ext cx="10165385" cy="2565823"/>
          </a:xfrm>
          <a:prstGeom prst="rect">
            <a:avLst/>
          </a:prstGeom>
        </p:spPr>
      </p:pic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81185" y="11841480"/>
            <a:ext cx="777240" cy="777240"/>
          </a:xfrm>
          <a:prstGeom prst="rect">
            <a:avLst/>
          </a:prstGeom>
        </p:spPr>
      </p:pic>
      <p:sp>
        <p:nvSpPr>
          <p:cNvPr id="27" name="quote text"/>
          <p:cNvSpPr txBox="1"/>
          <p:nvPr/>
        </p:nvSpPr>
        <p:spPr>
          <a:xfrm>
            <a:off x="13624560" y="10738697"/>
            <a:ext cx="9342425" cy="126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</a:rPr>
              <a:t>«Не информационный контекст, а побудительный. Мне нужно что-то сделать. Например, выбрать те категории кэшбека, что мне интересны»</a:t>
            </a:r>
            <a:endParaRPr lang="en-US" sz="2200" dirty="0"/>
          </a:p>
        </p:txBody>
      </p:sp>
      <p:sp>
        <p:nvSpPr>
          <p:cNvPr id="28" name="card"/>
          <p:cNvSpPr/>
          <p:nvPr/>
        </p:nvSpPr>
        <p:spPr>
          <a:xfrm>
            <a:off x="13624560" y="12280392"/>
            <a:ext cx="23545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9" name="attribution"/>
          <p:cNvSpPr txBox="1"/>
          <p:nvPr/>
        </p:nvSpPr>
        <p:spPr>
          <a:xfrm>
            <a:off x="13624560" y="12280392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(30-44, Москва)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Тестирование гипотез: что могло бы быть интересно получать от Сбера 2/3</a:t>
            </a:r>
            <a:endParaRPr lang="en-US" sz="4000" dirty="0"/>
          </a:p>
        </p:txBody>
      </p:sp>
      <p:sp>
        <p:nvSpPr>
          <p:cNvPr id="3" name="icon disc"/>
          <p:cNvSpPr/>
          <p:nvPr/>
        </p:nvSpPr>
        <p:spPr>
          <a:xfrm>
            <a:off x="1097280" y="3044952"/>
            <a:ext cx="585216" cy="585216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3191256"/>
            <a:ext cx="292608" cy="292608"/>
          </a:xfrm>
          <a:prstGeom prst="rect">
            <a:avLst/>
          </a:prstGeom>
        </p:spPr>
      </p:pic>
      <p:sp>
        <p:nvSpPr>
          <p:cNvPr id="5" name="point"/>
          <p:cNvSpPr txBox="1"/>
          <p:nvPr/>
        </p:nvSpPr>
        <p:spPr>
          <a:xfrm>
            <a:off x="2048256" y="3017520"/>
            <a:ext cx="9838944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Сервисная выписка – </a:t>
            </a:r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не вполне понятно, что это. Предполагают, что точно можно получить через приложение</a:t>
            </a:r>
            <a:endParaRPr lang="en-US" sz="2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669536"/>
            <a:ext cx="10789920" cy="1701292"/>
          </a:xfrm>
          <a:prstGeom prst="rect">
            <a:avLst/>
          </a:prstGeom>
        </p:spPr>
      </p:pic>
      <p:sp>
        <p:nvSpPr>
          <p:cNvPr id="7" name="key statement"/>
          <p:cNvSpPr txBox="1"/>
          <p:nvPr/>
        </p:nvSpPr>
        <p:spPr>
          <a:xfrm>
            <a:off x="1554480" y="4669536"/>
            <a:ext cx="9875520" cy="170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chemeClr val="bg1"/>
                </a:solidFill>
              </a:rPr>
              <a:t>Альтернативные варианты содержимого рассылок, предложенные потребителями:</a:t>
            </a:r>
            <a:endParaRPr lang="en-US" sz="2600" dirty="0"/>
          </a:p>
        </p:txBody>
      </p:sp>
      <p:sp>
        <p:nvSpPr>
          <p:cNvPr id="8" name="card"/>
          <p:cNvSpPr/>
          <p:nvPr/>
        </p:nvSpPr>
        <p:spPr>
          <a:xfrm>
            <a:off x="1097280" y="7120636"/>
            <a:ext cx="10789920" cy="2124456"/>
          </a:xfrm>
          <a:prstGeom prst="roundRect">
            <a:avLst>
              <a:gd name="adj" fmla="val 12052"/>
            </a:avLst>
          </a:prstGeom>
          <a:solidFill>
            <a:srgbClr val="F4F7FC"/>
          </a:solidFill>
          <a:ln/>
        </p:spPr>
      </p:sp>
      <p:sp>
        <p:nvSpPr>
          <p:cNvPr id="9" name="icon disc"/>
          <p:cNvSpPr/>
          <p:nvPr/>
        </p:nvSpPr>
        <p:spPr>
          <a:xfrm>
            <a:off x="1417320" y="7890256"/>
            <a:ext cx="585216" cy="58521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8036560"/>
            <a:ext cx="292608" cy="292608"/>
          </a:xfrm>
          <a:prstGeom prst="rect">
            <a:avLst/>
          </a:prstGeom>
        </p:spPr>
      </p:pic>
      <p:sp>
        <p:nvSpPr>
          <p:cNvPr id="11" name="item"/>
          <p:cNvSpPr txBox="1"/>
          <p:nvPr/>
        </p:nvSpPr>
        <p:spPr>
          <a:xfrm>
            <a:off x="2322576" y="7120636"/>
            <a:ext cx="9290304" cy="2124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Таргетированные предложения </a:t>
            </a:r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с учетом потребительского поведения и интереса, проявленного к тем или иным продуктам, сервисам, информации</a:t>
            </a:r>
            <a:endParaRPr lang="en-US" sz="2400" dirty="0"/>
          </a:p>
        </p:txBody>
      </p:sp>
      <p:sp>
        <p:nvSpPr>
          <p:cNvPr id="12" name="card"/>
          <p:cNvSpPr/>
          <p:nvPr/>
        </p:nvSpPr>
        <p:spPr>
          <a:xfrm>
            <a:off x="1097280" y="9519412"/>
            <a:ext cx="10789920" cy="2124456"/>
          </a:xfrm>
          <a:prstGeom prst="roundRect">
            <a:avLst>
              <a:gd name="adj" fmla="val 12052"/>
            </a:avLst>
          </a:prstGeom>
          <a:solidFill>
            <a:srgbClr val="F4F7FC"/>
          </a:solidFill>
          <a:ln/>
        </p:spPr>
      </p:sp>
      <p:sp>
        <p:nvSpPr>
          <p:cNvPr id="13" name="icon disc"/>
          <p:cNvSpPr/>
          <p:nvPr/>
        </p:nvSpPr>
        <p:spPr>
          <a:xfrm>
            <a:off x="1417320" y="10289032"/>
            <a:ext cx="585216" cy="58521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624" y="10435336"/>
            <a:ext cx="292608" cy="292608"/>
          </a:xfrm>
          <a:prstGeom prst="rect">
            <a:avLst/>
          </a:prstGeom>
        </p:spPr>
      </p:pic>
      <p:sp>
        <p:nvSpPr>
          <p:cNvPr id="15" name="item"/>
          <p:cNvSpPr txBox="1"/>
          <p:nvPr/>
        </p:nvSpPr>
        <p:spPr>
          <a:xfrm>
            <a:off x="2322576" y="9519412"/>
            <a:ext cx="9290304" cy="2124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Ежемесячный апдейт состояния вклада с онлайн-калькулятором </a:t>
            </a:r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(чтобы можно было посчитать итоговую сумму в зависимости от срока и выбрать подходящие для себя условия)</a:t>
            </a:r>
            <a:endParaRPr lang="en-US" sz="2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90120" y="2926080"/>
            <a:ext cx="10988345" cy="352298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81185" y="5351780"/>
            <a:ext cx="777240" cy="777240"/>
          </a:xfrm>
          <a:prstGeom prst="rect">
            <a:avLst/>
          </a:prstGeom>
        </p:spPr>
      </p:pic>
      <p:sp>
        <p:nvSpPr>
          <p:cNvPr id="18" name="quote text"/>
          <p:cNvSpPr txBox="1"/>
          <p:nvPr/>
        </p:nvSpPr>
        <p:spPr>
          <a:xfrm>
            <a:off x="12801600" y="3291840"/>
            <a:ext cx="10165385" cy="2224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«У них же есть целая аналитика внутри, по тому, как мы тратим. Он меня изучил, и мне интересно, что для меня подобрал. Я хочу, чтобы они мне помогали оптимизировать мои траты. Вот Альфа-Банк сразу запрашивает, а как вам кэшбэки того месяца? И я им пишу, на одежду и на продукты, пожалуйста, добавьте. То есть они такие, да-да-да, учтем, учтем. То есть они аналитику сразу собирают»</a:t>
            </a:r>
            <a:endParaRPr lang="en-US" sz="2000" dirty="0"/>
          </a:p>
        </p:txBody>
      </p:sp>
      <p:sp>
        <p:nvSpPr>
          <p:cNvPr id="19" name="card"/>
          <p:cNvSpPr/>
          <p:nvPr/>
        </p:nvSpPr>
        <p:spPr>
          <a:xfrm>
            <a:off x="12801600" y="5790692"/>
            <a:ext cx="23545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0" name="attribution"/>
          <p:cNvSpPr txBox="1"/>
          <p:nvPr/>
        </p:nvSpPr>
        <p:spPr>
          <a:xfrm>
            <a:off x="12801600" y="5790692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(30-44, Москва)</a:t>
            </a:r>
            <a:endParaRPr lang="en-US" sz="15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90120" y="6677660"/>
            <a:ext cx="10988345" cy="3185160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81185" y="8765540"/>
            <a:ext cx="777240" cy="777240"/>
          </a:xfrm>
          <a:prstGeom prst="rect">
            <a:avLst/>
          </a:prstGeom>
        </p:spPr>
      </p:pic>
      <p:sp>
        <p:nvSpPr>
          <p:cNvPr id="23" name="quote text"/>
          <p:cNvSpPr txBox="1"/>
          <p:nvPr/>
        </p:nvSpPr>
        <p:spPr>
          <a:xfrm>
            <a:off x="12801600" y="7043420"/>
            <a:ext cx="10165385" cy="188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«По тиктоку, например, то, что ты сам отмечаешь, тебе и подкидывается все время. Вот что-то наподобие чтобы можно было настроить в банке, в приложении, чтобы мне отправлялись конкретные эти вещи. Тогда я точно буду заходить, И если это еще будет дублироваться СМСкой, допустим, или Push-уведомлением, что вот зайдите в почту, вообще прекрасно»</a:t>
            </a:r>
            <a:endParaRPr lang="en-US" sz="2000" dirty="0"/>
          </a:p>
        </p:txBody>
      </p:sp>
      <p:sp>
        <p:nvSpPr>
          <p:cNvPr id="24" name="card"/>
          <p:cNvSpPr/>
          <p:nvPr/>
        </p:nvSpPr>
        <p:spPr>
          <a:xfrm>
            <a:off x="12801600" y="9204452"/>
            <a:ext cx="2125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5" name="attribution"/>
          <p:cNvSpPr txBox="1"/>
          <p:nvPr/>
        </p:nvSpPr>
        <p:spPr>
          <a:xfrm>
            <a:off x="12801600" y="9204452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(30-44, Екат)</a:t>
            </a:r>
            <a:endParaRPr lang="en-US" sz="15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90120" y="10091420"/>
            <a:ext cx="10988345" cy="2847340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281185" y="11841480"/>
            <a:ext cx="777240" cy="777240"/>
          </a:xfrm>
          <a:prstGeom prst="rect">
            <a:avLst/>
          </a:prstGeom>
        </p:spPr>
      </p:pic>
      <p:sp>
        <p:nvSpPr>
          <p:cNvPr id="28" name="quote text"/>
          <p:cNvSpPr txBox="1"/>
          <p:nvPr/>
        </p:nvSpPr>
        <p:spPr>
          <a:xfrm>
            <a:off x="12801600" y="10457180"/>
            <a:ext cx="10165385" cy="154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«Если был каждый месяц приходил калькулятор вклада, я бы точно прочитала и посмотрела, какая у меня сумма, какой процент я получу. Я буду знать, что банк обо мне помнит, и я как бы как вкладчик могу, вот посмотрел, сделал вывод, что мне удобно, и тут же онлайн подключу»</a:t>
            </a:r>
            <a:endParaRPr lang="en-US" sz="2000" dirty="0"/>
          </a:p>
        </p:txBody>
      </p:sp>
      <p:sp>
        <p:nvSpPr>
          <p:cNvPr id="29" name="card"/>
          <p:cNvSpPr/>
          <p:nvPr/>
        </p:nvSpPr>
        <p:spPr>
          <a:xfrm>
            <a:off x="12801600" y="12280392"/>
            <a:ext cx="2125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attribution"/>
          <p:cNvSpPr txBox="1"/>
          <p:nvPr/>
        </p:nvSpPr>
        <p:spPr>
          <a:xfrm>
            <a:off x="12801600" y="12280392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(45-55, Екат)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Формат рассылок должен быть максимально компактным, информативным, но при этом не скучным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017520"/>
            <a:ext cx="14264640" cy="1667510"/>
          </a:xfrm>
          <a:prstGeom prst="rect">
            <a:avLst/>
          </a:prstGeom>
        </p:spPr>
      </p:pic>
      <p:sp>
        <p:nvSpPr>
          <p:cNvPr id="4" name="key statement"/>
          <p:cNvSpPr txBox="1"/>
          <p:nvPr/>
        </p:nvSpPr>
        <p:spPr>
          <a:xfrm>
            <a:off x="1554480" y="3017520"/>
            <a:ext cx="13350240" cy="166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bg1"/>
                </a:solidFill>
              </a:rPr>
              <a:t>Гипотеза о том, что в электронную почту идут читать лонгриды, не подтвердилась.</a:t>
            </a:r>
            <a:endParaRPr lang="en-US" sz="2500" dirty="0"/>
          </a:p>
        </p:txBody>
      </p:sp>
      <p:sp>
        <p:nvSpPr>
          <p:cNvPr id="5" name="icon disc"/>
          <p:cNvSpPr/>
          <p:nvPr/>
        </p:nvSpPr>
        <p:spPr>
          <a:xfrm>
            <a:off x="1097280" y="5444956"/>
            <a:ext cx="585216" cy="585216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5591260"/>
            <a:ext cx="292608" cy="292608"/>
          </a:xfrm>
          <a:prstGeom prst="rect">
            <a:avLst/>
          </a:prstGeom>
        </p:spPr>
      </p:pic>
      <p:sp>
        <p:nvSpPr>
          <p:cNvPr id="7" name="point"/>
          <p:cNvSpPr txBox="1"/>
          <p:nvPr/>
        </p:nvSpPr>
        <p:spPr>
          <a:xfrm>
            <a:off x="2048256" y="5417524"/>
            <a:ext cx="8650224" cy="1645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Наоборот, у письма в виде длинного текста меньше всего шансов быть изученным. Аудитория, особенно молодая, не читает и не смотрит большие форматы (исключение – работа и учёба).</a:t>
            </a:r>
            <a:endParaRPr lang="en-US" sz="2300" dirty="0"/>
          </a:p>
        </p:txBody>
      </p:sp>
      <p:sp>
        <p:nvSpPr>
          <p:cNvPr id="8" name="icon disc"/>
          <p:cNvSpPr/>
          <p:nvPr/>
        </p:nvSpPr>
        <p:spPr>
          <a:xfrm>
            <a:off x="1097280" y="7822861"/>
            <a:ext cx="585216" cy="585216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7969165"/>
            <a:ext cx="292608" cy="292608"/>
          </a:xfrm>
          <a:prstGeom prst="rect">
            <a:avLst/>
          </a:prstGeom>
        </p:spPr>
      </p:pic>
      <p:sp>
        <p:nvSpPr>
          <p:cNvPr id="10" name="point"/>
          <p:cNvSpPr txBox="1"/>
          <p:nvPr/>
        </p:nvSpPr>
        <p:spPr>
          <a:xfrm>
            <a:off x="2048256" y="7795429"/>
            <a:ext cx="8650224" cy="203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Информация от банка априори представляется сложной для понимания, сухой и неинтересной. Даже потенциально релевантные темы, изложенные стандартным языком, не привлекают внимание обычных потребителей и не вызовут желания изучить рассылку.</a:t>
            </a:r>
            <a:endParaRPr lang="en-US" sz="2300" dirty="0"/>
          </a:p>
        </p:txBody>
      </p:sp>
      <p:sp>
        <p:nvSpPr>
          <p:cNvPr id="11" name="card"/>
          <p:cNvSpPr/>
          <p:nvPr/>
        </p:nvSpPr>
        <p:spPr>
          <a:xfrm>
            <a:off x="1097280" y="10561828"/>
            <a:ext cx="14264640" cy="2285492"/>
          </a:xfrm>
          <a:prstGeom prst="roundRect">
            <a:avLst>
              <a:gd name="adj" fmla="val 11202"/>
            </a:avLst>
          </a:prstGeom>
          <a:solidFill>
            <a:srgbClr val="E3F3E7"/>
          </a:solidFill>
          <a:ln/>
        </p:spPr>
      </p:sp>
      <p:sp>
        <p:nvSpPr>
          <p:cNvPr id="12" name="secondary statement"/>
          <p:cNvSpPr txBox="1"/>
          <p:nvPr/>
        </p:nvSpPr>
        <p:spPr>
          <a:xfrm>
            <a:off x="1554480" y="10561828"/>
            <a:ext cx="13350240" cy="2285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Предпочтительные форматы для рассылок – иконографика или короткие видеоролики, с возможностью перехода в приложение или на сайт при желании получить более детальную информацию. Язык изложения информации должен быть максимально понятным, «человеческим», с конкретными примерами.</a:t>
            </a:r>
            <a:endParaRPr lang="en-US" sz="2300" dirty="0"/>
          </a:p>
        </p:txBody>
      </p:sp>
      <p:pic>
        <p:nvPicPr>
          <p:cNvPr id="13" name="Image 3" descr="/tmp/claude-0/-home-user--/79b729a8-3fa1-5cbb-8e3b-0cd80d582848/scratchpad/build/image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128712"/>
            <a:ext cx="4206240" cy="2989435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64840" y="2926080"/>
            <a:ext cx="7513625" cy="5257673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81185" y="7086473"/>
            <a:ext cx="777240" cy="777240"/>
          </a:xfrm>
          <a:prstGeom prst="rect">
            <a:avLst/>
          </a:prstGeom>
        </p:spPr>
      </p:pic>
      <p:sp>
        <p:nvSpPr>
          <p:cNvPr id="16" name="quote text"/>
          <p:cNvSpPr txBox="1"/>
          <p:nvPr/>
        </p:nvSpPr>
        <p:spPr>
          <a:xfrm>
            <a:off x="16276320" y="3291840"/>
            <a:ext cx="6690665" cy="3959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300" i="1" dirty="0">
                <a:solidFill>
                  <a:schemeClr val="tx1"/>
                </a:solidFill>
              </a:rPr>
              <a:t>«Мне бы было интересно, но, к сожалению, сейчас почему-то читать как будто бы некогда. Поэтому вся информация, которая приходит в почте текстом, тем более, банковская, заумная, невкусно. А вот если бы это было видеосообщением каким-нибудь вот прямо доходчивым, я не знаю, самые сливки и всё понятно, было бы круто, я бы посмотрела»</a:t>
            </a:r>
            <a:endParaRPr lang="en-US" sz="2300" dirty="0"/>
          </a:p>
        </p:txBody>
      </p:sp>
      <p:sp>
        <p:nvSpPr>
          <p:cNvPr id="17" name="card"/>
          <p:cNvSpPr/>
          <p:nvPr/>
        </p:nvSpPr>
        <p:spPr>
          <a:xfrm>
            <a:off x="16276320" y="7525385"/>
            <a:ext cx="2125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attribution"/>
          <p:cNvSpPr txBox="1"/>
          <p:nvPr/>
        </p:nvSpPr>
        <p:spPr>
          <a:xfrm>
            <a:off x="16276320" y="7525385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(30-44, Екат)</a:t>
            </a:r>
            <a:endParaRPr lang="en-US" sz="15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64840" y="8458073"/>
            <a:ext cx="7513625" cy="4480687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81185" y="11841480"/>
            <a:ext cx="777240" cy="777240"/>
          </a:xfrm>
          <a:prstGeom prst="rect">
            <a:avLst/>
          </a:prstGeom>
        </p:spPr>
      </p:pic>
      <p:sp>
        <p:nvSpPr>
          <p:cNvPr id="21" name="quote text"/>
          <p:cNvSpPr txBox="1"/>
          <p:nvPr/>
        </p:nvSpPr>
        <p:spPr>
          <a:xfrm>
            <a:off x="16276320" y="8823833"/>
            <a:ext cx="6690665" cy="3182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300" i="1" dirty="0">
                <a:solidFill>
                  <a:schemeClr val="tx1"/>
                </a:solidFill>
              </a:rPr>
              <a:t>«Мне приходило письмо об изменении процентной ставки. Я пыталась понять, в чем же изменение, и как я могу повлиять, поняла, что никак, и просто открыла новый вклад с другими условиями. Я в экономике в этой банковской сфере не понимаю...”</a:t>
            </a:r>
            <a:endParaRPr lang="en-US" sz="2300" dirty="0"/>
          </a:p>
        </p:txBody>
      </p:sp>
      <p:sp>
        <p:nvSpPr>
          <p:cNvPr id="22" name="card"/>
          <p:cNvSpPr/>
          <p:nvPr/>
        </p:nvSpPr>
        <p:spPr>
          <a:xfrm>
            <a:off x="16276320" y="12280392"/>
            <a:ext cx="23545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attribution"/>
          <p:cNvSpPr txBox="1"/>
          <p:nvPr/>
        </p:nvSpPr>
        <p:spPr>
          <a:xfrm>
            <a:off x="16276320" y="12280392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(45-55, Москва)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Отношение к рассылкам от экосистемы более положительное, чем к банковской рассылке, в них видят больше ценности и чаще открывают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017520"/>
            <a:ext cx="13716000" cy="3103245"/>
          </a:xfrm>
          <a:prstGeom prst="rect">
            <a:avLst/>
          </a:prstGeom>
        </p:spPr>
      </p:pic>
      <p:sp>
        <p:nvSpPr>
          <p:cNvPr id="4" name="key statement"/>
          <p:cNvSpPr txBox="1"/>
          <p:nvPr/>
        </p:nvSpPr>
        <p:spPr>
          <a:xfrm>
            <a:off x="1554480" y="3017520"/>
            <a:ext cx="12801600" cy="3103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chemeClr val="bg1"/>
                </a:solidFill>
              </a:rPr>
              <a:t>Клиенты экосистемы склонны просматривать рассылки по продуктам экосистемы, которыми они пользуются. Большая открытость и заинтересованность обусловлены личным позитивным опытом и ценностью, которую потребители видят для себя в этих рассылках:</a:t>
            </a:r>
            <a:endParaRPr lang="en-US" sz="2700" dirty="0"/>
          </a:p>
        </p:txBody>
      </p:sp>
      <p:sp>
        <p:nvSpPr>
          <p:cNvPr id="5" name="card"/>
          <p:cNvSpPr/>
          <p:nvPr/>
        </p:nvSpPr>
        <p:spPr>
          <a:xfrm>
            <a:off x="1097280" y="6870573"/>
            <a:ext cx="6720840" cy="2903601"/>
          </a:xfrm>
          <a:prstGeom prst="roundRect">
            <a:avLst>
              <a:gd name="adj" fmla="val 8818"/>
            </a:avLst>
          </a:prstGeom>
          <a:solidFill>
            <a:srgbClr val="F4F7FC"/>
          </a:solidFill>
          <a:ln/>
        </p:spPr>
      </p:sp>
      <p:sp>
        <p:nvSpPr>
          <p:cNvPr id="6" name="icon disc"/>
          <p:cNvSpPr/>
          <p:nvPr/>
        </p:nvSpPr>
        <p:spPr>
          <a:xfrm>
            <a:off x="1508760" y="7282053"/>
            <a:ext cx="585216" cy="58521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7428357"/>
            <a:ext cx="292608" cy="292608"/>
          </a:xfrm>
          <a:prstGeom prst="rect">
            <a:avLst/>
          </a:prstGeom>
        </p:spPr>
      </p:pic>
      <p:sp>
        <p:nvSpPr>
          <p:cNvPr id="8" name="item"/>
          <p:cNvSpPr txBox="1"/>
          <p:nvPr/>
        </p:nvSpPr>
        <p:spPr>
          <a:xfrm>
            <a:off x="1508760" y="8095869"/>
            <a:ext cx="5897880" cy="1403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accent3"/>
                </a:solidFill>
              </a:rPr>
              <a:t>Акции, купоны на скидки </a:t>
            </a:r>
            <a:pPr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– действительно попадаются и реально работают;</a:t>
            </a:r>
            <a:endParaRPr lang="en-US" sz="2500" dirty="0"/>
          </a:p>
        </p:txBody>
      </p:sp>
      <p:sp>
        <p:nvSpPr>
          <p:cNvPr id="9" name="card"/>
          <p:cNvSpPr/>
          <p:nvPr/>
        </p:nvSpPr>
        <p:spPr>
          <a:xfrm>
            <a:off x="8092440" y="6870573"/>
            <a:ext cx="6720840" cy="2903601"/>
          </a:xfrm>
          <a:prstGeom prst="roundRect">
            <a:avLst>
              <a:gd name="adj" fmla="val 8818"/>
            </a:avLst>
          </a:prstGeom>
          <a:solidFill>
            <a:srgbClr val="F4F7FC"/>
          </a:solidFill>
          <a:ln/>
        </p:spPr>
      </p:sp>
      <p:sp>
        <p:nvSpPr>
          <p:cNvPr id="10" name="icon disc"/>
          <p:cNvSpPr/>
          <p:nvPr/>
        </p:nvSpPr>
        <p:spPr>
          <a:xfrm>
            <a:off x="8503920" y="7282053"/>
            <a:ext cx="585216" cy="58521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7428357"/>
            <a:ext cx="292608" cy="292608"/>
          </a:xfrm>
          <a:prstGeom prst="rect">
            <a:avLst/>
          </a:prstGeom>
        </p:spPr>
      </p:pic>
      <p:sp>
        <p:nvSpPr>
          <p:cNvPr id="12" name="item"/>
          <p:cNvSpPr txBox="1"/>
          <p:nvPr/>
        </p:nvSpPr>
        <p:spPr>
          <a:xfrm>
            <a:off x="8503920" y="8095869"/>
            <a:ext cx="5897880" cy="1403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accent3"/>
                </a:solidFill>
              </a:rPr>
              <a:t>Возможность скачать </a:t>
            </a:r>
            <a:pPr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документ, QR-код, купон на скидку - и использовать без интернета.</a:t>
            </a:r>
            <a:endParaRPr lang="en-US" sz="2500" dirty="0"/>
          </a:p>
        </p:txBody>
      </p:sp>
      <p:sp>
        <p:nvSpPr>
          <p:cNvPr id="13" name="card"/>
          <p:cNvSpPr/>
          <p:nvPr/>
        </p:nvSpPr>
        <p:spPr>
          <a:xfrm>
            <a:off x="1097280" y="10523982"/>
            <a:ext cx="13716000" cy="1998345"/>
          </a:xfrm>
          <a:prstGeom prst="roundRect">
            <a:avLst>
              <a:gd name="adj" fmla="val 12812"/>
            </a:avLst>
          </a:prstGeom>
          <a:solidFill>
            <a:srgbClr val="E3F3E7"/>
          </a:solidFill>
          <a:ln/>
        </p:spPr>
      </p:sp>
      <p:sp>
        <p:nvSpPr>
          <p:cNvPr id="14" name="secondary statement"/>
          <p:cNvSpPr txBox="1"/>
          <p:nvPr/>
        </p:nvSpPr>
        <p:spPr>
          <a:xfrm>
            <a:off x="1554480" y="10523982"/>
            <a:ext cx="12801600" cy="199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accent3"/>
                </a:solidFill>
              </a:rPr>
              <a:t>В целом от рассылок продуктов экосистемы ожидают меньше подводных камней в виде выполнения определенных критериев, условий, написанных «мелким шрифтом» и т.п., чем от банка.</a:t>
            </a:r>
            <a:endParaRPr lang="en-US" sz="25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6200" y="2926080"/>
            <a:ext cx="8062265" cy="4683379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81185" y="6512179"/>
            <a:ext cx="777240" cy="777240"/>
          </a:xfrm>
          <a:prstGeom prst="rect">
            <a:avLst/>
          </a:prstGeom>
        </p:spPr>
      </p:pic>
      <p:sp>
        <p:nvSpPr>
          <p:cNvPr id="17" name="quote text"/>
          <p:cNvSpPr txBox="1"/>
          <p:nvPr/>
        </p:nvSpPr>
        <p:spPr>
          <a:xfrm>
            <a:off x="15727680" y="3291840"/>
            <a:ext cx="7239305" cy="3384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</a:rPr>
              <a:t>«Могу посмотреть, если из, к примеру, Яндекс.Маркета придет индивидуальное предложение с каким-нибудь чайником за 500 рублей, а так он стоит 3000. У меня бывали такие ситуации, что я так зашел, зашел по этой ссылочке, и там действительно был промокод на покупку какого-то товара, он правда сработал, я купил по акции. Если приходит с официальной очты, и это будет не базовая рассылка»</a:t>
            </a:r>
            <a:endParaRPr lang="en-US" sz="2200" dirty="0"/>
          </a:p>
        </p:txBody>
      </p:sp>
      <p:sp>
        <p:nvSpPr>
          <p:cNvPr id="18" name="card"/>
          <p:cNvSpPr/>
          <p:nvPr/>
        </p:nvSpPr>
        <p:spPr>
          <a:xfrm>
            <a:off x="15727680" y="6951091"/>
            <a:ext cx="2125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attribution"/>
          <p:cNvSpPr txBox="1"/>
          <p:nvPr/>
        </p:nvSpPr>
        <p:spPr>
          <a:xfrm>
            <a:off x="15727680" y="6951091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(20-29, Екат)</a:t>
            </a:r>
            <a:endParaRPr lang="en-US" sz="15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16200" y="7883779"/>
            <a:ext cx="8062265" cy="5054981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81185" y="11841480"/>
            <a:ext cx="777240" cy="777240"/>
          </a:xfrm>
          <a:prstGeom prst="rect">
            <a:avLst/>
          </a:prstGeom>
        </p:spPr>
      </p:pic>
      <p:sp>
        <p:nvSpPr>
          <p:cNvPr id="22" name="quote text"/>
          <p:cNvSpPr txBox="1"/>
          <p:nvPr/>
        </p:nvSpPr>
        <p:spPr>
          <a:xfrm>
            <a:off x="15727680" y="8249539"/>
            <a:ext cx="7239305" cy="375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</a:rPr>
              <a:t>«Автостраховка, помимо того, что хранится в приложении банка, приходит и на почту, ее можно скачать в кэш хранить там. Гаишникам показать, если нет мобильного интернета и нельзя показать из приложения. То же – билеты в театр, в кино, заказ в Самокате. У Тбанка бывают акции, ты заказываешь в приложении, потом тебе приходит на почту чек, делаешь скриншот, QR-код загружаешь, чтобы получить какой-то кэшбэк »</a:t>
            </a:r>
            <a:endParaRPr lang="en-US" sz="2200" dirty="0"/>
          </a:p>
        </p:txBody>
      </p:sp>
      <p:sp>
        <p:nvSpPr>
          <p:cNvPr id="23" name="card"/>
          <p:cNvSpPr/>
          <p:nvPr/>
        </p:nvSpPr>
        <p:spPr>
          <a:xfrm>
            <a:off x="15727680" y="12280392"/>
            <a:ext cx="2125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4" name="attribution"/>
          <p:cNvSpPr txBox="1"/>
          <p:nvPr/>
        </p:nvSpPr>
        <p:spPr>
          <a:xfrm>
            <a:off x="15727680" y="12280392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(20-29, Екат)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Потребители готовы получать и изучать полезные и выгодные для них рассылки и от экосистемы Сбера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017520"/>
            <a:ext cx="11155680" cy="3153918"/>
          </a:xfrm>
          <a:prstGeom prst="rect">
            <a:avLst/>
          </a:prstGeom>
        </p:spPr>
      </p:pic>
      <p:sp>
        <p:nvSpPr>
          <p:cNvPr id="4" name="key statement"/>
          <p:cNvSpPr txBox="1"/>
          <p:nvPr/>
        </p:nvSpPr>
        <p:spPr>
          <a:xfrm>
            <a:off x="1554480" y="3017520"/>
            <a:ext cx="10241280" cy="3153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chemeClr val="bg1"/>
                </a:solidFill>
              </a:rPr>
              <a:t>Ценность этих рассылок может заключаться как в буквальной выгоде (скидки, выгодные предложения, информация о распродажах и т.п.), так и в облегчении жизни потребителей, заботе о них (напоминания о платежах по страховке, таргетированные предложения на основе анализа покупок, и т.п.):</a:t>
            </a:r>
            <a:endParaRPr lang="en-US" sz="2300" dirty="0"/>
          </a:p>
        </p:txBody>
      </p:sp>
      <p:sp>
        <p:nvSpPr>
          <p:cNvPr id="5" name="card"/>
          <p:cNvSpPr/>
          <p:nvPr/>
        </p:nvSpPr>
        <p:spPr>
          <a:xfrm>
            <a:off x="1097280" y="6533388"/>
            <a:ext cx="5440680" cy="1921764"/>
          </a:xfrm>
          <a:prstGeom prst="roundRect">
            <a:avLst>
              <a:gd name="adj" fmla="val 13323"/>
            </a:avLst>
          </a:prstGeom>
          <a:solidFill>
            <a:srgbClr val="F4F7FC"/>
          </a:solidFill>
          <a:ln/>
        </p:spPr>
      </p:sp>
      <p:sp>
        <p:nvSpPr>
          <p:cNvPr id="6" name="icon disc"/>
          <p:cNvSpPr/>
          <p:nvPr/>
        </p:nvSpPr>
        <p:spPr>
          <a:xfrm>
            <a:off x="1417320" y="7201662"/>
            <a:ext cx="585216" cy="58521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" y="7347966"/>
            <a:ext cx="292608" cy="292608"/>
          </a:xfrm>
          <a:prstGeom prst="rect">
            <a:avLst/>
          </a:prstGeom>
        </p:spPr>
      </p:pic>
      <p:sp>
        <p:nvSpPr>
          <p:cNvPr id="8" name="item"/>
          <p:cNvSpPr txBox="1"/>
          <p:nvPr/>
        </p:nvSpPr>
        <p:spPr>
          <a:xfrm>
            <a:off x="2322576" y="6533388"/>
            <a:ext cx="3941064" cy="1921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График платежей по подпискам, страховкам и т.п.</a:t>
            </a:r>
            <a:endParaRPr lang="en-US" sz="2100" dirty="0"/>
          </a:p>
        </p:txBody>
      </p:sp>
      <p:sp>
        <p:nvSpPr>
          <p:cNvPr id="9" name="card"/>
          <p:cNvSpPr/>
          <p:nvPr/>
        </p:nvSpPr>
        <p:spPr>
          <a:xfrm>
            <a:off x="6812280" y="6533388"/>
            <a:ext cx="5440680" cy="1921764"/>
          </a:xfrm>
          <a:prstGeom prst="roundRect">
            <a:avLst>
              <a:gd name="adj" fmla="val 13323"/>
            </a:avLst>
          </a:prstGeom>
          <a:solidFill>
            <a:srgbClr val="F4F7FC"/>
          </a:solidFill>
          <a:ln/>
        </p:spPr>
      </p:sp>
      <p:sp>
        <p:nvSpPr>
          <p:cNvPr id="10" name="icon disc"/>
          <p:cNvSpPr/>
          <p:nvPr/>
        </p:nvSpPr>
        <p:spPr>
          <a:xfrm>
            <a:off x="7132320" y="7201662"/>
            <a:ext cx="585216" cy="58521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7347966"/>
            <a:ext cx="292608" cy="292608"/>
          </a:xfrm>
          <a:prstGeom prst="rect">
            <a:avLst/>
          </a:prstGeom>
        </p:spPr>
      </p:pic>
      <p:sp>
        <p:nvSpPr>
          <p:cNvPr id="12" name="item"/>
          <p:cNvSpPr txBox="1"/>
          <p:nvPr/>
        </p:nvSpPr>
        <p:spPr>
          <a:xfrm>
            <a:off x="8037576" y="6533388"/>
            <a:ext cx="3941064" cy="1921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Напоминание о приближающемся платеже</a:t>
            </a:r>
            <a:endParaRPr lang="en-US" sz="2100" dirty="0"/>
          </a:p>
        </p:txBody>
      </p:sp>
      <p:sp>
        <p:nvSpPr>
          <p:cNvPr id="13" name="card"/>
          <p:cNvSpPr/>
          <p:nvPr/>
        </p:nvSpPr>
        <p:spPr>
          <a:xfrm>
            <a:off x="1097280" y="8729472"/>
            <a:ext cx="5440680" cy="1921764"/>
          </a:xfrm>
          <a:prstGeom prst="roundRect">
            <a:avLst>
              <a:gd name="adj" fmla="val 13323"/>
            </a:avLst>
          </a:prstGeom>
          <a:solidFill>
            <a:srgbClr val="F4F7FC"/>
          </a:solidFill>
          <a:ln/>
        </p:spPr>
      </p:sp>
      <p:sp>
        <p:nvSpPr>
          <p:cNvPr id="14" name="icon disc"/>
          <p:cNvSpPr/>
          <p:nvPr/>
        </p:nvSpPr>
        <p:spPr>
          <a:xfrm>
            <a:off x="1417320" y="9397746"/>
            <a:ext cx="585216" cy="58521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624" y="9544050"/>
            <a:ext cx="292608" cy="292608"/>
          </a:xfrm>
          <a:prstGeom prst="rect">
            <a:avLst/>
          </a:prstGeom>
        </p:spPr>
      </p:pic>
      <p:sp>
        <p:nvSpPr>
          <p:cNvPr id="16" name="item"/>
          <p:cNvSpPr txBox="1"/>
          <p:nvPr/>
        </p:nvSpPr>
        <p:spPr>
          <a:xfrm>
            <a:off x="2322576" y="8729472"/>
            <a:ext cx="3941064" cy="1921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Скидка за досрочную оплату/ оплату на длительный срок</a:t>
            </a:r>
            <a:endParaRPr lang="en-US" sz="2100" dirty="0"/>
          </a:p>
        </p:txBody>
      </p:sp>
      <p:sp>
        <p:nvSpPr>
          <p:cNvPr id="17" name="card"/>
          <p:cNvSpPr/>
          <p:nvPr/>
        </p:nvSpPr>
        <p:spPr>
          <a:xfrm>
            <a:off x="6812280" y="8729472"/>
            <a:ext cx="5440680" cy="1921764"/>
          </a:xfrm>
          <a:prstGeom prst="roundRect">
            <a:avLst>
              <a:gd name="adj" fmla="val 13323"/>
            </a:avLst>
          </a:prstGeom>
          <a:solidFill>
            <a:srgbClr val="F4F7FC"/>
          </a:solidFill>
          <a:ln/>
        </p:spPr>
      </p:sp>
      <p:sp>
        <p:nvSpPr>
          <p:cNvPr id="18" name="icon disc"/>
          <p:cNvSpPr/>
          <p:nvPr/>
        </p:nvSpPr>
        <p:spPr>
          <a:xfrm>
            <a:off x="7132320" y="9397746"/>
            <a:ext cx="585216" cy="58521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9544050"/>
            <a:ext cx="292608" cy="292608"/>
          </a:xfrm>
          <a:prstGeom prst="rect">
            <a:avLst/>
          </a:prstGeom>
        </p:spPr>
      </p:pic>
      <p:sp>
        <p:nvSpPr>
          <p:cNvPr id="20" name="item"/>
          <p:cNvSpPr txBox="1"/>
          <p:nvPr/>
        </p:nvSpPr>
        <p:spPr>
          <a:xfrm>
            <a:off x="8037576" y="8729472"/>
            <a:ext cx="3941064" cy="1921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Уведомление о предстоящих акциях (скидках, распродажах)</a:t>
            </a:r>
            <a:endParaRPr lang="en-US" sz="2100" dirty="0"/>
          </a:p>
        </p:txBody>
      </p:sp>
      <p:sp>
        <p:nvSpPr>
          <p:cNvPr id="21" name="card"/>
          <p:cNvSpPr/>
          <p:nvPr/>
        </p:nvSpPr>
        <p:spPr>
          <a:xfrm>
            <a:off x="1097280" y="10925556"/>
            <a:ext cx="5440680" cy="1921764"/>
          </a:xfrm>
          <a:prstGeom prst="roundRect">
            <a:avLst>
              <a:gd name="adj" fmla="val 13323"/>
            </a:avLst>
          </a:prstGeom>
          <a:solidFill>
            <a:srgbClr val="F4F7FC"/>
          </a:solidFill>
          <a:ln/>
        </p:spPr>
      </p:sp>
      <p:sp>
        <p:nvSpPr>
          <p:cNvPr id="22" name="icon disc"/>
          <p:cNvSpPr/>
          <p:nvPr/>
        </p:nvSpPr>
        <p:spPr>
          <a:xfrm>
            <a:off x="1417320" y="11593830"/>
            <a:ext cx="585216" cy="58521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3624" y="11740134"/>
            <a:ext cx="292608" cy="292608"/>
          </a:xfrm>
          <a:prstGeom prst="rect">
            <a:avLst/>
          </a:prstGeom>
        </p:spPr>
      </p:pic>
      <p:sp>
        <p:nvSpPr>
          <p:cNvPr id="24" name="item"/>
          <p:cNvSpPr txBox="1"/>
          <p:nvPr/>
        </p:nvSpPr>
        <p:spPr>
          <a:xfrm>
            <a:off x="2322576" y="10925556"/>
            <a:ext cx="3941064" cy="1921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Скидки, выгодные предложения 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– не только за 1й заказ или покупку, но и как лояльным пользователям</a:t>
            </a:r>
            <a:endParaRPr lang="en-US" sz="2100" dirty="0"/>
          </a:p>
        </p:txBody>
      </p:sp>
      <p:sp>
        <p:nvSpPr>
          <p:cNvPr id="25" name="card"/>
          <p:cNvSpPr/>
          <p:nvPr/>
        </p:nvSpPr>
        <p:spPr>
          <a:xfrm>
            <a:off x="6812280" y="10925556"/>
            <a:ext cx="5440680" cy="1921764"/>
          </a:xfrm>
          <a:prstGeom prst="roundRect">
            <a:avLst>
              <a:gd name="adj" fmla="val 13323"/>
            </a:avLst>
          </a:prstGeom>
          <a:solidFill>
            <a:srgbClr val="F4F7FC"/>
          </a:solidFill>
          <a:ln/>
        </p:spPr>
      </p:sp>
      <p:sp>
        <p:nvSpPr>
          <p:cNvPr id="26" name="icon disc"/>
          <p:cNvSpPr/>
          <p:nvPr/>
        </p:nvSpPr>
        <p:spPr>
          <a:xfrm>
            <a:off x="7132320" y="11593830"/>
            <a:ext cx="585216" cy="58521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8624" y="11740134"/>
            <a:ext cx="292608" cy="292608"/>
          </a:xfrm>
          <a:prstGeom prst="rect">
            <a:avLst/>
          </a:prstGeom>
        </p:spPr>
      </p:pic>
      <p:sp>
        <p:nvSpPr>
          <p:cNvPr id="28" name="item"/>
          <p:cNvSpPr txBox="1"/>
          <p:nvPr/>
        </p:nvSpPr>
        <p:spPr>
          <a:xfrm>
            <a:off x="8037576" y="10925556"/>
            <a:ext cx="3941064" cy="1921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Таргетированные предложения</a:t>
            </a:r>
            <a:endParaRPr lang="en-US" sz="21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55880" y="2926080"/>
            <a:ext cx="10622585" cy="2822067"/>
          </a:xfrm>
          <a:prstGeom prst="rect">
            <a:avLst/>
          </a:prstGeom>
        </p:spPr>
      </p:pic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81185" y="4650867"/>
            <a:ext cx="777240" cy="777240"/>
          </a:xfrm>
          <a:prstGeom prst="rect">
            <a:avLst/>
          </a:prstGeom>
        </p:spPr>
      </p:pic>
      <p:sp>
        <p:nvSpPr>
          <p:cNvPr id="31" name="quote text"/>
          <p:cNvSpPr txBox="1"/>
          <p:nvPr/>
        </p:nvSpPr>
        <p:spPr>
          <a:xfrm>
            <a:off x="13167360" y="3291840"/>
            <a:ext cx="9799625" cy="152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«Было бы неплохо, если бы мне Сбер напомнил заранее, что у меня заканчивается полис ОСАГО и предложил мне скидку, чтобы я выбрал именно его, а не конкурентов. Еще было бы неплохо, чтобы мне как клиенту приходили индивидуальные купоны на скидки в Самокате. В Купере есть, но только на первый заказ».</a:t>
            </a:r>
            <a:endParaRPr lang="en-US" sz="1800" dirty="0"/>
          </a:p>
        </p:txBody>
      </p:sp>
      <p:sp>
        <p:nvSpPr>
          <p:cNvPr id="32" name="card"/>
          <p:cNvSpPr/>
          <p:nvPr/>
        </p:nvSpPr>
        <p:spPr>
          <a:xfrm>
            <a:off x="13167360" y="5089779"/>
            <a:ext cx="2125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3" name="attribution"/>
          <p:cNvSpPr txBox="1"/>
          <p:nvPr/>
        </p:nvSpPr>
        <p:spPr>
          <a:xfrm>
            <a:off x="13167360" y="5089779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(20-29, Екат)</a:t>
            </a:r>
            <a:endParaRPr lang="en-US" sz="15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55880" y="5931027"/>
            <a:ext cx="10622585" cy="2213991"/>
          </a:xfrm>
          <a:prstGeom prst="rect">
            <a:avLst/>
          </a:prstGeom>
        </p:spPr>
      </p:pic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281185" y="7047738"/>
            <a:ext cx="777240" cy="777240"/>
          </a:xfrm>
          <a:prstGeom prst="rect">
            <a:avLst/>
          </a:prstGeom>
        </p:spPr>
      </p:pic>
      <p:sp>
        <p:nvSpPr>
          <p:cNvPr id="36" name="quote text"/>
          <p:cNvSpPr txBox="1"/>
          <p:nvPr/>
        </p:nvSpPr>
        <p:spPr>
          <a:xfrm>
            <a:off x="13167360" y="6296787"/>
            <a:ext cx="9799625" cy="915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«Мне пришло по СБЕР-страхованию предложение по страховке всех членов семьи по фиксированной ставке на 3 года. А я страхуюсь от клеща каждый год, конечно, я оформила. Но не сразу через письмо, я на сайт зашла по сбер id».</a:t>
            </a:r>
            <a:endParaRPr lang="en-US" sz="1800" dirty="0"/>
          </a:p>
        </p:txBody>
      </p:sp>
      <p:sp>
        <p:nvSpPr>
          <p:cNvPr id="37" name="card"/>
          <p:cNvSpPr/>
          <p:nvPr/>
        </p:nvSpPr>
        <p:spPr>
          <a:xfrm>
            <a:off x="13167360" y="7486650"/>
            <a:ext cx="2125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8" name="attribution"/>
          <p:cNvSpPr txBox="1"/>
          <p:nvPr/>
        </p:nvSpPr>
        <p:spPr>
          <a:xfrm>
            <a:off x="13167360" y="7486650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(45-55, Екат)</a:t>
            </a:r>
            <a:endParaRPr lang="en-US" sz="15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55880" y="8327898"/>
            <a:ext cx="10622585" cy="2213991"/>
          </a:xfrm>
          <a:prstGeom prst="rect">
            <a:avLst/>
          </a:prstGeom>
        </p:spPr>
      </p:pic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81185" y="9444609"/>
            <a:ext cx="777240" cy="777240"/>
          </a:xfrm>
          <a:prstGeom prst="rect">
            <a:avLst/>
          </a:prstGeom>
        </p:spPr>
      </p:pic>
      <p:sp>
        <p:nvSpPr>
          <p:cNvPr id="41" name="quote text"/>
          <p:cNvSpPr txBox="1"/>
          <p:nvPr/>
        </p:nvSpPr>
        <p:spPr>
          <a:xfrm>
            <a:off x="13167360" y="8693658"/>
            <a:ext cx="9799625" cy="915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«У Сбера раз в году есть Зеленые дни, скидки на разные продукты экосистемы. И обратный отсчет до начала этих дней идет. Можно планировать под эти даты, это удобно и выгодно»</a:t>
            </a:r>
            <a:endParaRPr lang="en-US" sz="1800" dirty="0"/>
          </a:p>
        </p:txBody>
      </p:sp>
      <p:sp>
        <p:nvSpPr>
          <p:cNvPr id="42" name="card"/>
          <p:cNvSpPr/>
          <p:nvPr/>
        </p:nvSpPr>
        <p:spPr>
          <a:xfrm>
            <a:off x="13167360" y="9883521"/>
            <a:ext cx="23545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attribution"/>
          <p:cNvSpPr txBox="1"/>
          <p:nvPr/>
        </p:nvSpPr>
        <p:spPr>
          <a:xfrm>
            <a:off x="13167360" y="9883521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(30-44, Москва)</a:t>
            </a:r>
            <a:endParaRPr lang="en-US" sz="1500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55880" y="10724769"/>
            <a:ext cx="10622585" cy="2213991"/>
          </a:xfrm>
          <a:prstGeom prst="rect">
            <a:avLst/>
          </a:prstGeom>
        </p:spPr>
      </p:pic>
      <p:pic>
        <p:nvPicPr>
          <p:cNvPr id="4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281185" y="11841480"/>
            <a:ext cx="777240" cy="777240"/>
          </a:xfrm>
          <a:prstGeom prst="rect">
            <a:avLst/>
          </a:prstGeom>
        </p:spPr>
      </p:pic>
      <p:sp>
        <p:nvSpPr>
          <p:cNvPr id="46" name="quote text"/>
          <p:cNvSpPr txBox="1"/>
          <p:nvPr/>
        </p:nvSpPr>
        <p:spPr>
          <a:xfrm>
            <a:off x="13167360" y="11090529"/>
            <a:ext cx="9799625" cy="915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«Если человек пользуется экосистемой, о нем очень много можно узнать. Допустим, какую музыку он предпочитает слушать, куда ходит. Если для конкретного потребителя сделать подборку, было бы интересно»</a:t>
            </a:r>
            <a:endParaRPr lang="en-US" sz="1800" dirty="0"/>
          </a:p>
        </p:txBody>
      </p:sp>
      <p:sp>
        <p:nvSpPr>
          <p:cNvPr id="47" name="card"/>
          <p:cNvSpPr/>
          <p:nvPr/>
        </p:nvSpPr>
        <p:spPr>
          <a:xfrm>
            <a:off x="13167360" y="12280392"/>
            <a:ext cx="2125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8" name="attribution"/>
          <p:cNvSpPr txBox="1"/>
          <p:nvPr/>
        </p:nvSpPr>
        <p:spPr>
          <a:xfrm>
            <a:off x="13167360" y="12280392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</a:rPr>
              <a:t>(45-55, Екат)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ber Research">
  <a:themeElements>
    <a:clrScheme name="Sber Research">
      <a:dk1>
        <a:srgbClr val="23343D"/>
      </a:dk1>
      <a:lt1>
        <a:srgbClr val="FFFFFF"/>
      </a:lt1>
      <a:dk2>
        <a:srgbClr val="0D5146"/>
      </a:dk2>
      <a:lt2>
        <a:srgbClr val="F4F7FC"/>
      </a:lt2>
      <a:accent1>
        <a:srgbClr val="1164C0"/>
      </a:accent1>
      <a:accent2>
        <a:srgbClr val="21A038"/>
      </a:accent2>
      <a:accent3>
        <a:srgbClr val="0D5146"/>
      </a:accent3>
      <a:accent4>
        <a:srgbClr val="5AB0FF"/>
      </a:accent4>
      <a:accent5>
        <a:srgbClr val="BAF279"/>
      </a:accent5>
      <a:accent6>
        <a:srgbClr val="55666F"/>
      </a:accent6>
      <a:hlink>
        <a:srgbClr val="1164C0"/>
      </a:hlink>
      <a:folHlink>
        <a:srgbClr val="60717B"/>
      </a:folHlink>
    </a:clrScheme>
    <a:fontScheme name="Sber Research">
      <a:majorFont>
        <a:latin typeface="SB San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B Sans T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Восприятие email-коммуникаций Сбера и направления развития канала</dc:title>
  <dc:subject>PptxGenJS Presentation</dc:subject>
  <dc:creator>PptxGenJS</dc:creator>
  <cp:lastModifiedBy>PptxGenJS</cp:lastModifiedBy>
  <cp:revision>1</cp:revision>
  <dcterms:created xsi:type="dcterms:W3CDTF">2026-10-08T07:16:43Z</dcterms:created>
  <dcterms:modified xsi:type="dcterms:W3CDTF">2026-10-08T07:16:43Z</dcterms:modified>
</cp:coreProperties>
</file>