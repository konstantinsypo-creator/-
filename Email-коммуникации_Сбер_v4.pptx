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24384305" cy="13716000"/>
  <p:notesSz cx="13716000" cy="2438430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53e695bf-c757-8100-eac6-386d8e985b18}">
          <p14:sldIdLst>
            <p14:sldId id="256"/>
            <p14:sldId id="257"/>
          </p14:sldIdLst>
        </p14:section>
        <p14:section name="Методология исследования" id="{aaf401c3-897a-966c-8f89-35a082995404}">
          <p14:sldIdLst>
            <p14:sldId id="258"/>
          </p14:sldIdLst>
        </p14:section>
        <p14:section name="Ключевые выводы и рекомендации" id="{da6ce298-7c9a-9fbb-f242-9c962b50be91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Гипотезы для SberCampaigning" id="{c5589d2b-8561-00a4-64b5-61968c55d9b0}">
          <p14:sldIdLst>
            <p14:sldId id="266"/>
            <p14:sldId id="267"/>
            <p14:sldId id="268"/>
            <p14:sldId id="269"/>
          </p14:sldIdLst>
        </p14:section>
        <p14:section name="Приложения" id="{62a150c5-0d63-b4ab-2e9e-612bb102e53f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Методология воспроизведена со слайда 4 исходного отчета. 40 участников рассчитано как 8 групп × 5 человек согласно описанию, отдельной проверки явки нет. МВС оставлено в исходном написании: расшифровка в отчете не дана. Цель и темы систематизированы по слайдам 3–4 и содержанию отчета. В представленном материале нет дат полевого этапа, матрицы групп, гайда, стимулов, стенограмм и описания процедуры анализа. ИИ представлен ограниченными реакциями на сортировку писем, не самостоятельным тестом автономного агента. Сегментные и количественные выводы не делались. Вводные о 40 млн адресов и 80% неоткрытий не перенесены как результат исследования: для них нужны источник, период и определение показателей.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Роли почты: 11–12 (архив, история, документы); 13–14 (проверка под задачу, сортировка); 17 (поиск предложений при возникновении потребности); 21 (разные ящики для разных задач). Две практики — аналитическое обобщение описаний слайда 7, без оценок распространенности и возрастного распределения. Частота проверки не равна вниманию к банковской рекламе. Цитаты воспроизведены как точные фрагменты из 11 и 13. Слово «всё» сохранено внутри прямой цитаты. Вывод о связи с событием и повторном обращении — рекомендация по итогам исследования, не измеренный эффект.
[Текст из исходной презентации, который находился за пределами слайда или под другими объектами]
попросить дать кейсы, какие рассылки от брендов ждут, например, колесо альфа банк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 уточняет чрезмерно общий тезис исходника о том, что банковские письма не читают. Причины игнорирования представлены на 27; дополнительное восприятие Сбера на 8, оно не подтверждает объективное отставание от других банков и не является рейтингом. Положительные случаи на 28 и полезное обновление приложения на 29 показывают чтение в конкретных ситуациях. Прямая цитата из 28 — единичный описанный случай действия после письма, не доказательство причинного эффекта или конверсии. Правая колонка намеренно показывает и барьер, и положительный случай. Рекомендация о структуре сервисного письма требует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объединяет заявленные триггеры и барьеры слайдов 17–18. Элемент «после открытия» отдельно выделен по 32: нельзя смешивать содержание письма с причинами его открытия. Не утверждается, что визуальное оформление тела письма видно до открытия. Формат видео и инфографики — высказанное предпочтение, не доказанное преимущество в поведении. Утверждение исходника о приемлемой частоте один раз в неделю со слайда 16 не используется как установленная норма. Цитата 17 дана дословно, включая два пробела перед «скидки»; это личный пример, не актуальные условия акции. Цитата 18 — точное начало высказывания. Рекомендации нужно проверять с учетом контактов во всех каналах.
[Текст из исходной презентации, который находился за пределами слайда или под другими объектами]
Для Сбера
была цитата про то, что если есть фразы конкретные только для вас, то воспринимается очень фальшиво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Первые четыре реакции приведены по 30–31. Они относятся к формулировкам и идеям, показанным в исходном исследовании; полный стимульный материал не представлен. Поэтому не следует заключать, что сами продукты отвергнуты или спрос отсутствует. Направления усиления в третьем столбце — интерпретация при пересборке. На 18 описано недоверие к имени и слову «персональный» в массовой рассылке; персонализация понимается через содержание. Цитаты точными фрагментами из 30 и 31. Идеи налогового вычета, калькулятора вклада и выбора тем взяты из 29–31. Они не являются финансовыми советами конкретному клиенту или утверждениями о наличии готового сервиса: условия и реализация должны быть проверены отдельно. Не приписывается потребность всей клиентской базе.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объединяет заявленные триггеры и барьеры слайдов 17–18. Элемент «после открытия» отдельно выделен по 32: нельзя смешивать содержание письма с причинами его открытия. Не утверждается, что визуальное оформление тела письма видно до открытия. Формат видео и инфографики — высказанное предпочтение, не доказанное преимущество в поведении. Утверждение исходника о приемлемой частоте один раз в неделю со слайда 16 не используется как установленная норма. Цитата 17 дана дословно, включая два пробела перед «скидки»; это личный пример, не актуальные условия акции. Цитата 18 — точное начало высказывания. Рекомендации нужно проверять с учетом контактов во всех каналах.
[Текст из исходной презентации, который находился за пределами слайда или под другими объектами]
«Было бы неплохо, если бы мне Сбер напомнил заранее, что у меня заканчивается полис ОСАГО и предложил мне скидку, чтобы я выбрал именно его, а не конкурентов»
20–29 лет, Екатеринбург
«А я страхуюсь от клеща каждый год, конечно, я оформила. Но не сразу через письмо, я на сайт зашла по сбер id»
45–55 лет, Екатеринбург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Гипотезы для дальнейшей проработки SberCampaigning, не результаты проведенных экспериментов и не согласованный план работ. Основание: текущий отчет, слайды 6–11; исходный отчет, слайды 6–9, 16–18, 27–34. Исследование качественное, распространенность предпочтений и эффект изменений не измерены. Предлагаются контролируемые сравнения с текущей практикой. Для сопоставимости следует заранее зафиксировать аудиторию, действие и условия. Не заданы вымышленные KPI, сроки, владельцы, конверсии или объем эффекта.
[Текст из исходной презентации, который находился за пределами слайда или под другими объектами]
hypothesis 0: Связь с текущим продуктом повышаетполезность письма
test 0: Для одного продуктового события сравнить текущий шаблон с письмом, где ясно указаны изменение, последствия и действие
metric 0: Больше завершенных целевых действий без роста отписок
hypothesis 1: Объяснение личной выгоды помогает принять решение
test 1: Для одинакового предложения сравнить общий текст и объяснение на основе ситуации клиента. Пример: выбор категории кешбэка
metric 1: Больше активаций или выборов подходящей опции
hypothesis 2: Выгода для действующих клиентов поддерживает интерес
test 2: В используемом сервисе экосистемы проверить письмо с предложением для постоянного клиента против группы без такого письма
metric 2: Дополнительные покупки или продления с учетом стоимости выгоды
hypothesis 0: Выбор тем делает письма более ожидаемыми
test 0: Предложить выбор тем и продуктов в приложении. Сравнить всю приглашенную группу с контрольной, включая тех, кто ничего не выбрал
metric 0: Больше целевых действий при меньшем числе жалоб и отписок
hypothesis 1: Анонс важного письма помогает его заметить
test 1: Сравнить одно и то же полезное письмо с коротким анонсом в приложении или пуше и без анонса. Учесть дополнительный контакт
metric 1: Прирост целевых действий оправдывает дополнительный контакт
hypothesis 2: Согласование контактов между каналами снижает раздражение
test 2: Сравнить текущие рассылки с вариантом без повторов после действия клиента и с ограничением общей частоты по каналам
metric 2: Меньше отписок и жалоб без снижения числа целевых действий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Предложения команды отчета по мотивам качественного исследования, а не установленные эффекты ИИ. Основание: текущий отчет, слайды 6–11; исходный отчет, слайды 6–9, 17–18, 27–34. В группах обсуждались конкретная польза, рекомендации по своим продуктам и тратам, возможность выбора тем, понятность и следующий шаг. Три ИИ-сценария, распределение ролей каналов и критерии эксперимента являются новыми гипотезами. Анонс через пуш не означает доказанное превосходство канала. Расчеты и условия продуктов должны поступать из актуальных систем банка; роль ИИ — объяснение и сопровождение клиента.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TITLE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IVIDER-image-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08760" y="502920"/>
            <a:ext cx="182880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b="1" spc="3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4200" dirty="0"/>
          </a:p>
        </p:txBody>
      </p:sp>
      <p:sp>
        <p:nvSpPr>
          <p:cNvPr id="4" name="Shape 0"/>
          <p:cNvSpPr/>
          <p:nvPr/>
        </p:nvSpPr>
        <p:spPr>
          <a:xfrm>
            <a:off x="1005840" y="603504"/>
            <a:ext cx="237744" cy="2377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9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9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517904" y="4023360"/>
            <a:ext cx="1828800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1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1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63040"/>
            <a:ext cx="2743200" cy="7498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4160520"/>
            <a:ext cx="9692640" cy="1051560"/>
          </a:xfrm>
          <a:prstGeom prst="rect">
            <a:avLst/>
          </a:prstGeom>
        </p:spPr>
      </p:pic>
      <p:sp>
        <p:nvSpPr>
          <p:cNvPr id="4" name="report type"/>
          <p:cNvSpPr txBox="1"/>
          <p:nvPr/>
        </p:nvSpPr>
        <p:spPr>
          <a:xfrm>
            <a:off x="1737360" y="41605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bg1"/>
                </a:solidFill>
              </a:rPr>
              <a:t>Отчет по качественному исследованию</a:t>
            </a:r>
            <a:endParaRPr lang="en-US" sz="3200" dirty="0"/>
          </a:p>
        </p:txBody>
      </p:sp>
      <p:sp>
        <p:nvSpPr>
          <p:cNvPr id="5" name="title"/>
          <p:cNvSpPr txBox="1"/>
          <p:nvPr/>
        </p:nvSpPr>
        <p:spPr>
          <a:xfrm>
            <a:off x="1737360" y="5669280"/>
            <a:ext cx="1316736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Восприятие email-коммуникаций Сбера и направления развития канала</a:t>
            </a:r>
            <a:endParaRPr lang="en-US" sz="6600" dirty="0"/>
          </a:p>
        </p:txBody>
      </p:sp>
      <p:sp>
        <p:nvSpPr>
          <p:cNvPr id="6" name="date"/>
          <p:cNvSpPr txBox="1"/>
          <p:nvPr/>
        </p:nvSpPr>
        <p:spPr>
          <a:xfrm>
            <a:off x="1737360" y="1188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dirty="0">
                <a:solidFill>
                  <a:schemeClr val="accent6"/>
                </a:solidFill>
              </a:rPr>
              <a:t>Сентябрь 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Содержание</a:t>
            </a:r>
            <a:endParaRPr lang="en-US" sz="4000" dirty="0"/>
          </a:p>
        </p:txBody>
      </p:sp>
      <p:pic>
        <p:nvPicPr>
          <p:cNvPr id="3" name="Image 0" descr="/tmp/claude-0/-home-user--/79b729a8-3fa1-5cbb-8e3b-0cd80d582848/scratchpad/build/imag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0" y="457200"/>
            <a:ext cx="3840480" cy="3867912"/>
          </a:xfrm>
          <a:prstGeom prst="rect">
            <a:avLst/>
          </a:prstGeom>
        </p:spPr>
      </p:pic>
      <p:sp>
        <p:nvSpPr>
          <p:cNvPr id="4" name="rule"/>
          <p:cNvSpPr/>
          <p:nvPr/>
        </p:nvSpPr>
        <p:spPr>
          <a:xfrm>
            <a:off x="1005840" y="4114800"/>
            <a:ext cx="22372625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5" name="section number"/>
          <p:cNvSpPr txBox="1"/>
          <p:nvPr/>
        </p:nvSpPr>
        <p:spPr>
          <a:xfrm>
            <a:off x="1005840" y="411480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0" b="1" dirty="0">
                <a:ln w="28575">
                  <a:solidFill>
                    <a:srgbClr val="21A038"/>
                  </a:solidFill>
                </a:ln>
                <a:solidFill>
                  <a:srgbClr val="DFF3E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section title"/>
          <p:cNvSpPr txBox="1"/>
          <p:nvPr/>
        </p:nvSpPr>
        <p:spPr>
          <a:xfrm>
            <a:off x="4846320" y="4114800"/>
            <a:ext cx="1325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Методология исследования</a:t>
            </a:r>
            <a:endParaRPr lang="en-US" sz="3600" dirty="0"/>
          </a:p>
        </p:txBody>
      </p:sp>
      <p:sp>
        <p:nvSpPr>
          <p:cNvPr id="7" name="pages pill"/>
          <p:cNvSpPr/>
          <p:nvPr/>
        </p:nvSpPr>
        <p:spPr>
          <a:xfrm>
            <a:off x="22226321" y="4846320"/>
            <a:ext cx="1152144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21A038"/>
            </a:solidFill>
            <a:prstDash val="solid"/>
          </a:ln>
        </p:spPr>
      </p:sp>
      <p:sp>
        <p:nvSpPr>
          <p:cNvPr id="8" name="section pages"/>
          <p:cNvSpPr txBox="1"/>
          <p:nvPr/>
        </p:nvSpPr>
        <p:spPr>
          <a:xfrm>
            <a:off x="22226321" y="4846320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3</a:t>
            </a:r>
            <a:endParaRPr lang="en-US" sz="2200" dirty="0"/>
          </a:p>
        </p:txBody>
      </p:sp>
      <p:sp>
        <p:nvSpPr>
          <p:cNvPr id="9" name="rule"/>
          <p:cNvSpPr/>
          <p:nvPr/>
        </p:nvSpPr>
        <p:spPr>
          <a:xfrm>
            <a:off x="1005840" y="6217920"/>
            <a:ext cx="22372625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10" name="section number"/>
          <p:cNvSpPr txBox="1"/>
          <p:nvPr/>
        </p:nvSpPr>
        <p:spPr>
          <a:xfrm>
            <a:off x="1005840" y="62179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0" b="1" dirty="0">
                <a:ln w="28575">
                  <a:solidFill>
                    <a:srgbClr val="21A038"/>
                  </a:solidFill>
                </a:ln>
                <a:solidFill>
                  <a:srgbClr val="DFF3E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8000" dirty="0"/>
          </a:p>
        </p:txBody>
      </p:sp>
      <p:sp>
        <p:nvSpPr>
          <p:cNvPr id="11" name="section title"/>
          <p:cNvSpPr txBox="1"/>
          <p:nvPr/>
        </p:nvSpPr>
        <p:spPr>
          <a:xfrm>
            <a:off x="4846320" y="6217920"/>
            <a:ext cx="1325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Ключевые выводы и рекомендации</a:t>
            </a:r>
            <a:endParaRPr lang="en-US" sz="3600" dirty="0"/>
          </a:p>
        </p:txBody>
      </p:sp>
      <p:sp>
        <p:nvSpPr>
          <p:cNvPr id="12" name="pages pill"/>
          <p:cNvSpPr/>
          <p:nvPr/>
        </p:nvSpPr>
        <p:spPr>
          <a:xfrm>
            <a:off x="21513089" y="6949440"/>
            <a:ext cx="1865376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21A038"/>
            </a:solidFill>
            <a:prstDash val="solid"/>
          </a:ln>
        </p:spPr>
      </p:sp>
      <p:sp>
        <p:nvSpPr>
          <p:cNvPr id="13" name="section pages"/>
          <p:cNvSpPr txBox="1"/>
          <p:nvPr/>
        </p:nvSpPr>
        <p:spPr>
          <a:xfrm>
            <a:off x="21513089" y="6949440"/>
            <a:ext cx="1865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4–10</a:t>
            </a:r>
            <a:endParaRPr lang="en-US" sz="2200" dirty="0"/>
          </a:p>
        </p:txBody>
      </p:sp>
      <p:sp>
        <p:nvSpPr>
          <p:cNvPr id="14" name="rule"/>
          <p:cNvSpPr/>
          <p:nvPr/>
        </p:nvSpPr>
        <p:spPr>
          <a:xfrm>
            <a:off x="1005840" y="8321040"/>
            <a:ext cx="22372625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15" name="section number"/>
          <p:cNvSpPr txBox="1"/>
          <p:nvPr/>
        </p:nvSpPr>
        <p:spPr>
          <a:xfrm>
            <a:off x="1005840" y="832104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0" b="1" dirty="0">
                <a:ln w="28575">
                  <a:solidFill>
                    <a:srgbClr val="21A038"/>
                  </a:solidFill>
                </a:ln>
                <a:solidFill>
                  <a:srgbClr val="DFF3E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8000" dirty="0"/>
          </a:p>
        </p:txBody>
      </p:sp>
      <p:sp>
        <p:nvSpPr>
          <p:cNvPr id="16" name="section title"/>
          <p:cNvSpPr txBox="1"/>
          <p:nvPr/>
        </p:nvSpPr>
        <p:spPr>
          <a:xfrm>
            <a:off x="4846320" y="8321040"/>
            <a:ext cx="1325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Гипотезы для SberCampaigning</a:t>
            </a:r>
            <a:endParaRPr lang="en-US" sz="3600" dirty="0"/>
          </a:p>
        </p:txBody>
      </p:sp>
      <p:sp>
        <p:nvSpPr>
          <p:cNvPr id="17" name="pages pill"/>
          <p:cNvSpPr/>
          <p:nvPr/>
        </p:nvSpPr>
        <p:spPr>
          <a:xfrm>
            <a:off x="21275345" y="9052560"/>
            <a:ext cx="210312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21A038"/>
            </a:solidFill>
            <a:prstDash val="solid"/>
          </a:ln>
        </p:spPr>
      </p:sp>
      <p:sp>
        <p:nvSpPr>
          <p:cNvPr id="18" name="section pages"/>
          <p:cNvSpPr txBox="1"/>
          <p:nvPr/>
        </p:nvSpPr>
        <p:spPr>
          <a:xfrm>
            <a:off x="21275345" y="9052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11–13</a:t>
            </a:r>
            <a:endParaRPr lang="en-US" sz="2200" dirty="0"/>
          </a:p>
        </p:txBody>
      </p:sp>
      <p:sp>
        <p:nvSpPr>
          <p:cNvPr id="19" name="rule"/>
          <p:cNvSpPr/>
          <p:nvPr/>
        </p:nvSpPr>
        <p:spPr>
          <a:xfrm>
            <a:off x="1005840" y="10424160"/>
            <a:ext cx="22372625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20" name="section number"/>
          <p:cNvSpPr txBox="1"/>
          <p:nvPr/>
        </p:nvSpPr>
        <p:spPr>
          <a:xfrm>
            <a:off x="1005840" y="1042416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000" b="1" dirty="0">
                <a:ln w="28575">
                  <a:solidFill>
                    <a:srgbClr val="21A038"/>
                  </a:solidFill>
                </a:ln>
                <a:solidFill>
                  <a:srgbClr val="DFF3E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8000" dirty="0"/>
          </a:p>
        </p:txBody>
      </p:sp>
      <p:sp>
        <p:nvSpPr>
          <p:cNvPr id="21" name="section title"/>
          <p:cNvSpPr txBox="1"/>
          <p:nvPr/>
        </p:nvSpPr>
        <p:spPr>
          <a:xfrm>
            <a:off x="4846320" y="10424160"/>
            <a:ext cx="1325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Приложения</a:t>
            </a:r>
            <a:endParaRPr lang="en-US" sz="3600" dirty="0"/>
          </a:p>
        </p:txBody>
      </p:sp>
      <p:sp>
        <p:nvSpPr>
          <p:cNvPr id="22" name="pages pill"/>
          <p:cNvSpPr/>
          <p:nvPr/>
        </p:nvSpPr>
        <p:spPr>
          <a:xfrm>
            <a:off x="21275345" y="11155680"/>
            <a:ext cx="210312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9050">
            <a:solidFill>
              <a:srgbClr val="21A038"/>
            </a:solidFill>
            <a:prstDash val="solid"/>
          </a:ln>
        </p:spPr>
      </p:sp>
      <p:sp>
        <p:nvSpPr>
          <p:cNvPr id="23" name="section pages"/>
          <p:cNvSpPr txBox="1"/>
          <p:nvPr/>
        </p:nvSpPr>
        <p:spPr>
          <a:xfrm>
            <a:off x="21275345" y="11155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15–25</a:t>
            </a:r>
            <a:endParaRPr lang="en-US" sz="2200" dirty="0"/>
          </a:p>
        </p:txBody>
      </p:sp>
      <p:sp>
        <p:nvSpPr>
          <p:cNvPr id="24" name="rule"/>
          <p:cNvSpPr/>
          <p:nvPr/>
        </p:nvSpPr>
        <p:spPr>
          <a:xfrm>
            <a:off x="1005840" y="12527280"/>
            <a:ext cx="22372625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0876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МЕТОДОЛОГИЯ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Методология исследования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22372625" cy="1600200"/>
          </a:xfrm>
          <a:prstGeom prst="rect">
            <a:avLst/>
          </a:prstGeom>
        </p:spPr>
      </p:pic>
      <p:sp>
        <p:nvSpPr>
          <p:cNvPr id="5" name="goal"/>
          <p:cNvSpPr txBox="1"/>
          <p:nvPr/>
        </p:nvSpPr>
        <p:spPr>
          <a:xfrm>
            <a:off x="1737360" y="2240280"/>
            <a:ext cx="2090958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chemeClr val="accent5"/>
                </a:solidFill>
              </a:rPr>
              <a:t>Цель: </a:t>
            </a:r>
            <a:pPr indent="0" marL="0">
              <a:lnSpc>
                <a:spcPct val="110000"/>
              </a:lnSpc>
              <a:buNone/>
            </a:pPr>
            <a:r>
              <a:rPr lang="en-US" sz="2700" dirty="0">
                <a:solidFill>
                  <a:schemeClr val="bg1"/>
                </a:solidFill>
              </a:rPr>
              <a:t>понять роль email в жизни клиентов, причины игнорирования банковских писем и направления для повышения утилизации и ценности email-рассылок для клиентов Сбера</a:t>
            </a:r>
            <a:endParaRPr lang="en-US" sz="2700" dirty="0"/>
          </a:p>
        </p:txBody>
      </p:sp>
      <p:sp>
        <p:nvSpPr>
          <p:cNvPr id="6" name="method card"/>
          <p:cNvSpPr/>
          <p:nvPr/>
        </p:nvSpPr>
        <p:spPr>
          <a:xfrm>
            <a:off x="1005840" y="4160520"/>
            <a:ext cx="7040880" cy="4023360"/>
          </a:xfrm>
          <a:prstGeom prst="roundRect">
            <a:avLst>
              <a:gd name="adj" fmla="val 9091"/>
            </a:avLst>
          </a:prstGeom>
          <a:solidFill>
            <a:srgbClr val="FFFFFF">
              <a:alpha val="65000"/>
            </a:srgbClr>
          </a:solidFill>
          <a:ln w="19050">
            <a:solidFill>
              <a:srgbClr val="9ED8B0"/>
            </a:solidFill>
            <a:prstDash val="solid"/>
          </a:ln>
        </p:spPr>
      </p:sp>
      <p:sp>
        <p:nvSpPr>
          <p:cNvPr id="7" name="label"/>
          <p:cNvSpPr txBox="1"/>
          <p:nvPr/>
        </p:nvSpPr>
        <p:spPr>
          <a:xfrm>
            <a:off x="1554480" y="45262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МЕТОД ИССЛЕДОВАНИЯ:</a:t>
            </a:r>
            <a:endParaRPr lang="en-US" sz="1700" dirty="0"/>
          </a:p>
        </p:txBody>
      </p:sp>
      <p:sp>
        <p:nvSpPr>
          <p:cNvPr id="8" name="stat"/>
          <p:cNvSpPr txBox="1"/>
          <p:nvPr/>
        </p:nvSpPr>
        <p:spPr>
          <a:xfrm>
            <a:off x="1554480" y="4892040"/>
            <a:ext cx="6309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</a:t>
            </a:r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фокус-групп</a:t>
            </a:r>
            <a:endParaRPr lang="en-US" sz="13000" dirty="0"/>
          </a:p>
        </p:txBody>
      </p:sp>
      <p:sp>
        <p:nvSpPr>
          <p:cNvPr id="9" name="method facts"/>
          <p:cNvSpPr txBox="1"/>
          <p:nvPr/>
        </p:nvSpPr>
        <p:spPr>
          <a:xfrm>
            <a:off x="1554480" y="667512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В онлайн-формата</a:t>
            </a:r>
            <a:endParaRPr lang="en-US" sz="21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Длительность каждой группы: 2 часа</a:t>
            </a:r>
            <a:endParaRPr lang="en-US" sz="2100" dirty="0"/>
          </a:p>
          <a:p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Количество участников на группе: 5</a:t>
            </a:r>
            <a:endParaRPr lang="en-US" sz="2100" dirty="0"/>
          </a:p>
        </p:txBody>
      </p:sp>
      <p:sp>
        <p:nvSpPr>
          <p:cNvPr id="10" name="label"/>
          <p:cNvSpPr txBox="1"/>
          <p:nvPr/>
        </p:nvSpPr>
        <p:spPr>
          <a:xfrm>
            <a:off x="850392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ЦЕЛЕВАЯ АУДИТОРИЯ</a:t>
            </a:r>
            <a:endParaRPr lang="en-US" sz="1700" dirty="0"/>
          </a:p>
        </p:txBody>
      </p:sp>
      <p:sp>
        <p:nvSpPr>
          <p:cNvPr id="11" name="chip"/>
          <p:cNvSpPr/>
          <p:nvPr/>
        </p:nvSpPr>
        <p:spPr>
          <a:xfrm>
            <a:off x="8503920" y="4800600"/>
            <a:ext cx="4379976" cy="60350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2" name="chip dot"/>
          <p:cNvSpPr/>
          <p:nvPr/>
        </p:nvSpPr>
        <p:spPr>
          <a:xfrm>
            <a:off x="8741664" y="503834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chip text"/>
          <p:cNvSpPr txBox="1"/>
          <p:nvPr/>
        </p:nvSpPr>
        <p:spPr>
          <a:xfrm>
            <a:off x="9006840" y="4800600"/>
            <a:ext cx="38313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Мужчины и женщины 20-55 лет</a:t>
            </a:r>
            <a:endParaRPr lang="en-US" sz="1900" dirty="0"/>
          </a:p>
        </p:txBody>
      </p:sp>
      <p:sp>
        <p:nvSpPr>
          <p:cNvPr id="14" name="chip"/>
          <p:cNvSpPr/>
          <p:nvPr/>
        </p:nvSpPr>
        <p:spPr>
          <a:xfrm>
            <a:off x="13066776" y="4800600"/>
            <a:ext cx="5866384" cy="60350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5" name="chip dot"/>
          <p:cNvSpPr/>
          <p:nvPr/>
        </p:nvSpPr>
        <p:spPr>
          <a:xfrm>
            <a:off x="13304520" y="5038344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chip text"/>
          <p:cNvSpPr txBox="1"/>
          <p:nvPr/>
        </p:nvSpPr>
        <p:spPr>
          <a:xfrm>
            <a:off x="13569696" y="4800600"/>
            <a:ext cx="53177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Представители сегментов: Массовый, МВС</a:t>
            </a:r>
            <a:endParaRPr lang="en-US" sz="1900" dirty="0"/>
          </a:p>
        </p:txBody>
      </p:sp>
      <p:sp>
        <p:nvSpPr>
          <p:cNvPr id="17" name="chip"/>
          <p:cNvSpPr/>
          <p:nvPr/>
        </p:nvSpPr>
        <p:spPr>
          <a:xfrm>
            <a:off x="8503920" y="5586984"/>
            <a:ext cx="6947408" cy="60350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8" name="chip dot"/>
          <p:cNvSpPr/>
          <p:nvPr/>
        </p:nvSpPr>
        <p:spPr>
          <a:xfrm>
            <a:off x="8741664" y="5824728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chip text"/>
          <p:cNvSpPr txBox="1"/>
          <p:nvPr/>
        </p:nvSpPr>
        <p:spPr>
          <a:xfrm>
            <a:off x="9006840" y="5586984"/>
            <a:ext cx="6398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Различный уровень дохода и цифровой активности</a:t>
            </a:r>
            <a:endParaRPr lang="en-US" sz="1900" dirty="0"/>
          </a:p>
        </p:txBody>
      </p:sp>
      <p:sp>
        <p:nvSpPr>
          <p:cNvPr id="20" name="chip"/>
          <p:cNvSpPr/>
          <p:nvPr/>
        </p:nvSpPr>
        <p:spPr>
          <a:xfrm>
            <a:off x="8503920" y="6373368"/>
            <a:ext cx="6001512" cy="60350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21" name="chip dot"/>
          <p:cNvSpPr/>
          <p:nvPr/>
        </p:nvSpPr>
        <p:spPr>
          <a:xfrm>
            <a:off x="8741664" y="6611112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chip text"/>
          <p:cNvSpPr txBox="1"/>
          <p:nvPr/>
        </p:nvSpPr>
        <p:spPr>
          <a:xfrm>
            <a:off x="9006840" y="6373368"/>
            <a:ext cx="5452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Активные пользователи электронной почты</a:t>
            </a:r>
            <a:endParaRPr lang="en-US" sz="1900" dirty="0"/>
          </a:p>
        </p:txBody>
      </p:sp>
      <p:sp>
        <p:nvSpPr>
          <p:cNvPr id="23" name="chip"/>
          <p:cNvSpPr/>
          <p:nvPr/>
        </p:nvSpPr>
        <p:spPr>
          <a:xfrm>
            <a:off x="14688312" y="6373368"/>
            <a:ext cx="2488184" cy="60350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24" name="chip dot"/>
          <p:cNvSpPr/>
          <p:nvPr/>
        </p:nvSpPr>
        <p:spPr>
          <a:xfrm>
            <a:off x="14926056" y="6611112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chip text"/>
          <p:cNvSpPr txBox="1"/>
          <p:nvPr/>
        </p:nvSpPr>
        <p:spPr>
          <a:xfrm>
            <a:off x="15191232" y="6373368"/>
            <a:ext cx="1939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Клиенты СБЕРа</a:t>
            </a:r>
            <a:endParaRPr lang="en-US" sz="1900" dirty="0"/>
          </a:p>
        </p:txBody>
      </p:sp>
      <p:sp>
        <p:nvSpPr>
          <p:cNvPr id="26" name="chip"/>
          <p:cNvSpPr/>
          <p:nvPr/>
        </p:nvSpPr>
        <p:spPr>
          <a:xfrm>
            <a:off x="8503920" y="7159752"/>
            <a:ext cx="4650232" cy="603504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27" name="chip dot"/>
          <p:cNvSpPr/>
          <p:nvPr/>
        </p:nvSpPr>
        <p:spPr>
          <a:xfrm>
            <a:off x="8741664" y="7397496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chip text"/>
          <p:cNvSpPr txBox="1"/>
          <p:nvPr/>
        </p:nvSpPr>
        <p:spPr>
          <a:xfrm>
            <a:off x="9006840" y="7159752"/>
            <a:ext cx="4101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Пользователи экосистемы СБЕРа</a:t>
            </a:r>
            <a:endParaRPr lang="en-US" sz="1900" dirty="0"/>
          </a:p>
        </p:txBody>
      </p:sp>
      <p:sp>
        <p:nvSpPr>
          <p:cNvPr id="29" name="label"/>
          <p:cNvSpPr txBox="1"/>
          <p:nvPr/>
        </p:nvSpPr>
        <p:spPr>
          <a:xfrm>
            <a:off x="2029968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ГЕОГРАФИЯ:</a:t>
            </a:r>
            <a:endParaRPr lang="en-US" sz="17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0" y="4800600"/>
            <a:ext cx="384048" cy="384048"/>
          </a:xfrm>
          <a:prstGeom prst="rect">
            <a:avLst/>
          </a:prstGeom>
        </p:spPr>
      </p:pic>
      <p:sp>
        <p:nvSpPr>
          <p:cNvPr id="31" name="geography"/>
          <p:cNvSpPr txBox="1"/>
          <p:nvPr/>
        </p:nvSpPr>
        <p:spPr>
          <a:xfrm>
            <a:off x="20848320" y="476402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Москва, Екатеринбург</a:t>
            </a:r>
            <a:endParaRPr lang="en-US" sz="2400" dirty="0"/>
          </a:p>
        </p:txBody>
      </p:sp>
      <p:pic>
        <p:nvPicPr>
          <p:cNvPr id="32" name="Image 2" descr="/tmp/claude-0/-home-user--/79b729a8-3fa1-5cbb-8e3b-0cd80d582848/scratchpad/build/image1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0" y="5989320"/>
            <a:ext cx="3566160" cy="1783080"/>
          </a:xfrm>
          <a:prstGeom prst="rect">
            <a:avLst/>
          </a:prstGeom>
        </p:spPr>
      </p:pic>
      <p:sp>
        <p:nvSpPr>
          <p:cNvPr id="33" name="label"/>
          <p:cNvSpPr txBox="1"/>
          <p:nvPr/>
        </p:nvSpPr>
        <p:spPr>
          <a:xfrm>
            <a:off x="1005840" y="8595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ОБСУЖДАЕМЫЕ ТЕМЫ</a:t>
            </a:r>
            <a:endParaRPr lang="en-US" sz="1700" dirty="0"/>
          </a:p>
        </p:txBody>
      </p:sp>
      <p:sp>
        <p:nvSpPr>
          <p:cNvPr id="34" name="rule"/>
          <p:cNvSpPr/>
          <p:nvPr/>
        </p:nvSpPr>
        <p:spPr>
          <a:xfrm>
            <a:off x="1005840" y="9235440"/>
            <a:ext cx="10424160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35" name="dot"/>
          <p:cNvSpPr/>
          <p:nvPr/>
        </p:nvSpPr>
        <p:spPr>
          <a:xfrm>
            <a:off x="1005840" y="9770364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opic"/>
          <p:cNvSpPr txBox="1"/>
          <p:nvPr/>
        </p:nvSpPr>
        <p:spPr>
          <a:xfrm>
            <a:off x="1417320" y="92354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spc="100" kern="0" dirty="0">
                <a:solidFill>
                  <a:schemeClr val="accent2"/>
                </a:solidFill>
              </a:rPr>
              <a:t>ПРИВЫЧКИ</a:t>
            </a:r>
            <a:endParaRPr lang="en-US" sz="1600" dirty="0"/>
          </a:p>
        </p:txBody>
      </p:sp>
      <p:sp>
        <p:nvSpPr>
          <p:cNvPr id="37" name="topic text"/>
          <p:cNvSpPr txBox="1"/>
          <p:nvPr/>
        </p:nvSpPr>
        <p:spPr>
          <a:xfrm>
            <a:off x="4754880" y="923544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Задачи, решаемые в почте, регулярность проверки, сортировка, отношение к рассылкам</a:t>
            </a:r>
            <a:endParaRPr lang="en-US" sz="2000" dirty="0"/>
          </a:p>
        </p:txBody>
      </p:sp>
      <p:sp>
        <p:nvSpPr>
          <p:cNvPr id="38" name="rule"/>
          <p:cNvSpPr/>
          <p:nvPr/>
        </p:nvSpPr>
        <p:spPr>
          <a:xfrm>
            <a:off x="1005840" y="10469880"/>
            <a:ext cx="10424160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39" name="dot"/>
          <p:cNvSpPr/>
          <p:nvPr/>
        </p:nvSpPr>
        <p:spPr>
          <a:xfrm>
            <a:off x="1005840" y="11004804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topic"/>
          <p:cNvSpPr txBox="1"/>
          <p:nvPr/>
        </p:nvSpPr>
        <p:spPr>
          <a:xfrm>
            <a:off x="1417320" y="1046988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spc="100" kern="0" dirty="0">
                <a:solidFill>
                  <a:schemeClr val="accent2"/>
                </a:solidFill>
              </a:rPr>
              <a:t>БАНКОВСКИЕ ПИСЬМА</a:t>
            </a:r>
            <a:endParaRPr lang="en-US" sz="1600" dirty="0"/>
          </a:p>
        </p:txBody>
      </p:sp>
      <p:sp>
        <p:nvSpPr>
          <p:cNvPr id="41" name="topic text"/>
          <p:cNvSpPr txBox="1"/>
          <p:nvPr/>
        </p:nvSpPr>
        <p:spPr>
          <a:xfrm>
            <a:off x="4754880" y="1046988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Причины открытия и игнорирования; реакции на темы и форматы, вовлекающие механики</a:t>
            </a:r>
            <a:endParaRPr lang="en-US" sz="2000" dirty="0"/>
          </a:p>
        </p:txBody>
      </p:sp>
      <p:sp>
        <p:nvSpPr>
          <p:cNvPr id="42" name="rule"/>
          <p:cNvSpPr/>
          <p:nvPr/>
        </p:nvSpPr>
        <p:spPr>
          <a:xfrm>
            <a:off x="1005840" y="11704320"/>
            <a:ext cx="10424160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43" name="dot"/>
          <p:cNvSpPr/>
          <p:nvPr/>
        </p:nvSpPr>
        <p:spPr>
          <a:xfrm>
            <a:off x="1005840" y="12239244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4" name="topic"/>
          <p:cNvSpPr txBox="1"/>
          <p:nvPr/>
        </p:nvSpPr>
        <p:spPr>
          <a:xfrm>
            <a:off x="1417320" y="1170432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spc="100" kern="0" dirty="0">
                <a:solidFill>
                  <a:schemeClr val="accent2"/>
                </a:solidFill>
              </a:rPr>
              <a:t>ПРОДУКТОВЫЕ ВОЗМОЖНОСТИ</a:t>
            </a:r>
            <a:endParaRPr lang="en-US" sz="1600" dirty="0"/>
          </a:p>
        </p:txBody>
      </p:sp>
      <p:sp>
        <p:nvSpPr>
          <p:cNvPr id="45" name="topic text"/>
          <p:cNvSpPr txBox="1"/>
          <p:nvPr/>
        </p:nvSpPr>
        <p:spPr>
          <a:xfrm>
            <a:off x="4754880" y="1170432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Идеи персонализации рассылок, коммуникации экосистемы, Rambler и сортировка писем с ИИ</a:t>
            </a:r>
            <a:endParaRPr lang="en-US" sz="2000" dirty="0"/>
          </a:p>
        </p:txBody>
      </p:sp>
      <p:sp>
        <p:nvSpPr>
          <p:cNvPr id="46" name="label"/>
          <p:cNvSpPr txBox="1"/>
          <p:nvPr/>
        </p:nvSpPr>
        <p:spPr>
          <a:xfrm>
            <a:off x="12344400" y="8595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ЦЕЛИ ИССЛЕДОВАНИЯ</a:t>
            </a:r>
            <a:endParaRPr lang="en-US" sz="1700" dirty="0"/>
          </a:p>
        </p:txBody>
      </p:sp>
      <p:sp>
        <p:nvSpPr>
          <p:cNvPr id="47" name="rule"/>
          <p:cNvSpPr/>
          <p:nvPr/>
        </p:nvSpPr>
        <p:spPr>
          <a:xfrm>
            <a:off x="12618720" y="9601200"/>
            <a:ext cx="0" cy="2547747"/>
          </a:xfrm>
          <a:prstGeom prst="line">
            <a:avLst/>
          </a:prstGeom>
          <a:noFill/>
          <a:ln w="25400">
            <a:solidFill>
              <a:srgbClr val="9ED8B0"/>
            </a:solidFill>
            <a:prstDash val="solid"/>
          </a:ln>
        </p:spPr>
      </p:sp>
      <p:sp>
        <p:nvSpPr>
          <p:cNvPr id="48" name="icon ring"/>
          <p:cNvSpPr/>
          <p:nvPr/>
        </p:nvSpPr>
        <p:spPr>
          <a:xfrm>
            <a:off x="12344400" y="9326880"/>
            <a:ext cx="548640" cy="5486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92533" y="9475013"/>
            <a:ext cx="252374" cy="252374"/>
          </a:xfrm>
          <a:prstGeom prst="rect">
            <a:avLst/>
          </a:prstGeom>
        </p:spPr>
      </p:pic>
      <p:sp>
        <p:nvSpPr>
          <p:cNvPr id="50" name="goal text"/>
          <p:cNvSpPr txBox="1"/>
          <p:nvPr/>
        </p:nvSpPr>
        <p:spPr>
          <a:xfrm>
            <a:off x="13258800" y="9326880"/>
            <a:ext cx="7559345" cy="709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Изучить привычки и предпочтения аудитории при пользовании e-mail-сервисами</a:t>
            </a:r>
            <a:endParaRPr lang="en-US" sz="2100" dirty="0"/>
          </a:p>
        </p:txBody>
      </p:sp>
      <p:sp>
        <p:nvSpPr>
          <p:cNvPr id="51" name="icon ring"/>
          <p:cNvSpPr/>
          <p:nvPr/>
        </p:nvSpPr>
        <p:spPr>
          <a:xfrm>
            <a:off x="12344400" y="10423398"/>
            <a:ext cx="548640" cy="5486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92533" y="10571531"/>
            <a:ext cx="252374" cy="252374"/>
          </a:xfrm>
          <a:prstGeom prst="rect">
            <a:avLst/>
          </a:prstGeom>
        </p:spPr>
      </p:pic>
      <p:sp>
        <p:nvSpPr>
          <p:cNvPr id="53" name="goal text"/>
          <p:cNvSpPr txBox="1"/>
          <p:nvPr/>
        </p:nvSpPr>
        <p:spPr>
          <a:xfrm>
            <a:off x="13258800" y="10423398"/>
            <a:ext cx="7559345" cy="106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Изучить сценарии использования, понять, какая коммуникация привлекает пользователей, какие темы или механики интересны</a:t>
            </a:r>
            <a:endParaRPr lang="en-US" sz="2100" dirty="0"/>
          </a:p>
        </p:txBody>
      </p:sp>
      <p:sp>
        <p:nvSpPr>
          <p:cNvPr id="54" name="icon ring"/>
          <p:cNvSpPr/>
          <p:nvPr/>
        </p:nvSpPr>
        <p:spPr>
          <a:xfrm>
            <a:off x="12344400" y="11874627"/>
            <a:ext cx="548640" cy="5486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92533" y="12022760"/>
            <a:ext cx="252374" cy="252374"/>
          </a:xfrm>
          <a:prstGeom prst="rect">
            <a:avLst/>
          </a:prstGeom>
        </p:spPr>
      </p:pic>
      <p:sp>
        <p:nvSpPr>
          <p:cNvPr id="56" name="goal text"/>
          <p:cNvSpPr txBox="1"/>
          <p:nvPr/>
        </p:nvSpPr>
        <p:spPr>
          <a:xfrm>
            <a:off x="13258800" y="11874627"/>
            <a:ext cx="7559345" cy="106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Разработать рекомендации для повышения интереса клиентов к каналу e-mail и к рассылкам банка, в частности</a:t>
            </a:r>
            <a:endParaRPr lang="en-US" sz="2100" dirty="0"/>
          </a:p>
        </p:txBody>
      </p:sp>
      <p:pic>
        <p:nvPicPr>
          <p:cNvPr id="57" name="Image 6" descr="/tmp/claude-0/-home-user--/79b729a8-3fa1-5cbb-8e3b-0cd80d582848/scratchpad/build/image12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49665" y="10424160"/>
            <a:ext cx="1463040" cy="1920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Ключевые выводы</a:t>
            </a:r>
            <a:endParaRPr lang="en-US" sz="96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и рекомендации</a:t>
            </a:r>
            <a:endParaRPr lang="en-US" sz="9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0876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Респонденты чаще заходят в почту за ожидаемым сообщением или для решения конкретной задачи</a:t>
            </a:r>
            <a:endParaRPr lang="en-US" sz="4200" dirty="0"/>
          </a:p>
        </p:txBody>
      </p:sp>
      <p:sp>
        <p:nvSpPr>
          <p:cNvPr id="5" name="lead"/>
          <p:cNvSpPr txBox="1"/>
          <p:nvPr/>
        </p:nvSpPr>
        <p:spPr>
          <a:xfrm>
            <a:off x="1005840" y="2788920"/>
            <a:ext cx="2237262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Электронная почта ассоциируется с </a:t>
            </a:r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огромным количеством рассылок и спама, поэтому респонденты склоны не заходить </a:t>
            </a:r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</a:rPr>
              <a:t>в почту без намерения. </a:t>
            </a:r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Встречаются кейсы, когда пользователи забрасывают ящик из-за переполненности</a:t>
            </a:r>
            <a:endParaRPr lang="en-US" sz="2500" dirty="0"/>
          </a:p>
        </p:txBody>
      </p:sp>
      <p:sp>
        <p:nvSpPr>
          <p:cNvPr id="6" name="label"/>
          <p:cNvSpPr txBox="1"/>
          <p:nvPr/>
        </p:nvSpPr>
        <p:spPr>
          <a:xfrm>
            <a:off x="1005840" y="4297680"/>
            <a:ext cx="1426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ДВА НАБЛЮДАЕМЫХ СПОСОБА РАБОТЫ С ПОЧТОЙ</a:t>
            </a:r>
            <a:endParaRPr lang="en-US" sz="1700" dirty="0"/>
          </a:p>
        </p:txBody>
      </p:sp>
      <p:sp>
        <p:nvSpPr>
          <p:cNvPr id="7" name="way card"/>
          <p:cNvSpPr/>
          <p:nvPr/>
        </p:nvSpPr>
        <p:spPr>
          <a:xfrm>
            <a:off x="1005840" y="5029200"/>
            <a:ext cx="6903720" cy="1737360"/>
          </a:xfrm>
          <a:prstGeom prst="roundRect">
            <a:avLst>
              <a:gd name="adj" fmla="val 15789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8" name="icon ring"/>
          <p:cNvSpPr/>
          <p:nvPr/>
        </p:nvSpPr>
        <p:spPr>
          <a:xfrm>
            <a:off x="1371600" y="4709160"/>
            <a:ext cx="640080" cy="640080"/>
          </a:xfrm>
          <a:prstGeom prst="ellipse">
            <a:avLst/>
          </a:prstGeom>
          <a:solidFill>
            <a:srgbClr val="1164C0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422" y="4881982"/>
            <a:ext cx="294437" cy="294437"/>
          </a:xfrm>
          <a:prstGeom prst="rect">
            <a:avLst/>
          </a:prstGeom>
        </p:spPr>
      </p:pic>
      <p:sp>
        <p:nvSpPr>
          <p:cNvPr id="10" name="way"/>
          <p:cNvSpPr txBox="1"/>
          <p:nvPr/>
        </p:nvSpPr>
        <p:spPr>
          <a:xfrm>
            <a:off x="1417320" y="5486400"/>
            <a:ext cx="6080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Методичная проверка и фильтры: 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случайные письма отсеиваются</a:t>
            </a:r>
            <a:endParaRPr lang="en-US" sz="2200" dirty="0"/>
          </a:p>
        </p:txBody>
      </p:sp>
      <p:sp>
        <p:nvSpPr>
          <p:cNvPr id="11" name="way card"/>
          <p:cNvSpPr/>
          <p:nvPr/>
        </p:nvSpPr>
        <p:spPr>
          <a:xfrm>
            <a:off x="8366760" y="5029200"/>
            <a:ext cx="6903720" cy="1737360"/>
          </a:xfrm>
          <a:prstGeom prst="roundRect">
            <a:avLst>
              <a:gd name="adj" fmla="val 15789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2" name="icon ring"/>
          <p:cNvSpPr/>
          <p:nvPr/>
        </p:nvSpPr>
        <p:spPr>
          <a:xfrm>
            <a:off x="8732520" y="4709160"/>
            <a:ext cx="640080" cy="640080"/>
          </a:xfrm>
          <a:prstGeom prst="ellipse">
            <a:avLst/>
          </a:prstGeom>
          <a:solidFill>
            <a:srgbClr val="1164C0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5342" y="4881982"/>
            <a:ext cx="294437" cy="294437"/>
          </a:xfrm>
          <a:prstGeom prst="rect">
            <a:avLst/>
          </a:prstGeom>
        </p:spPr>
      </p:pic>
      <p:sp>
        <p:nvSpPr>
          <p:cNvPr id="14" name="way"/>
          <p:cNvSpPr txBox="1"/>
          <p:nvPr/>
        </p:nvSpPr>
        <p:spPr>
          <a:xfrm>
            <a:off x="8778240" y="5486400"/>
            <a:ext cx="6080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Проверка под задачу: 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остальное читают, когда есть время</a:t>
            </a:r>
            <a:endParaRPr lang="en-US" sz="2200" dirty="0"/>
          </a:p>
        </p:txBody>
      </p:sp>
      <p:sp>
        <p:nvSpPr>
          <p:cNvPr id="15" name="label"/>
          <p:cNvSpPr txBox="1"/>
          <p:nvPr/>
        </p:nvSpPr>
        <p:spPr>
          <a:xfrm>
            <a:off x="1005840" y="7315200"/>
            <a:ext cx="1426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ЗАЧЕМ КЛИЕНТЫ ЗАХОДЯТ В ПОЧТУ</a:t>
            </a:r>
            <a:endParaRPr lang="en-US" sz="1700" dirty="0"/>
          </a:p>
        </p:txBody>
      </p:sp>
      <p:sp>
        <p:nvSpPr>
          <p:cNvPr id="16" name="rule"/>
          <p:cNvSpPr/>
          <p:nvPr/>
        </p:nvSpPr>
        <p:spPr>
          <a:xfrm>
            <a:off x="1005840" y="8549640"/>
            <a:ext cx="14264640" cy="0"/>
          </a:xfrm>
          <a:prstGeom prst="line">
            <a:avLst/>
          </a:prstGeom>
          <a:noFill/>
          <a:ln w="25400">
            <a:solidFill>
              <a:srgbClr val="9ED8B0"/>
            </a:solidFill>
            <a:prstDash val="sysDash"/>
          </a:ln>
        </p:spPr>
      </p:sp>
      <p:sp>
        <p:nvSpPr>
          <p:cNvPr id="17" name="icon ring"/>
          <p:cNvSpPr/>
          <p:nvPr/>
        </p:nvSpPr>
        <p:spPr>
          <a:xfrm>
            <a:off x="1005840" y="8046720"/>
            <a:ext cx="1005840" cy="10058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17" y="8318297"/>
            <a:ext cx="462686" cy="462686"/>
          </a:xfrm>
          <a:prstGeom prst="rect">
            <a:avLst/>
          </a:prstGeom>
        </p:spPr>
      </p:pic>
      <p:sp>
        <p:nvSpPr>
          <p:cNvPr id="19" name="reason"/>
          <p:cNvSpPr txBox="1"/>
          <p:nvPr/>
        </p:nvSpPr>
        <p:spPr>
          <a:xfrm>
            <a:off x="1005840" y="92811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Архив и подтверждение</a:t>
            </a:r>
            <a:endParaRPr lang="en-US" sz="2500" dirty="0"/>
          </a:p>
        </p:txBody>
      </p:sp>
      <p:sp>
        <p:nvSpPr>
          <p:cNvPr id="20" name="reason text"/>
          <p:cNvSpPr txBox="1"/>
          <p:nvPr/>
        </p:nvSpPr>
        <p:spPr>
          <a:xfrm>
            <a:off x="1005840" y="1033272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Переписка, чеки, билеты и документы сохраняются на годы; к ним возвращаются по необходимости</a:t>
            </a:r>
            <a:endParaRPr lang="en-US" sz="2100" dirty="0"/>
          </a:p>
        </p:txBody>
      </p:sp>
      <p:sp>
        <p:nvSpPr>
          <p:cNvPr id="21" name="icon ring"/>
          <p:cNvSpPr/>
          <p:nvPr/>
        </p:nvSpPr>
        <p:spPr>
          <a:xfrm>
            <a:off x="5760720" y="8046720"/>
            <a:ext cx="1005840" cy="10058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297" y="8318297"/>
            <a:ext cx="462686" cy="462686"/>
          </a:xfrm>
          <a:prstGeom prst="rect">
            <a:avLst/>
          </a:prstGeom>
        </p:spPr>
      </p:pic>
      <p:sp>
        <p:nvSpPr>
          <p:cNvPr id="23" name="reason"/>
          <p:cNvSpPr txBox="1"/>
          <p:nvPr/>
        </p:nvSpPr>
        <p:spPr>
          <a:xfrm>
            <a:off x="5760720" y="92811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Ожидаемое сообщение</a:t>
            </a:r>
            <a:endParaRPr lang="en-US" sz="2500" dirty="0"/>
          </a:p>
        </p:txBody>
      </p:sp>
      <p:sp>
        <p:nvSpPr>
          <p:cNvPr id="24" name="reason text"/>
          <p:cNvSpPr txBox="1"/>
          <p:nvPr/>
        </p:nvSpPr>
        <p:spPr>
          <a:xfrm>
            <a:off x="5760720" y="1033272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Работа, учеба, семейные дела, регистрация или информация по текущему продукту</a:t>
            </a:r>
            <a:endParaRPr lang="en-US" sz="2100" dirty="0"/>
          </a:p>
        </p:txBody>
      </p:sp>
      <p:sp>
        <p:nvSpPr>
          <p:cNvPr id="25" name="icon ring"/>
          <p:cNvSpPr/>
          <p:nvPr/>
        </p:nvSpPr>
        <p:spPr>
          <a:xfrm>
            <a:off x="10515600" y="8046720"/>
            <a:ext cx="1005840" cy="10058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7177" y="8318297"/>
            <a:ext cx="462686" cy="462686"/>
          </a:xfrm>
          <a:prstGeom prst="rect">
            <a:avLst/>
          </a:prstGeom>
        </p:spPr>
      </p:pic>
      <p:sp>
        <p:nvSpPr>
          <p:cNvPr id="27" name="reason"/>
          <p:cNvSpPr txBox="1"/>
          <p:nvPr/>
        </p:nvSpPr>
        <p:spPr>
          <a:xfrm>
            <a:off x="10515600" y="92811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Поиск подходящей выгоды</a:t>
            </a:r>
            <a:endParaRPr lang="en-US" sz="2500" dirty="0"/>
          </a:p>
        </p:txBody>
      </p:sp>
      <p:sp>
        <p:nvSpPr>
          <p:cNvPr id="28" name="reason text"/>
          <p:cNvSpPr txBox="1"/>
          <p:nvPr/>
        </p:nvSpPr>
        <p:spPr>
          <a:xfrm>
            <a:off x="10515600" y="1033272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При появлении потребности ищут письма магазинов и сервисов по названию, акции или скидке</a:t>
            </a:r>
            <a:endParaRPr lang="en-US" sz="2100" dirty="0"/>
          </a:p>
        </p:txBody>
      </p:sp>
      <p:sp>
        <p:nvSpPr>
          <p:cNvPr id="29" name="quote bubble"/>
          <p:cNvSpPr/>
          <p:nvPr/>
        </p:nvSpPr>
        <p:spPr>
          <a:xfrm>
            <a:off x="15681960" y="4416552"/>
            <a:ext cx="7696505" cy="1570038"/>
          </a:xfrm>
          <a:prstGeom prst="roundRect">
            <a:avLst>
              <a:gd name="adj" fmla="val 19802"/>
            </a:avLst>
          </a:prstGeom>
          <a:solidFill>
            <a:srgbClr val="E3EEFB"/>
          </a:solidFill>
          <a:ln/>
        </p:spPr>
      </p:sp>
      <p:sp>
        <p:nvSpPr>
          <p:cNvPr id="30" name="quote tail"/>
          <p:cNvSpPr/>
          <p:nvPr/>
        </p:nvSpPr>
        <p:spPr>
          <a:xfrm flipV="1">
            <a:off x="16367760" y="5959158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1" name="quote mark"/>
          <p:cNvSpPr/>
          <p:nvPr/>
        </p:nvSpPr>
        <p:spPr>
          <a:xfrm>
            <a:off x="22464065" y="416052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10369" y="4306824"/>
            <a:ext cx="219456" cy="219456"/>
          </a:xfrm>
          <a:prstGeom prst="rect">
            <a:avLst/>
          </a:prstGeom>
        </p:spPr>
      </p:pic>
      <p:sp>
        <p:nvSpPr>
          <p:cNvPr id="33" name="quote text"/>
          <p:cNvSpPr txBox="1"/>
          <p:nvPr/>
        </p:nvSpPr>
        <p:spPr>
          <a:xfrm>
            <a:off x="16093440" y="4782312"/>
            <a:ext cx="6873545" cy="975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«Переписку можно копнуть и за 5, и за 7 лет назад, и вот, пожалуйста, мы договаривались. Так что это доказательство»</a:t>
            </a:r>
            <a:endParaRPr lang="en-US" sz="1700" dirty="0"/>
          </a:p>
        </p:txBody>
      </p:sp>
      <p:sp>
        <p:nvSpPr>
          <p:cNvPr id="34" name="avatar"/>
          <p:cNvSpPr/>
          <p:nvPr/>
        </p:nvSpPr>
        <p:spPr>
          <a:xfrm>
            <a:off x="17007840" y="607803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108424" y="6169470"/>
            <a:ext cx="182880" cy="182880"/>
          </a:xfrm>
          <a:prstGeom prst="rect">
            <a:avLst/>
          </a:prstGeom>
        </p:spPr>
      </p:pic>
      <p:sp>
        <p:nvSpPr>
          <p:cNvPr id="36" name="attribution"/>
          <p:cNvSpPr txBox="1"/>
          <p:nvPr/>
        </p:nvSpPr>
        <p:spPr>
          <a:xfrm>
            <a:off x="17510760" y="6078030"/>
            <a:ext cx="57762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30–44 года, Екатеринбург</a:t>
            </a:r>
            <a:endParaRPr lang="en-US" sz="1600" dirty="0"/>
          </a:p>
        </p:txBody>
      </p:sp>
      <p:sp>
        <p:nvSpPr>
          <p:cNvPr id="37" name="quote bubble"/>
          <p:cNvSpPr/>
          <p:nvPr/>
        </p:nvSpPr>
        <p:spPr>
          <a:xfrm>
            <a:off x="15681960" y="6846126"/>
            <a:ext cx="7696505" cy="1282891"/>
          </a:xfrm>
          <a:prstGeom prst="roundRect">
            <a:avLst>
              <a:gd name="adj" fmla="val 24234"/>
            </a:avLst>
          </a:prstGeom>
          <a:solidFill>
            <a:srgbClr val="E3EEFB"/>
          </a:solidFill>
          <a:ln/>
        </p:spPr>
      </p:sp>
      <p:sp>
        <p:nvSpPr>
          <p:cNvPr id="38" name="quote tail"/>
          <p:cNvSpPr/>
          <p:nvPr/>
        </p:nvSpPr>
        <p:spPr>
          <a:xfrm flipV="1">
            <a:off x="16367760" y="810158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9" name="quote mark"/>
          <p:cNvSpPr/>
          <p:nvPr/>
        </p:nvSpPr>
        <p:spPr>
          <a:xfrm>
            <a:off x="22464065" y="6590094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10369" y="6736398"/>
            <a:ext cx="219456" cy="219456"/>
          </a:xfrm>
          <a:prstGeom prst="rect">
            <a:avLst/>
          </a:prstGeom>
        </p:spPr>
      </p:pic>
      <p:sp>
        <p:nvSpPr>
          <p:cNvPr id="41" name="quote text"/>
          <p:cNvSpPr txBox="1"/>
          <p:nvPr/>
        </p:nvSpPr>
        <p:spPr>
          <a:xfrm>
            <a:off x="16093440" y="7211886"/>
            <a:ext cx="6873545" cy="688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«А если я не жду никакого сообщения, то я, в принципе, на почту не захожу. Вот всё лето не заходила»</a:t>
            </a:r>
            <a:endParaRPr lang="en-US" sz="1700" dirty="0"/>
          </a:p>
        </p:txBody>
      </p:sp>
      <p:sp>
        <p:nvSpPr>
          <p:cNvPr id="42" name="avatar"/>
          <p:cNvSpPr/>
          <p:nvPr/>
        </p:nvSpPr>
        <p:spPr>
          <a:xfrm>
            <a:off x="17007840" y="822045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8424" y="8311896"/>
            <a:ext cx="182880" cy="182880"/>
          </a:xfrm>
          <a:prstGeom prst="rect">
            <a:avLst/>
          </a:prstGeom>
        </p:spPr>
      </p:pic>
      <p:sp>
        <p:nvSpPr>
          <p:cNvPr id="44" name="attribution"/>
          <p:cNvSpPr txBox="1"/>
          <p:nvPr/>
        </p:nvSpPr>
        <p:spPr>
          <a:xfrm>
            <a:off x="17510760" y="8220456"/>
            <a:ext cx="57762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20–29 лет, Екатеринбург</a:t>
            </a:r>
            <a:endParaRPr lang="en-US" sz="1600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81960" y="8823960"/>
            <a:ext cx="7696505" cy="4114800"/>
          </a:xfrm>
          <a:prstGeom prst="rect">
            <a:avLst/>
          </a:prstGeom>
        </p:spPr>
      </p:pic>
      <p:sp>
        <p:nvSpPr>
          <p:cNvPr id="46" name="conclusion label"/>
          <p:cNvSpPr txBox="1"/>
          <p:nvPr/>
        </p:nvSpPr>
        <p:spPr>
          <a:xfrm>
            <a:off x="16184880" y="9098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47" name="conclusion"/>
          <p:cNvSpPr txBox="1"/>
          <p:nvPr/>
        </p:nvSpPr>
        <p:spPr>
          <a:xfrm>
            <a:off x="16184880" y="9738360"/>
            <a:ext cx="669066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Отношение аудитории к электронной почте отличается при использовании почты по собственной инициативе и при получении рассылок</a:t>
            </a:r>
            <a:endParaRPr lang="en-US" sz="2000" dirty="0"/>
          </a:p>
          <a:p>
            <a:pPr marL="279400" indent="-2794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Возможность привлечь внимание клиента в нужный момент ограничена. Шанс на прочтение выше, если письмо ожидаемо или связано с актуальной задачей клиента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0876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Аудитория склонна игнорировать письма и рассылки от банков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86000"/>
            <a:ext cx="14081760" cy="1325880"/>
          </a:xfrm>
          <a:prstGeom prst="rect">
            <a:avLst/>
          </a:prstGeom>
        </p:spPr>
      </p:pic>
      <p:sp>
        <p:nvSpPr>
          <p:cNvPr id="6" name="key statement"/>
          <p:cNvSpPr txBox="1"/>
          <p:nvPr/>
        </p:nvSpPr>
        <p:spPr>
          <a:xfrm>
            <a:off x="1554480" y="2286000"/>
            <a:ext cx="1298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bg1"/>
                </a:solidFill>
              </a:rPr>
              <a:t>Гипотеза о том, что потребители не читают рассылки из банков, подтвердилась</a:t>
            </a:r>
            <a:endParaRPr lang="en-US" sz="2600" dirty="0"/>
          </a:p>
        </p:txBody>
      </p:sp>
      <p:sp>
        <p:nvSpPr>
          <p:cNvPr id="7" name="exception"/>
          <p:cNvSpPr txBox="1"/>
          <p:nvPr/>
        </p:nvSpPr>
        <p:spPr>
          <a:xfrm>
            <a:off x="1005840" y="3840480"/>
            <a:ext cx="1408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Исключение составляют письма, информирующие, например, о приближающихся сроках оплаты кредита, или об изменениях условий обслуживания по их продуктам. Иногда обращают внимание на письма, сообщающие о выгодных акциях.</a:t>
            </a:r>
            <a:endParaRPr lang="en-US" sz="2300" dirty="0"/>
          </a:p>
        </p:txBody>
      </p:sp>
      <p:sp>
        <p:nvSpPr>
          <p:cNvPr id="8" name="label"/>
          <p:cNvSpPr txBox="1"/>
          <p:nvPr/>
        </p:nvSpPr>
        <p:spPr>
          <a:xfrm>
            <a:off x="1005840" y="5440680"/>
            <a:ext cx="1408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ПРИЧИНЫ ИГНОРИРОВАНИЯ</a:t>
            </a:r>
            <a:endParaRPr lang="en-US" sz="1700" dirty="0"/>
          </a:p>
        </p:txBody>
      </p:sp>
      <p:sp>
        <p:nvSpPr>
          <p:cNvPr id="9" name="cause card"/>
          <p:cNvSpPr/>
          <p:nvPr/>
        </p:nvSpPr>
        <p:spPr>
          <a:xfrm>
            <a:off x="1005840" y="6263640"/>
            <a:ext cx="6812280" cy="3383280"/>
          </a:xfrm>
          <a:prstGeom prst="roundRect">
            <a:avLst>
              <a:gd name="adj" fmla="val 8108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0" name="icon ring"/>
          <p:cNvSpPr/>
          <p:nvPr/>
        </p:nvSpPr>
        <p:spPr>
          <a:xfrm>
            <a:off x="1371600" y="5943600"/>
            <a:ext cx="731520" cy="731520"/>
          </a:xfrm>
          <a:prstGeom prst="ellipse">
            <a:avLst/>
          </a:prstGeom>
          <a:solidFill>
            <a:srgbClr val="1164C0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110" y="6141110"/>
            <a:ext cx="336499" cy="336499"/>
          </a:xfrm>
          <a:prstGeom prst="rect">
            <a:avLst/>
          </a:prstGeom>
        </p:spPr>
      </p:pic>
      <p:sp>
        <p:nvSpPr>
          <p:cNvPr id="12" name="cause"/>
          <p:cNvSpPr txBox="1"/>
          <p:nvPr/>
        </p:nvSpPr>
        <p:spPr>
          <a:xfrm>
            <a:off x="1417320" y="690372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Ожидание продажи</a:t>
            </a:r>
            <a:endParaRPr lang="en-US" sz="2600" dirty="0"/>
          </a:p>
        </p:txBody>
      </p:sp>
      <p:sp>
        <p:nvSpPr>
          <p:cNvPr id="13" name="cause text"/>
          <p:cNvSpPr txBox="1"/>
          <p:nvPr/>
        </p:nvSpPr>
        <p:spPr>
          <a:xfrm>
            <a:off x="1417320" y="7589520"/>
            <a:ext cx="5989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Предложения кредитов и других продуктов не совпадают с текущей потребностью; рассылку считают выгодной прежде всего банку</a:t>
            </a:r>
            <a:endParaRPr lang="en-US" sz="2100" dirty="0"/>
          </a:p>
        </p:txBody>
      </p:sp>
      <p:sp>
        <p:nvSpPr>
          <p:cNvPr id="14" name="cause card"/>
          <p:cNvSpPr/>
          <p:nvPr/>
        </p:nvSpPr>
        <p:spPr>
          <a:xfrm>
            <a:off x="8275320" y="6263640"/>
            <a:ext cx="6812280" cy="3383280"/>
          </a:xfrm>
          <a:prstGeom prst="roundRect">
            <a:avLst>
              <a:gd name="adj" fmla="val 8108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5" name="icon ring"/>
          <p:cNvSpPr/>
          <p:nvPr/>
        </p:nvSpPr>
        <p:spPr>
          <a:xfrm>
            <a:off x="8641080" y="5943600"/>
            <a:ext cx="731520" cy="731520"/>
          </a:xfrm>
          <a:prstGeom prst="ellipse">
            <a:avLst/>
          </a:prstGeom>
          <a:solidFill>
            <a:srgbClr val="1164C0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590" y="6141110"/>
            <a:ext cx="336499" cy="336499"/>
          </a:xfrm>
          <a:prstGeom prst="rect">
            <a:avLst/>
          </a:prstGeom>
        </p:spPr>
      </p:pic>
      <p:sp>
        <p:nvSpPr>
          <p:cNvPr id="17" name="cause"/>
          <p:cNvSpPr txBox="1"/>
          <p:nvPr/>
        </p:nvSpPr>
        <p:spPr>
          <a:xfrm>
            <a:off x="8686800" y="6903720"/>
            <a:ext cx="598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Сильная привычка к приложению</a:t>
            </a:r>
            <a:endParaRPr lang="en-US" sz="2600" dirty="0"/>
          </a:p>
        </p:txBody>
      </p:sp>
      <p:sp>
        <p:nvSpPr>
          <p:cNvPr id="18" name="cause text"/>
          <p:cNvSpPr txBox="1"/>
          <p:nvPr/>
        </p:nvSpPr>
        <p:spPr>
          <a:xfrm>
            <a:off x="8686800" y="7589520"/>
            <a:ext cx="5989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Сведения о своих продуктах и важные уведомления привычнее получать в приложении; отдельная роль письма неочевидна</a:t>
            </a:r>
            <a:endParaRPr lang="en-US" sz="2100" dirty="0"/>
          </a:p>
        </p:txBody>
      </p:sp>
      <p:sp>
        <p:nvSpPr>
          <p:cNvPr id="19" name="quote bubble"/>
          <p:cNvSpPr/>
          <p:nvPr/>
        </p:nvSpPr>
        <p:spPr>
          <a:xfrm>
            <a:off x="15499080" y="2450592"/>
            <a:ext cx="7879385" cy="3467290"/>
          </a:xfrm>
          <a:prstGeom prst="roundRect">
            <a:avLst>
              <a:gd name="adj" fmla="val 8967"/>
            </a:avLst>
          </a:prstGeom>
          <a:solidFill>
            <a:srgbClr val="E3EEFB"/>
          </a:solidFill>
          <a:ln/>
        </p:spPr>
      </p:sp>
      <p:sp>
        <p:nvSpPr>
          <p:cNvPr id="20" name="quote tail"/>
          <p:cNvSpPr/>
          <p:nvPr/>
        </p:nvSpPr>
        <p:spPr>
          <a:xfrm flipV="1">
            <a:off x="16184880" y="5890450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1" name="quote mark"/>
          <p:cNvSpPr/>
          <p:nvPr/>
        </p:nvSpPr>
        <p:spPr>
          <a:xfrm>
            <a:off x="22464065" y="219456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0369" y="2340864"/>
            <a:ext cx="219456" cy="219456"/>
          </a:xfrm>
          <a:prstGeom prst="rect">
            <a:avLst/>
          </a:prstGeom>
        </p:spPr>
      </p:pic>
      <p:sp>
        <p:nvSpPr>
          <p:cNvPr id="23" name="quote text"/>
          <p:cNvSpPr txBox="1"/>
          <p:nvPr/>
        </p:nvSpPr>
        <p:spPr>
          <a:xfrm>
            <a:off x="15910560" y="2816352"/>
            <a:ext cx="7056425" cy="2872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Раньше не было приложений, на почту приходили выписки из банка. Сейчас в этом нет необходимости. И большую часть того, что присылают по рассылках, людям это не нужно, потому что оно слишком общее. Я не хочу, чтобы мне слали информацию, которая мне не нужна, потому что так информации дофига»</a:t>
            </a:r>
            <a:endParaRPr lang="en-US" sz="2100" dirty="0"/>
          </a:p>
        </p:txBody>
      </p:sp>
      <p:sp>
        <p:nvSpPr>
          <p:cNvPr id="24" name="avatar"/>
          <p:cNvSpPr/>
          <p:nvPr/>
        </p:nvSpPr>
        <p:spPr>
          <a:xfrm>
            <a:off x="16824960" y="6009322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25544" y="6100762"/>
            <a:ext cx="182880" cy="182880"/>
          </a:xfrm>
          <a:prstGeom prst="rect">
            <a:avLst/>
          </a:prstGeom>
        </p:spPr>
      </p:pic>
      <p:sp>
        <p:nvSpPr>
          <p:cNvPr id="26" name="attribution"/>
          <p:cNvSpPr txBox="1"/>
          <p:nvPr/>
        </p:nvSpPr>
        <p:spPr>
          <a:xfrm>
            <a:off x="17327880" y="6009322"/>
            <a:ext cx="59591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45-55, Москва</a:t>
            </a:r>
            <a:endParaRPr lang="en-US" sz="1600" dirty="0"/>
          </a:p>
        </p:txBody>
      </p:sp>
      <p:sp>
        <p:nvSpPr>
          <p:cNvPr id="27" name="quote bubble"/>
          <p:cNvSpPr/>
          <p:nvPr/>
        </p:nvSpPr>
        <p:spPr>
          <a:xfrm>
            <a:off x="15499080" y="6777418"/>
            <a:ext cx="7879385" cy="2403157"/>
          </a:xfrm>
          <a:prstGeom prst="roundRect">
            <a:avLst>
              <a:gd name="adj" fmla="val 12937"/>
            </a:avLst>
          </a:prstGeom>
          <a:solidFill>
            <a:srgbClr val="E3EEFB"/>
          </a:solidFill>
          <a:ln/>
        </p:spPr>
      </p:sp>
      <p:sp>
        <p:nvSpPr>
          <p:cNvPr id="28" name="quote tail"/>
          <p:cNvSpPr/>
          <p:nvPr/>
        </p:nvSpPr>
        <p:spPr>
          <a:xfrm flipV="1">
            <a:off x="16184880" y="915314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9" name="quote mark"/>
          <p:cNvSpPr/>
          <p:nvPr/>
        </p:nvSpPr>
        <p:spPr>
          <a:xfrm>
            <a:off x="22464065" y="652138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10369" y="6667690"/>
            <a:ext cx="219456" cy="219456"/>
          </a:xfrm>
          <a:prstGeom prst="rect">
            <a:avLst/>
          </a:prstGeom>
        </p:spPr>
      </p:pic>
      <p:sp>
        <p:nvSpPr>
          <p:cNvPr id="31" name="quote text"/>
          <p:cNvSpPr txBox="1"/>
          <p:nvPr/>
        </p:nvSpPr>
        <p:spPr>
          <a:xfrm>
            <a:off x="15910560" y="7143179"/>
            <a:ext cx="7056425" cy="180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«На рассылки от банков не реагирую, потому что там скидывают и кредиты, и сплиты, и рассрочки ОЗОН. Я этим всем не пользуюсь, поэтому неинтересно»</a:t>
            </a:r>
            <a:endParaRPr lang="en-US" sz="2100" dirty="0"/>
          </a:p>
        </p:txBody>
      </p:sp>
      <p:sp>
        <p:nvSpPr>
          <p:cNvPr id="32" name="avatar"/>
          <p:cNvSpPr/>
          <p:nvPr/>
        </p:nvSpPr>
        <p:spPr>
          <a:xfrm>
            <a:off x="16824960" y="927201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25544" y="9363456"/>
            <a:ext cx="182880" cy="182880"/>
          </a:xfrm>
          <a:prstGeom prst="rect">
            <a:avLst/>
          </a:prstGeom>
        </p:spPr>
      </p:pic>
      <p:sp>
        <p:nvSpPr>
          <p:cNvPr id="34" name="attribution"/>
          <p:cNvSpPr txBox="1"/>
          <p:nvPr/>
        </p:nvSpPr>
        <p:spPr>
          <a:xfrm>
            <a:off x="17327880" y="9272016"/>
            <a:ext cx="59591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20–29 лет, Москва</a:t>
            </a:r>
            <a:endParaRPr lang="en-US" sz="16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9875520"/>
            <a:ext cx="22372625" cy="3063240"/>
          </a:xfrm>
          <a:prstGeom prst="rect">
            <a:avLst/>
          </a:prstGeom>
        </p:spPr>
      </p:pic>
      <p:sp>
        <p:nvSpPr>
          <p:cNvPr id="36" name="conclusion label"/>
          <p:cNvSpPr txBox="1"/>
          <p:nvPr/>
        </p:nvSpPr>
        <p:spPr>
          <a:xfrm>
            <a:off x="1645920" y="10195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37" name="rule"/>
          <p:cNvSpPr/>
          <p:nvPr/>
        </p:nvSpPr>
        <p:spPr>
          <a:xfrm>
            <a:off x="12192152" y="10881360"/>
            <a:ext cx="0" cy="1691640"/>
          </a:xfrm>
          <a:prstGeom prst="line">
            <a:avLst/>
          </a:prstGeom>
          <a:noFill/>
          <a:ln w="12700">
            <a:solidFill>
              <a:srgbClr val="9ED8B0"/>
            </a:solidFill>
            <a:prstDash val="solid"/>
          </a:ln>
        </p:spPr>
      </p:sp>
      <p:sp>
        <p:nvSpPr>
          <p:cNvPr id="38" name="conclusion"/>
          <p:cNvSpPr txBox="1"/>
          <p:nvPr/>
        </p:nvSpPr>
        <p:spPr>
          <a:xfrm>
            <a:off x="1645920" y="10881360"/>
            <a:ext cx="100890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К рассылкам от Сбера предъявляют и дополнительные претензии: в отличие от, например, рассылок от Т-банка или Оzon-банка рассылки от Сбера оцениваются как слишком общие, формальные, без персональных рекомендаций и предложений. Они ничем не выделяются из потока рассылок и не вызывают желание с ними ознакомиться.</a:t>
            </a:r>
            <a:endParaRPr lang="en-US" sz="2100" dirty="0"/>
          </a:p>
        </p:txBody>
      </p:sp>
      <p:sp>
        <p:nvSpPr>
          <p:cNvPr id="39" name="conclusion"/>
          <p:cNvSpPr txBox="1"/>
          <p:nvPr/>
        </p:nvSpPr>
        <p:spPr>
          <a:xfrm>
            <a:off x="12649352" y="10881360"/>
            <a:ext cx="1008903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Потребители чаще просматривают письма от банка, связанные с используемыми в данный момент продуктами или услугами Сбера - например, о приближающихся сроках оплаты кредита, или об изменениях условий обслуживания по счету, о начислении дивидендов и т.п.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0876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Повысить интерес к использованию почтового канала и к email рассылкам банка сложно, но возможно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788920"/>
            <a:ext cx="7223760" cy="1828800"/>
          </a:xfrm>
          <a:prstGeom prst="rect">
            <a:avLst/>
          </a:prstGeom>
        </p:spPr>
      </p:pic>
      <p:sp>
        <p:nvSpPr>
          <p:cNvPr id="5" name="key statement"/>
          <p:cNvSpPr txBox="1"/>
          <p:nvPr/>
        </p:nvSpPr>
        <p:spPr>
          <a:xfrm>
            <a:off x="1463040" y="2788920"/>
            <a:ext cx="6309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bg1"/>
                </a:solidFill>
              </a:rPr>
              <a:t>Аудитория привыкла считать, что </a:t>
            </a:r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bg1"/>
                </a:solidFill>
              </a:rPr>
              <a:t>рассылки – это общие стандартные предложения, навязывание ненужных продуктов и услуг</a:t>
            </a:r>
            <a:endParaRPr lang="en-US" sz="2300" dirty="0"/>
          </a:p>
        </p:txBody>
      </p:sp>
      <p:sp>
        <p:nvSpPr>
          <p:cNvPr id="6" name="ideas intro"/>
          <p:cNvSpPr txBox="1"/>
          <p:nvPr/>
        </p:nvSpPr>
        <p:spPr>
          <a:xfrm>
            <a:off x="1005840" y="4892040"/>
            <a:ext cx="7040880" cy="1206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</a:rPr>
              <a:t>Однако в ходе дискуссий с потребителями было выявлено несколько идей как повысить к ним интерес:</a:t>
            </a:r>
            <a:endParaRPr lang="en-US" sz="2200" dirty="0"/>
          </a:p>
        </p:txBody>
      </p:sp>
      <p:sp>
        <p:nvSpPr>
          <p:cNvPr id="7" name="rule"/>
          <p:cNvSpPr/>
          <p:nvPr/>
        </p:nvSpPr>
        <p:spPr>
          <a:xfrm>
            <a:off x="1280160" y="6646926"/>
            <a:ext cx="0" cy="4047998"/>
          </a:xfrm>
          <a:prstGeom prst="line">
            <a:avLst/>
          </a:prstGeom>
          <a:noFill/>
          <a:ln w="25400">
            <a:solidFill>
              <a:srgbClr val="9ED8B0"/>
            </a:solidFill>
            <a:prstDash val="solid"/>
          </a:ln>
        </p:spPr>
      </p:sp>
      <p:sp>
        <p:nvSpPr>
          <p:cNvPr id="8" name="icon ring"/>
          <p:cNvSpPr/>
          <p:nvPr/>
        </p:nvSpPr>
        <p:spPr>
          <a:xfrm>
            <a:off x="1005840" y="6372606"/>
            <a:ext cx="548640" cy="5486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73" y="6520739"/>
            <a:ext cx="252374" cy="252374"/>
          </a:xfrm>
          <a:prstGeom prst="rect">
            <a:avLst/>
          </a:prstGeom>
        </p:spPr>
      </p:pic>
      <p:sp>
        <p:nvSpPr>
          <p:cNvPr id="10" name="idea"/>
          <p:cNvSpPr txBox="1"/>
          <p:nvPr/>
        </p:nvSpPr>
        <p:spPr>
          <a:xfrm>
            <a:off x="1920240" y="6372606"/>
            <a:ext cx="6126480" cy="1008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Дать возможность 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настроить рассылку — выбрать в приложении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, получать ли письма, на какие темы и по каким продуктам</a:t>
            </a:r>
            <a:endParaRPr lang="en-US" sz="1900" dirty="0"/>
          </a:p>
        </p:txBody>
      </p:sp>
      <p:sp>
        <p:nvSpPr>
          <p:cNvPr id="11" name="icon ring"/>
          <p:cNvSpPr/>
          <p:nvPr/>
        </p:nvSpPr>
        <p:spPr>
          <a:xfrm>
            <a:off x="1005840" y="8236141"/>
            <a:ext cx="548640" cy="5486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3" y="8384273"/>
            <a:ext cx="252374" cy="252374"/>
          </a:xfrm>
          <a:prstGeom prst="rect">
            <a:avLst/>
          </a:prstGeom>
        </p:spPr>
      </p:pic>
      <p:sp>
        <p:nvSpPr>
          <p:cNvPr id="13" name="idea"/>
          <p:cNvSpPr txBox="1"/>
          <p:nvPr/>
        </p:nvSpPr>
        <p:spPr>
          <a:xfrm>
            <a:off x="1920240" y="8236141"/>
            <a:ext cx="6126480" cy="132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Заранее обозначать ценность письма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— 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анонсировать важное сообщение в приложении или СМС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, объясняя, что клиент найдет в почте</a:t>
            </a:r>
            <a:endParaRPr lang="en-US" sz="1900" dirty="0"/>
          </a:p>
        </p:txBody>
      </p:sp>
      <p:sp>
        <p:nvSpPr>
          <p:cNvPr id="14" name="icon ring"/>
          <p:cNvSpPr/>
          <p:nvPr/>
        </p:nvSpPr>
        <p:spPr>
          <a:xfrm>
            <a:off x="1005840" y="10420604"/>
            <a:ext cx="548640" cy="5486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973" y="10568737"/>
            <a:ext cx="252374" cy="252374"/>
          </a:xfrm>
          <a:prstGeom prst="rect">
            <a:avLst/>
          </a:prstGeom>
        </p:spPr>
      </p:pic>
      <p:sp>
        <p:nvSpPr>
          <p:cNvPr id="16" name="idea"/>
          <p:cNvSpPr txBox="1"/>
          <p:nvPr/>
        </p:nvSpPr>
        <p:spPr>
          <a:xfrm>
            <a:off x="1920240" y="10420604"/>
            <a:ext cx="6126480" cy="1329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Проверить связку с сервисами экосистемы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— включать банковское предложение в письмо сервиса, если оно связано с задачей клиента и дополняет основную пользу сообщения</a:t>
            </a:r>
            <a:endParaRPr lang="en-US" sz="1900" dirty="0"/>
          </a:p>
        </p:txBody>
      </p:sp>
      <p:sp>
        <p:nvSpPr>
          <p:cNvPr id="17" name="recommendation card"/>
          <p:cNvSpPr/>
          <p:nvPr/>
        </p:nvSpPr>
        <p:spPr>
          <a:xfrm>
            <a:off x="8686800" y="2788920"/>
            <a:ext cx="8503920" cy="9052560"/>
          </a:xfrm>
          <a:prstGeom prst="roundRect">
            <a:avLst>
              <a:gd name="adj" fmla="val 4301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8" name="recommendation head"/>
          <p:cNvSpPr txBox="1"/>
          <p:nvPr/>
        </p:nvSpPr>
        <p:spPr>
          <a:xfrm>
            <a:off x="9144000" y="3154680"/>
            <a:ext cx="7589520" cy="868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Рекомендуется сместить акцент в почтовой коммуникации:</a:t>
            </a:r>
            <a:endParaRPr lang="en-US" sz="2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306570"/>
            <a:ext cx="347472" cy="347472"/>
          </a:xfrm>
          <a:prstGeom prst="rect">
            <a:avLst/>
          </a:prstGeom>
        </p:spPr>
      </p:pic>
      <p:sp>
        <p:nvSpPr>
          <p:cNvPr id="20" name="recommendation"/>
          <p:cNvSpPr txBox="1"/>
          <p:nvPr/>
        </p:nvSpPr>
        <p:spPr>
          <a:xfrm>
            <a:off x="9829800" y="4251706"/>
            <a:ext cx="6903720" cy="75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Максимальная персонализация, вместо общих стандартных предложений</a:t>
            </a:r>
            <a:endParaRPr lang="en-US" sz="2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5290312"/>
            <a:ext cx="347472" cy="347472"/>
          </a:xfrm>
          <a:prstGeom prst="rect">
            <a:avLst/>
          </a:prstGeom>
        </p:spPr>
      </p:pic>
      <p:sp>
        <p:nvSpPr>
          <p:cNvPr id="22" name="recommendation"/>
          <p:cNvSpPr txBox="1"/>
          <p:nvPr/>
        </p:nvSpPr>
        <p:spPr>
          <a:xfrm>
            <a:off x="9829800" y="5235448"/>
            <a:ext cx="6903720" cy="75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tx1"/>
                </a:solidFill>
              </a:rPr>
              <a:t>Понятная выгода и ценность для потребителя.</a:t>
            </a:r>
            <a:endParaRPr lang="en-US" sz="2100" dirty="0"/>
          </a:p>
        </p:txBody>
      </p:sp>
      <p:sp>
        <p:nvSpPr>
          <p:cNvPr id="23" name="format"/>
          <p:cNvSpPr/>
          <p:nvPr/>
        </p:nvSpPr>
        <p:spPr>
          <a:xfrm>
            <a:off x="8961120" y="6264910"/>
            <a:ext cx="7955280" cy="1695196"/>
          </a:xfrm>
          <a:prstGeom prst="roundRect">
            <a:avLst>
              <a:gd name="adj" fmla="val 16182"/>
            </a:avLst>
          </a:prstGeom>
          <a:solidFill>
            <a:srgbClr val="E3F3E7"/>
          </a:solidFill>
          <a:ln/>
        </p:spPr>
      </p:sp>
      <p:sp>
        <p:nvSpPr>
          <p:cNvPr id="24" name="format text"/>
          <p:cNvSpPr txBox="1"/>
          <p:nvPr/>
        </p:nvSpPr>
        <p:spPr>
          <a:xfrm>
            <a:off x="9326880" y="6264910"/>
            <a:ext cx="7223760" cy="169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Формат должен быть максимально лаконичный и визуализированный (видеоролик или инфографика), с конкретными данными (цифрами, процентами, сроками).</a:t>
            </a:r>
            <a:endParaRPr lang="en-US" sz="1900" dirty="0"/>
          </a:p>
        </p:txBody>
      </p:sp>
      <p:sp>
        <p:nvSpPr>
          <p:cNvPr id="25" name="examples label"/>
          <p:cNvSpPr txBox="1"/>
          <p:nvPr/>
        </p:nvSpPr>
        <p:spPr>
          <a:xfrm>
            <a:off x="9144000" y="818870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1"/>
                </a:solidFill>
              </a:rPr>
              <a:t>Например:</a:t>
            </a:r>
            <a:endParaRPr lang="en-US" sz="1900" dirty="0"/>
          </a:p>
        </p:txBody>
      </p:sp>
      <p:sp>
        <p:nvSpPr>
          <p:cNvPr id="26" name="examples"/>
          <p:cNvSpPr txBox="1"/>
          <p:nvPr/>
        </p:nvSpPr>
        <p:spPr>
          <a:xfrm>
            <a:off x="9144000" y="8600186"/>
            <a:ext cx="7589520" cy="310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5900" indent="-215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Давать рекомендации по текущим продуктам и их более выгодным альтернативам.</a:t>
            </a:r>
            <a:endParaRPr lang="en-US" sz="1700" dirty="0"/>
          </a:p>
          <a:p>
            <a:pPr marL="215900" indent="-215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Информировать об изменениях в законодательстве или банковской сфере и их последствиях, которые касаются конкретного пользователя</a:t>
            </a:r>
            <a:endParaRPr lang="en-US" sz="1700" dirty="0"/>
          </a:p>
          <a:p>
            <a:pPr marL="215900" indent="-215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Давать рекомендации на основе трат – например, при оплате обучения в автошколе – письмо о том, что могут вернуть такую-то сумму налога за оплату обучения в автошкол;</a:t>
            </a:r>
            <a:endParaRPr lang="en-US" sz="1700" dirty="0"/>
          </a:p>
          <a:p>
            <a:pPr marL="215900" indent="-215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Предлагать краткие образовательные видеоролики или дайджесты на интересующие потребителя темы.</a:t>
            </a:r>
            <a:endParaRPr lang="en-US" sz="1700" dirty="0"/>
          </a:p>
        </p:txBody>
      </p:sp>
      <p:sp>
        <p:nvSpPr>
          <p:cNvPr id="27" name="quote bubble"/>
          <p:cNvSpPr/>
          <p:nvPr/>
        </p:nvSpPr>
        <p:spPr>
          <a:xfrm>
            <a:off x="17647920" y="2953512"/>
            <a:ext cx="5730545" cy="1991106"/>
          </a:xfrm>
          <a:prstGeom prst="roundRect">
            <a:avLst>
              <a:gd name="adj" fmla="val 15614"/>
            </a:avLst>
          </a:prstGeom>
          <a:solidFill>
            <a:srgbClr val="E3EEFB"/>
          </a:solidFill>
          <a:ln/>
        </p:spPr>
      </p:sp>
      <p:sp>
        <p:nvSpPr>
          <p:cNvPr id="28" name="quote tail"/>
          <p:cNvSpPr/>
          <p:nvPr/>
        </p:nvSpPr>
        <p:spPr>
          <a:xfrm flipV="1">
            <a:off x="18333720" y="4917186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9" name="quote mark"/>
          <p:cNvSpPr/>
          <p:nvPr/>
        </p:nvSpPr>
        <p:spPr>
          <a:xfrm>
            <a:off x="22464065" y="269748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10369" y="2843784"/>
            <a:ext cx="219456" cy="219456"/>
          </a:xfrm>
          <a:prstGeom prst="rect">
            <a:avLst/>
          </a:prstGeom>
        </p:spPr>
      </p:pic>
      <p:sp>
        <p:nvSpPr>
          <p:cNvPr id="31" name="quote text"/>
          <p:cNvSpPr txBox="1"/>
          <p:nvPr/>
        </p:nvSpPr>
        <p:spPr>
          <a:xfrm>
            <a:off x="18059400" y="3319272"/>
            <a:ext cx="4907585" cy="1396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«Я портфель не проверяю каждый день, а тут после письма зашла, купила снова акции на эти»</a:t>
            </a:r>
            <a:endParaRPr lang="en-US" sz="1800" dirty="0"/>
          </a:p>
        </p:txBody>
      </p:sp>
      <p:sp>
        <p:nvSpPr>
          <p:cNvPr id="32" name="avatar"/>
          <p:cNvSpPr/>
          <p:nvPr/>
        </p:nvSpPr>
        <p:spPr>
          <a:xfrm>
            <a:off x="18973800" y="503605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74384" y="5127498"/>
            <a:ext cx="182880" cy="182880"/>
          </a:xfrm>
          <a:prstGeom prst="rect">
            <a:avLst/>
          </a:prstGeom>
        </p:spPr>
      </p:pic>
      <p:sp>
        <p:nvSpPr>
          <p:cNvPr id="34" name="attribution"/>
          <p:cNvSpPr txBox="1"/>
          <p:nvPr/>
        </p:nvSpPr>
        <p:spPr>
          <a:xfrm>
            <a:off x="19476720" y="5036058"/>
            <a:ext cx="38103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30–44 года, Москва</a:t>
            </a:r>
            <a:endParaRPr lang="en-US" sz="1600" dirty="0"/>
          </a:p>
        </p:txBody>
      </p:sp>
      <p:sp>
        <p:nvSpPr>
          <p:cNvPr id="35" name="quote bubble"/>
          <p:cNvSpPr/>
          <p:nvPr/>
        </p:nvSpPr>
        <p:spPr>
          <a:xfrm>
            <a:off x="17647920" y="5804154"/>
            <a:ext cx="5730545" cy="2599182"/>
          </a:xfrm>
          <a:prstGeom prst="roundRect">
            <a:avLst>
              <a:gd name="adj" fmla="val 11961"/>
            </a:avLst>
          </a:prstGeom>
          <a:solidFill>
            <a:srgbClr val="E3EEFB"/>
          </a:solidFill>
          <a:ln/>
        </p:spPr>
      </p:sp>
      <p:sp>
        <p:nvSpPr>
          <p:cNvPr id="36" name="quote tail"/>
          <p:cNvSpPr/>
          <p:nvPr/>
        </p:nvSpPr>
        <p:spPr>
          <a:xfrm flipV="1">
            <a:off x="18333720" y="837590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7" name="quote mark"/>
          <p:cNvSpPr/>
          <p:nvPr/>
        </p:nvSpPr>
        <p:spPr>
          <a:xfrm>
            <a:off x="22464065" y="5548122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10369" y="5694426"/>
            <a:ext cx="219456" cy="219456"/>
          </a:xfrm>
          <a:prstGeom prst="rect">
            <a:avLst/>
          </a:prstGeom>
        </p:spPr>
      </p:pic>
      <p:sp>
        <p:nvSpPr>
          <p:cNvPr id="39" name="quote text"/>
          <p:cNvSpPr txBox="1"/>
          <p:nvPr/>
        </p:nvSpPr>
        <p:spPr>
          <a:xfrm>
            <a:off x="18059400" y="6169914"/>
            <a:ext cx="4907585" cy="2004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«Я как-то раз отключил подписку на Яндекс.Музыку, и через 3 дня мне пришло письмо с индивидуальным предложением от них, что 60 дней подписки за 1 рубль»</a:t>
            </a:r>
            <a:endParaRPr lang="en-US" sz="1800" dirty="0"/>
          </a:p>
        </p:txBody>
      </p:sp>
      <p:sp>
        <p:nvSpPr>
          <p:cNvPr id="40" name="avatar"/>
          <p:cNvSpPr/>
          <p:nvPr/>
        </p:nvSpPr>
        <p:spPr>
          <a:xfrm>
            <a:off x="18973800" y="849477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74384" y="8586216"/>
            <a:ext cx="182880" cy="182880"/>
          </a:xfrm>
          <a:prstGeom prst="rect">
            <a:avLst/>
          </a:prstGeom>
        </p:spPr>
      </p:pic>
      <p:sp>
        <p:nvSpPr>
          <p:cNvPr id="42" name="attribution"/>
          <p:cNvSpPr txBox="1"/>
          <p:nvPr/>
        </p:nvSpPr>
        <p:spPr>
          <a:xfrm>
            <a:off x="19476720" y="8494776"/>
            <a:ext cx="38103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20-29, Екатеринбург</a:t>
            </a:r>
            <a:endParaRPr lang="en-US" sz="16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647920" y="9052560"/>
            <a:ext cx="5730545" cy="3886200"/>
          </a:xfrm>
          <a:prstGeom prst="rect">
            <a:avLst/>
          </a:prstGeom>
        </p:spPr>
      </p:pic>
      <p:sp>
        <p:nvSpPr>
          <p:cNvPr id="44" name="conclusion label"/>
          <p:cNvSpPr txBox="1"/>
          <p:nvPr/>
        </p:nvSpPr>
        <p:spPr>
          <a:xfrm>
            <a:off x="18059400" y="9326880"/>
            <a:ext cx="49075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45" name="conclusion intro"/>
          <p:cNvSpPr txBox="1"/>
          <p:nvPr/>
        </p:nvSpPr>
        <p:spPr>
          <a:xfrm>
            <a:off x="18059400" y="9921240"/>
            <a:ext cx="490758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accent3"/>
                </a:solidFill>
              </a:rPr>
              <a:t>Письма банка привлекают внимание, когда касаются текущего продукта клиента:</a:t>
            </a:r>
            <a:endParaRPr lang="en-US" sz="1800" dirty="0"/>
          </a:p>
        </p:txBody>
      </p:sp>
      <p:sp>
        <p:nvSpPr>
          <p:cNvPr id="46" name="conclusion"/>
          <p:cNvSpPr txBox="1"/>
          <p:nvPr/>
        </p:nvSpPr>
        <p:spPr>
          <a:xfrm>
            <a:off x="18059400" y="11109960"/>
            <a:ext cx="490758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Изменения условий своего продукта,</a:t>
            </a:r>
            <a:endParaRPr lang="en-US" sz="1800" dirty="0"/>
          </a:p>
          <a:p>
            <a:pPr marL="279400" indent="-279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предстоящий платеж,</a:t>
            </a:r>
            <a:endParaRPr lang="en-US" sz="1800" dirty="0"/>
          </a:p>
          <a:p>
            <a:pPr marL="279400" indent="-279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начисление дивидендов</a:t>
            </a:r>
            <a:endParaRPr lang="en-US" sz="1800" dirty="0"/>
          </a:p>
          <a:p>
            <a:pPr marL="279400" indent="-2794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важное обновление приложения</a:t>
            </a:r>
            <a:endParaRPr lang="en-US" sz="1800" dirty="0"/>
          </a:p>
        </p:txBody>
      </p:sp>
      <p:sp>
        <p:nvSpPr>
          <p:cNvPr id="47" name="frequency pill"/>
          <p:cNvSpPr/>
          <p:nvPr/>
        </p:nvSpPr>
        <p:spPr>
          <a:xfrm>
            <a:off x="1005840" y="12024360"/>
            <a:ext cx="16184880" cy="91440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48" name="icon ring"/>
          <p:cNvSpPr/>
          <p:nvPr/>
        </p:nvSpPr>
        <p:spPr>
          <a:xfrm>
            <a:off x="1280160" y="1219809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3231" y="12351167"/>
            <a:ext cx="260787" cy="260787"/>
          </a:xfrm>
          <a:prstGeom prst="rect">
            <a:avLst/>
          </a:prstGeom>
        </p:spPr>
      </p:pic>
      <p:sp>
        <p:nvSpPr>
          <p:cNvPr id="50" name="frequency"/>
          <p:cNvSpPr txBox="1"/>
          <p:nvPr/>
        </p:nvSpPr>
        <p:spPr>
          <a:xfrm>
            <a:off x="2103120" y="12024360"/>
            <a:ext cx="1453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Приемлемая частота рассылок 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– раз в неделю на бренд / компанию. Получение писем чаще, чем несколько раз в неделю, уже может восприниматься как спам.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0876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Письмо от бренда может привлечь конкретной пользой, актуальным поводом и понятным отправителем</a:t>
            </a:r>
            <a:endParaRPr lang="en-US" sz="4200" dirty="0"/>
          </a:p>
        </p:txBody>
      </p:sp>
      <p:sp>
        <p:nvSpPr>
          <p:cNvPr id="5" name="column head"/>
          <p:cNvSpPr txBox="1"/>
          <p:nvPr/>
        </p:nvSpPr>
        <p:spPr>
          <a:xfrm>
            <a:off x="118872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ЭЛЕМЕНТ</a:t>
            </a:r>
            <a:endParaRPr lang="en-US" sz="1500" dirty="0"/>
          </a:p>
        </p:txBody>
      </p:sp>
      <p:sp>
        <p:nvSpPr>
          <p:cNvPr id="6" name="column pill"/>
          <p:cNvSpPr/>
          <p:nvPr/>
        </p:nvSpPr>
        <p:spPr>
          <a:xfrm>
            <a:off x="4389120" y="2971800"/>
            <a:ext cx="5212080" cy="640080"/>
          </a:xfrm>
          <a:prstGeom prst="roundRect">
            <a:avLst>
              <a:gd name="adj" fmla="val 50000"/>
            </a:avLst>
          </a:prstGeom>
          <a:solidFill>
            <a:srgbClr val="D2EBD9"/>
          </a:solidFill>
          <a:ln/>
        </p:spPr>
      </p:sp>
      <p:sp>
        <p:nvSpPr>
          <p:cNvPr id="7" name="column head"/>
          <p:cNvSpPr txBox="1"/>
          <p:nvPr/>
        </p:nvSpPr>
        <p:spPr>
          <a:xfrm>
            <a:off x="4389120" y="2971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ЧТО ПРИВЛЕКАЕТ</a:t>
            </a:r>
            <a:endParaRPr lang="en-US" sz="1500" dirty="0"/>
          </a:p>
        </p:txBody>
      </p:sp>
      <p:sp>
        <p:nvSpPr>
          <p:cNvPr id="8" name="column pill"/>
          <p:cNvSpPr/>
          <p:nvPr/>
        </p:nvSpPr>
        <p:spPr>
          <a:xfrm>
            <a:off x="10058400" y="2971800"/>
            <a:ext cx="521208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0"/>
            </a:srgbClr>
          </a:solidFill>
          <a:ln w="15875">
            <a:solidFill>
              <a:srgbClr val="D3DDE9"/>
            </a:solidFill>
            <a:prstDash val="solid"/>
          </a:ln>
        </p:spPr>
      </p:sp>
      <p:sp>
        <p:nvSpPr>
          <p:cNvPr id="9" name="column head"/>
          <p:cNvSpPr txBox="1"/>
          <p:nvPr/>
        </p:nvSpPr>
        <p:spPr>
          <a:xfrm>
            <a:off x="10058400" y="2971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ЧТО ОТТАЛКИВАЕТ</a:t>
            </a:r>
            <a:endParaRPr lang="en-US" sz="1500" dirty="0"/>
          </a:p>
        </p:txBody>
      </p:sp>
      <p:sp>
        <p:nvSpPr>
          <p:cNvPr id="10" name="rule"/>
          <p:cNvSpPr/>
          <p:nvPr/>
        </p:nvSpPr>
        <p:spPr>
          <a:xfrm>
            <a:off x="1005840" y="3840480"/>
            <a:ext cx="14264640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11" name="element"/>
          <p:cNvSpPr txBox="1"/>
          <p:nvPr/>
        </p:nvSpPr>
        <p:spPr>
          <a:xfrm>
            <a:off x="1188720" y="3840480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Повод</a:t>
            </a:r>
            <a:endParaRPr lang="en-US" sz="2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4498848"/>
            <a:ext cx="310896" cy="310896"/>
          </a:xfrm>
          <a:prstGeom prst="rect">
            <a:avLst/>
          </a:prstGeom>
        </p:spPr>
      </p:pic>
      <p:sp>
        <p:nvSpPr>
          <p:cNvPr id="13" name="attracts"/>
          <p:cNvSpPr txBox="1"/>
          <p:nvPr/>
        </p:nvSpPr>
        <p:spPr>
          <a:xfrm>
            <a:off x="5120640" y="3840480"/>
            <a:ext cx="4663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Связь с планами, потребностью или текущим продуктом</a:t>
            </a:r>
            <a:endParaRPr lang="en-US" sz="2100" dirty="0"/>
          </a:p>
        </p:txBody>
      </p:sp>
      <p:sp>
        <p:nvSpPr>
          <p:cNvPr id="14" name="rule"/>
          <p:cNvSpPr/>
          <p:nvPr/>
        </p:nvSpPr>
        <p:spPr>
          <a:xfrm>
            <a:off x="9829800" y="4114800"/>
            <a:ext cx="0" cy="1078992"/>
          </a:xfrm>
          <a:prstGeom prst="line">
            <a:avLst/>
          </a:prstGeom>
          <a:noFill/>
          <a:ln w="12700">
            <a:solidFill>
              <a:srgbClr val="D3DDE9"/>
            </a:solidFill>
            <a:prstDash val="sysDot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498848"/>
            <a:ext cx="310896" cy="310896"/>
          </a:xfrm>
          <a:prstGeom prst="rect">
            <a:avLst/>
          </a:prstGeom>
        </p:spPr>
      </p:pic>
      <p:sp>
        <p:nvSpPr>
          <p:cNvPr id="16" name="repels"/>
          <p:cNvSpPr txBox="1"/>
          <p:nvPr/>
        </p:nvSpPr>
        <p:spPr>
          <a:xfrm>
            <a:off x="10789920" y="3840480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Общее предложение без связи с ситуацией клиента, но с пометкой для вас</a:t>
            </a:r>
            <a:endParaRPr lang="en-US" sz="2100" dirty="0"/>
          </a:p>
        </p:txBody>
      </p:sp>
      <p:sp>
        <p:nvSpPr>
          <p:cNvPr id="17" name="rule"/>
          <p:cNvSpPr/>
          <p:nvPr/>
        </p:nvSpPr>
        <p:spPr>
          <a:xfrm>
            <a:off x="1005840" y="5468112"/>
            <a:ext cx="14264640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18" name="element"/>
          <p:cNvSpPr txBox="1"/>
          <p:nvPr/>
        </p:nvSpPr>
        <p:spPr>
          <a:xfrm>
            <a:off x="1188720" y="5468112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Тема письма</a:t>
            </a:r>
            <a:endParaRPr lang="en-US" sz="24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6126480"/>
            <a:ext cx="310896" cy="310896"/>
          </a:xfrm>
          <a:prstGeom prst="rect">
            <a:avLst/>
          </a:prstGeom>
        </p:spPr>
      </p:pic>
      <p:sp>
        <p:nvSpPr>
          <p:cNvPr id="20" name="attracts"/>
          <p:cNvSpPr txBox="1"/>
          <p:nvPr/>
        </p:nvSpPr>
        <p:spPr>
          <a:xfrm>
            <a:off x="5120640" y="5468112"/>
            <a:ext cx="4663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Сразу понятно, что внутри: выгода, изменение, конкретные условия</a:t>
            </a:r>
            <a:endParaRPr lang="en-US" sz="2100" dirty="0"/>
          </a:p>
        </p:txBody>
      </p:sp>
      <p:sp>
        <p:nvSpPr>
          <p:cNvPr id="21" name="rule"/>
          <p:cNvSpPr/>
          <p:nvPr/>
        </p:nvSpPr>
        <p:spPr>
          <a:xfrm>
            <a:off x="9829800" y="5742432"/>
            <a:ext cx="0" cy="1078992"/>
          </a:xfrm>
          <a:prstGeom prst="line">
            <a:avLst/>
          </a:prstGeom>
          <a:noFill/>
          <a:ln w="12700">
            <a:solidFill>
              <a:srgbClr val="D3DDE9"/>
            </a:solidFill>
            <a:prstDash val="sysDot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6126480"/>
            <a:ext cx="310896" cy="310896"/>
          </a:xfrm>
          <a:prstGeom prst="rect">
            <a:avLst/>
          </a:prstGeom>
        </p:spPr>
      </p:pic>
      <p:sp>
        <p:nvSpPr>
          <p:cNvPr id="23" name="repels"/>
          <p:cNvSpPr txBox="1"/>
          <p:nvPr/>
        </p:nvSpPr>
        <p:spPr>
          <a:xfrm>
            <a:off x="10789920" y="5468112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«Срочно», «Внимание», громкие обещания и искусственная срочность</a:t>
            </a:r>
            <a:endParaRPr lang="en-US" sz="2100" dirty="0"/>
          </a:p>
        </p:txBody>
      </p:sp>
      <p:sp>
        <p:nvSpPr>
          <p:cNvPr id="24" name="rule"/>
          <p:cNvSpPr/>
          <p:nvPr/>
        </p:nvSpPr>
        <p:spPr>
          <a:xfrm>
            <a:off x="1005840" y="7095744"/>
            <a:ext cx="14264640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25" name="element"/>
          <p:cNvSpPr txBox="1"/>
          <p:nvPr/>
        </p:nvSpPr>
        <p:spPr>
          <a:xfrm>
            <a:off x="1188720" y="7095744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Отправитель</a:t>
            </a:r>
            <a:endParaRPr lang="en-US" sz="24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7754112"/>
            <a:ext cx="310896" cy="310896"/>
          </a:xfrm>
          <a:prstGeom prst="rect">
            <a:avLst/>
          </a:prstGeom>
        </p:spPr>
      </p:pic>
      <p:sp>
        <p:nvSpPr>
          <p:cNvPr id="27" name="attracts"/>
          <p:cNvSpPr txBox="1"/>
          <p:nvPr/>
        </p:nvSpPr>
        <p:spPr>
          <a:xfrm>
            <a:off x="5120640" y="7095744"/>
            <a:ext cx="4663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Знакомый бренд, официальный домен, ожидаемая рассылка</a:t>
            </a:r>
            <a:endParaRPr lang="en-US" sz="2100" dirty="0"/>
          </a:p>
        </p:txBody>
      </p:sp>
      <p:sp>
        <p:nvSpPr>
          <p:cNvPr id="28" name="rule"/>
          <p:cNvSpPr/>
          <p:nvPr/>
        </p:nvSpPr>
        <p:spPr>
          <a:xfrm>
            <a:off x="9829800" y="7370064"/>
            <a:ext cx="0" cy="1078992"/>
          </a:xfrm>
          <a:prstGeom prst="line">
            <a:avLst/>
          </a:prstGeom>
          <a:noFill/>
          <a:ln w="12700">
            <a:solidFill>
              <a:srgbClr val="D3DDE9"/>
            </a:solidFill>
            <a:prstDash val="sysDot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5560" y="7754112"/>
            <a:ext cx="310896" cy="310896"/>
          </a:xfrm>
          <a:prstGeom prst="rect">
            <a:avLst/>
          </a:prstGeom>
        </p:spPr>
      </p:pic>
      <p:sp>
        <p:nvSpPr>
          <p:cNvPr id="30" name="repels"/>
          <p:cNvSpPr txBox="1"/>
          <p:nvPr/>
        </p:nvSpPr>
        <p:spPr>
          <a:xfrm>
            <a:off x="10789920" y="7095744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Неизвестный адрес и отсутствие памяти о подписке</a:t>
            </a:r>
            <a:endParaRPr lang="en-US" sz="2100" dirty="0"/>
          </a:p>
        </p:txBody>
      </p:sp>
      <p:sp>
        <p:nvSpPr>
          <p:cNvPr id="31" name="rule"/>
          <p:cNvSpPr/>
          <p:nvPr/>
        </p:nvSpPr>
        <p:spPr>
          <a:xfrm>
            <a:off x="1005840" y="8723376"/>
            <a:ext cx="14264640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32" name="element"/>
          <p:cNvSpPr txBox="1"/>
          <p:nvPr/>
        </p:nvSpPr>
        <p:spPr>
          <a:xfrm>
            <a:off x="1188720" y="8723376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После открытия</a:t>
            </a:r>
            <a:endParaRPr lang="en-US" sz="24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280" y="9381744"/>
            <a:ext cx="310896" cy="310896"/>
          </a:xfrm>
          <a:prstGeom prst="rect">
            <a:avLst/>
          </a:prstGeom>
        </p:spPr>
      </p:pic>
      <p:sp>
        <p:nvSpPr>
          <p:cNvPr id="34" name="attracts"/>
          <p:cNvSpPr txBox="1"/>
          <p:nvPr/>
        </p:nvSpPr>
        <p:spPr>
          <a:xfrm>
            <a:off x="5120640" y="8723376"/>
            <a:ext cx="466344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Короткое объяснение, понятные примеры и следующий шаг</a:t>
            </a:r>
            <a:endParaRPr lang="en-US" sz="2100" dirty="0"/>
          </a:p>
        </p:txBody>
      </p:sp>
      <p:sp>
        <p:nvSpPr>
          <p:cNvPr id="35" name="rule"/>
          <p:cNvSpPr/>
          <p:nvPr/>
        </p:nvSpPr>
        <p:spPr>
          <a:xfrm>
            <a:off x="9829800" y="8997696"/>
            <a:ext cx="0" cy="1078992"/>
          </a:xfrm>
          <a:prstGeom prst="line">
            <a:avLst/>
          </a:prstGeom>
          <a:noFill/>
          <a:ln w="12700">
            <a:solidFill>
              <a:srgbClr val="D3DDE9"/>
            </a:solidFill>
            <a:prstDash val="sysDot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60" y="9381744"/>
            <a:ext cx="310896" cy="310896"/>
          </a:xfrm>
          <a:prstGeom prst="rect">
            <a:avLst/>
          </a:prstGeom>
        </p:spPr>
      </p:pic>
      <p:sp>
        <p:nvSpPr>
          <p:cNvPr id="37" name="repels"/>
          <p:cNvSpPr txBox="1"/>
          <p:nvPr/>
        </p:nvSpPr>
        <p:spPr>
          <a:xfrm>
            <a:off x="10789920" y="8723376"/>
            <a:ext cx="448056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Длинный сложный текст; непонятно, что изменилось и что делать</a:t>
            </a:r>
            <a:endParaRPr lang="en-US" sz="2100" dirty="0"/>
          </a:p>
        </p:txBody>
      </p:sp>
      <p:sp>
        <p:nvSpPr>
          <p:cNvPr id="38" name="rule"/>
          <p:cNvSpPr/>
          <p:nvPr/>
        </p:nvSpPr>
        <p:spPr>
          <a:xfrm>
            <a:off x="1005840" y="10351008"/>
            <a:ext cx="14264640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0" y="2971800"/>
            <a:ext cx="7650785" cy="7379208"/>
          </a:xfrm>
          <a:prstGeom prst="rect">
            <a:avLst/>
          </a:prstGeom>
        </p:spPr>
      </p:pic>
      <p:sp>
        <p:nvSpPr>
          <p:cNvPr id="40" name="conclusion label"/>
          <p:cNvSpPr txBox="1"/>
          <p:nvPr/>
        </p:nvSpPr>
        <p:spPr>
          <a:xfrm>
            <a:off x="1627632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</a:t>
            </a:r>
            <a:endParaRPr lang="en-US" sz="2100" dirty="0"/>
          </a:p>
        </p:txBody>
      </p:sp>
      <p:sp>
        <p:nvSpPr>
          <p:cNvPr id="41" name="conclusion"/>
          <p:cNvSpPr txBox="1"/>
          <p:nvPr/>
        </p:nvSpPr>
        <p:spPr>
          <a:xfrm>
            <a:off x="16276320" y="4160520"/>
            <a:ext cx="6553505" cy="605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3"/>
                </a:solidFill>
              </a:rPr>
              <a:t>Узнаваемость бренда помогает вызвать доверие, но не гарантирует внимания.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Клиент может доверять Сберу и при этом не видеть причины открыть конкретное письмо</a:t>
            </a:r>
            <a:endParaRPr lang="en-US" sz="2200" dirty="0"/>
          </a:p>
          <a:p>
            <a:pPr marL="279400" indent="-279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3"/>
                </a:solidFill>
              </a:rPr>
              <a:t>Персонализация может оставаться незаметной для клиента.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Даже подобранное предложение воспринимается как массовое, если непонятна его связь с личной ситуацией</a:t>
            </a:r>
            <a:endParaRPr lang="en-US" sz="2200" dirty="0"/>
          </a:p>
          <a:p>
            <a:pPr marL="279400" indent="-279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2200" b="1" dirty="0">
                <a:solidFill>
                  <a:schemeClr val="accent3"/>
                </a:solidFill>
              </a:rPr>
              <a:t>Интерес к предложению зависит от момента.</a:t>
            </a:r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 Соответствия профилю клиента может быть недостаточно: важна связь с его текущими планами, потребностями или используемыми продуктами</a:t>
            </a:r>
            <a:endParaRPr lang="en-US" sz="2200" dirty="0"/>
          </a:p>
        </p:txBody>
      </p:sp>
      <p:sp>
        <p:nvSpPr>
          <p:cNvPr id="42" name="quote bubble"/>
          <p:cNvSpPr/>
          <p:nvPr/>
        </p:nvSpPr>
        <p:spPr>
          <a:xfrm>
            <a:off x="1005840" y="10789920"/>
            <a:ext cx="10911992" cy="1636776"/>
          </a:xfrm>
          <a:prstGeom prst="roundRect">
            <a:avLst>
              <a:gd name="adj" fmla="val 18994"/>
            </a:avLst>
          </a:prstGeom>
          <a:solidFill>
            <a:srgbClr val="E3EEFB"/>
          </a:solidFill>
          <a:ln/>
        </p:spPr>
      </p:sp>
      <p:sp>
        <p:nvSpPr>
          <p:cNvPr id="43" name="quote tail"/>
          <p:cNvSpPr/>
          <p:nvPr/>
        </p:nvSpPr>
        <p:spPr>
          <a:xfrm flipV="1">
            <a:off x="1691640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44" name="quote mark"/>
          <p:cNvSpPr/>
          <p:nvPr/>
        </p:nvSpPr>
        <p:spPr>
          <a:xfrm>
            <a:off x="11003432" y="1053388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9736" y="10680192"/>
            <a:ext cx="219456" cy="219456"/>
          </a:xfrm>
          <a:prstGeom prst="rect">
            <a:avLst/>
          </a:prstGeom>
        </p:spPr>
      </p:pic>
      <p:sp>
        <p:nvSpPr>
          <p:cNvPr id="46" name="quote text"/>
          <p:cNvSpPr txBox="1"/>
          <p:nvPr/>
        </p:nvSpPr>
        <p:spPr>
          <a:xfrm>
            <a:off x="1417320" y="11155680"/>
            <a:ext cx="100890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«В моменте какие-то вещи реально могут быть актуальны. Допустим, если я планирую отпуск, а там акция, что студентам 50% скидки на билеты»</a:t>
            </a:r>
            <a:endParaRPr lang="en-US" sz="2100" dirty="0"/>
          </a:p>
        </p:txBody>
      </p:sp>
      <p:sp>
        <p:nvSpPr>
          <p:cNvPr id="47" name="avatar"/>
          <p:cNvSpPr/>
          <p:nvPr/>
        </p:nvSpPr>
        <p:spPr>
          <a:xfrm>
            <a:off x="2331720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32304" y="12609576"/>
            <a:ext cx="182880" cy="182880"/>
          </a:xfrm>
          <a:prstGeom prst="rect">
            <a:avLst/>
          </a:prstGeom>
        </p:spPr>
      </p:pic>
      <p:sp>
        <p:nvSpPr>
          <p:cNvPr id="49" name="attribution"/>
          <p:cNvSpPr txBox="1"/>
          <p:nvPr/>
        </p:nvSpPr>
        <p:spPr>
          <a:xfrm>
            <a:off x="2834640" y="12518136"/>
            <a:ext cx="899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20–29 лет, Москва</a:t>
            </a:r>
            <a:endParaRPr lang="en-US" sz="1600" dirty="0"/>
          </a:p>
        </p:txBody>
      </p:sp>
      <p:sp>
        <p:nvSpPr>
          <p:cNvPr id="50" name="quote bubble"/>
          <p:cNvSpPr/>
          <p:nvPr/>
        </p:nvSpPr>
        <p:spPr>
          <a:xfrm>
            <a:off x="12466472" y="10789920"/>
            <a:ext cx="10911992" cy="1636776"/>
          </a:xfrm>
          <a:prstGeom prst="roundRect">
            <a:avLst>
              <a:gd name="adj" fmla="val 18994"/>
            </a:avLst>
          </a:prstGeom>
          <a:solidFill>
            <a:srgbClr val="E3EEFB"/>
          </a:solidFill>
          <a:ln/>
        </p:spPr>
      </p:sp>
      <p:sp>
        <p:nvSpPr>
          <p:cNvPr id="51" name="quote tail"/>
          <p:cNvSpPr/>
          <p:nvPr/>
        </p:nvSpPr>
        <p:spPr>
          <a:xfrm flipV="1">
            <a:off x="13152272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52" name="quote mark"/>
          <p:cNvSpPr/>
          <p:nvPr/>
        </p:nvSpPr>
        <p:spPr>
          <a:xfrm>
            <a:off x="22464065" y="10533888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610369" y="10680192"/>
            <a:ext cx="219456" cy="219456"/>
          </a:xfrm>
          <a:prstGeom prst="rect">
            <a:avLst/>
          </a:prstGeom>
        </p:spPr>
      </p:pic>
      <p:sp>
        <p:nvSpPr>
          <p:cNvPr id="54" name="quote text"/>
          <p:cNvSpPr txBox="1"/>
          <p:nvPr/>
        </p:nvSpPr>
        <p:spPr>
          <a:xfrm>
            <a:off x="12877952" y="11155680"/>
            <a:ext cx="1008903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«Я последние несколько лет обращаю внимание на сам адрес электронной почты, откуда отправлен»</a:t>
            </a:r>
            <a:endParaRPr lang="en-US" sz="2100" dirty="0"/>
          </a:p>
        </p:txBody>
      </p:sp>
      <p:sp>
        <p:nvSpPr>
          <p:cNvPr id="55" name="avatar"/>
          <p:cNvSpPr/>
          <p:nvPr/>
        </p:nvSpPr>
        <p:spPr>
          <a:xfrm>
            <a:off x="13792352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92936" y="12609576"/>
            <a:ext cx="182880" cy="182880"/>
          </a:xfrm>
          <a:prstGeom prst="rect">
            <a:avLst/>
          </a:prstGeom>
        </p:spPr>
      </p:pic>
      <p:sp>
        <p:nvSpPr>
          <p:cNvPr id="57" name="attribution"/>
          <p:cNvSpPr txBox="1"/>
          <p:nvPr/>
        </p:nvSpPr>
        <p:spPr>
          <a:xfrm>
            <a:off x="14295272" y="12518136"/>
            <a:ext cx="8991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30–44 года, Москва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0876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Персональные письма ценят за помощь с конкретным решением</a:t>
            </a:r>
            <a:endParaRPr lang="en-US" sz="4200" dirty="0"/>
          </a:p>
        </p:txBody>
      </p:sp>
      <p:sp>
        <p:nvSpPr>
          <p:cNvPr id="5" name="direction head"/>
          <p:cNvSpPr txBox="1"/>
          <p:nvPr/>
        </p:nvSpPr>
        <p:spPr>
          <a:xfrm>
            <a:off x="1005840" y="2240280"/>
            <a:ext cx="223726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 персональных писем ждут практической пользы в трех направлениях</a:t>
            </a:r>
            <a:endParaRPr lang="en-US" sz="2600" dirty="0"/>
          </a:p>
        </p:txBody>
      </p:sp>
      <p:sp>
        <p:nvSpPr>
          <p:cNvPr id="6" name="step"/>
          <p:cNvSpPr/>
          <p:nvPr/>
        </p:nvSpPr>
        <p:spPr>
          <a:xfrm>
            <a:off x="1005840" y="3017520"/>
            <a:ext cx="7609942" cy="1691640"/>
          </a:xfrm>
          <a:prstGeom prst="homePlate">
            <a:avLst/>
          </a:prstGeom>
          <a:solidFill>
            <a:srgbClr val="E3F3E7"/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7" name="icon ring"/>
          <p:cNvSpPr/>
          <p:nvPr/>
        </p:nvSpPr>
        <p:spPr>
          <a:xfrm>
            <a:off x="1371600" y="35433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4422" y="3716122"/>
            <a:ext cx="294437" cy="294437"/>
          </a:xfrm>
          <a:prstGeom prst="rect">
            <a:avLst/>
          </a:prstGeom>
        </p:spPr>
      </p:pic>
      <p:sp>
        <p:nvSpPr>
          <p:cNvPr id="9" name="direction"/>
          <p:cNvSpPr txBox="1"/>
          <p:nvPr/>
        </p:nvSpPr>
        <p:spPr>
          <a:xfrm>
            <a:off x="2194560" y="3017520"/>
            <a:ext cx="559826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Контроль обязательств: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 помощь с платежами, сроками и продлением услуг</a:t>
            </a:r>
            <a:endParaRPr lang="en-US" sz="2000" dirty="0"/>
          </a:p>
        </p:txBody>
      </p:sp>
      <p:sp>
        <p:nvSpPr>
          <p:cNvPr id="10" name="step"/>
          <p:cNvSpPr/>
          <p:nvPr/>
        </p:nvSpPr>
        <p:spPr>
          <a:xfrm>
            <a:off x="8524342" y="3017520"/>
            <a:ext cx="7609942" cy="1691640"/>
          </a:xfrm>
          <a:prstGeom prst="chevron">
            <a:avLst/>
          </a:prstGeom>
          <a:solidFill>
            <a:srgbClr val="E3F3E7"/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1" name="icon ring"/>
          <p:cNvSpPr/>
          <p:nvPr/>
        </p:nvSpPr>
        <p:spPr>
          <a:xfrm>
            <a:off x="9301582" y="35433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403" y="3716122"/>
            <a:ext cx="294437" cy="294437"/>
          </a:xfrm>
          <a:prstGeom prst="rect">
            <a:avLst/>
          </a:prstGeom>
        </p:spPr>
      </p:pic>
      <p:sp>
        <p:nvSpPr>
          <p:cNvPr id="13" name="direction"/>
          <p:cNvSpPr txBox="1"/>
          <p:nvPr/>
        </p:nvSpPr>
        <p:spPr>
          <a:xfrm>
            <a:off x="10124542" y="3017520"/>
            <a:ext cx="49581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Личная выгода: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 возможности сэкономить и преимущества для постоянных клиентов</a:t>
            </a:r>
            <a:endParaRPr lang="en-US" sz="2000" dirty="0"/>
          </a:p>
        </p:txBody>
      </p:sp>
      <p:sp>
        <p:nvSpPr>
          <p:cNvPr id="14" name="step"/>
          <p:cNvSpPr/>
          <p:nvPr/>
        </p:nvSpPr>
        <p:spPr>
          <a:xfrm>
            <a:off x="16042843" y="3017520"/>
            <a:ext cx="7609942" cy="1691640"/>
          </a:xfrm>
          <a:prstGeom prst="chevron">
            <a:avLst/>
          </a:prstGeom>
          <a:solidFill>
            <a:srgbClr val="E3F3E7"/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5" name="icon ring"/>
          <p:cNvSpPr/>
          <p:nvPr/>
        </p:nvSpPr>
        <p:spPr>
          <a:xfrm>
            <a:off x="16820083" y="35433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2905" y="3716122"/>
            <a:ext cx="294437" cy="294437"/>
          </a:xfrm>
          <a:prstGeom prst="rect">
            <a:avLst/>
          </a:prstGeom>
        </p:spPr>
      </p:pic>
      <p:sp>
        <p:nvSpPr>
          <p:cNvPr id="17" name="direction"/>
          <p:cNvSpPr txBox="1"/>
          <p:nvPr/>
        </p:nvSpPr>
        <p:spPr>
          <a:xfrm>
            <a:off x="17643043" y="3017520"/>
            <a:ext cx="495818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Подходящие предложения: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 продукты и услуги с учетом текущих потребностей</a:t>
            </a:r>
            <a:endParaRPr lang="en-US" sz="2000" dirty="0"/>
          </a:p>
        </p:txBody>
      </p:sp>
      <p:sp>
        <p:nvSpPr>
          <p:cNvPr id="18" name="column head"/>
          <p:cNvSpPr txBox="1"/>
          <p:nvPr/>
        </p:nvSpPr>
        <p:spPr>
          <a:xfrm>
            <a:off x="1280160" y="5029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ОБСУЖДАВШАЯСЯ ИДЕЯ</a:t>
            </a:r>
            <a:endParaRPr lang="en-US" sz="1500" dirty="0"/>
          </a:p>
        </p:txBody>
      </p:sp>
      <p:sp>
        <p:nvSpPr>
          <p:cNvPr id="19" name="column head"/>
          <p:cNvSpPr txBox="1"/>
          <p:nvPr/>
        </p:nvSpPr>
        <p:spPr>
          <a:xfrm>
            <a:off x="6400800" y="50292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РЕАКЦИЯ УЧАСТНИКОВ</a:t>
            </a:r>
            <a:endParaRPr lang="en-US" sz="1500" dirty="0"/>
          </a:p>
        </p:txBody>
      </p:sp>
      <p:sp>
        <p:nvSpPr>
          <p:cNvPr id="20" name="column head"/>
          <p:cNvSpPr txBox="1"/>
          <p:nvPr/>
        </p:nvSpPr>
        <p:spPr>
          <a:xfrm>
            <a:off x="14721840" y="5029200"/>
            <a:ext cx="838230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НАПРАВЛЕНИЕ УСИЛЕНИЯ</a:t>
            </a:r>
            <a:endParaRPr lang="en-US" sz="1500" dirty="0"/>
          </a:p>
        </p:txBody>
      </p:sp>
      <p:sp>
        <p:nvSpPr>
          <p:cNvPr id="21" name="rule"/>
          <p:cNvSpPr/>
          <p:nvPr/>
        </p:nvSpPr>
        <p:spPr>
          <a:xfrm>
            <a:off x="1005840" y="5532120"/>
            <a:ext cx="22372625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22" name="idea"/>
          <p:cNvSpPr txBox="1"/>
          <p:nvPr/>
        </p:nvSpPr>
        <p:spPr>
          <a:xfrm>
            <a:off x="1280160" y="55321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Персональная подборка</a:t>
            </a:r>
            <a:endParaRPr lang="en-US" sz="2400" dirty="0"/>
          </a:p>
        </p:txBody>
      </p:sp>
      <p:sp>
        <p:nvSpPr>
          <p:cNvPr id="23" name="reaction"/>
          <p:cNvSpPr txBox="1"/>
          <p:nvPr/>
        </p:nvSpPr>
        <p:spPr>
          <a:xfrm>
            <a:off x="6400800" y="55321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Неясно, что получу и какую пользу это даст</a:t>
            </a:r>
            <a:endParaRPr lang="en-US" sz="21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0" y="5815584"/>
            <a:ext cx="347472" cy="347472"/>
          </a:xfrm>
          <a:prstGeom prst="rect">
            <a:avLst/>
          </a:prstGeom>
        </p:spPr>
      </p:pic>
      <p:sp>
        <p:nvSpPr>
          <p:cNvPr id="25" name="strengthening pill"/>
          <p:cNvSpPr/>
          <p:nvPr/>
        </p:nvSpPr>
        <p:spPr>
          <a:xfrm>
            <a:off x="14538960" y="5641848"/>
            <a:ext cx="8656625" cy="694944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26" name="strengthening"/>
          <p:cNvSpPr txBox="1"/>
          <p:nvPr/>
        </p:nvSpPr>
        <p:spPr>
          <a:xfrm>
            <a:off x="14859000" y="5532120"/>
            <a:ext cx="81994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Назвать конкретную задачу клиента и результат</a:t>
            </a:r>
            <a:endParaRPr lang="en-US" sz="2000" dirty="0"/>
          </a:p>
        </p:txBody>
      </p:sp>
      <p:sp>
        <p:nvSpPr>
          <p:cNvPr id="27" name="rule"/>
          <p:cNvSpPr/>
          <p:nvPr/>
        </p:nvSpPr>
        <p:spPr>
          <a:xfrm>
            <a:off x="1005840" y="6446520"/>
            <a:ext cx="22372625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28" name="idea"/>
          <p:cNvSpPr txBox="1"/>
          <p:nvPr/>
        </p:nvSpPr>
        <p:spPr>
          <a:xfrm>
            <a:off x="1280160" y="6446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Аналитика расходов</a:t>
            </a:r>
            <a:endParaRPr lang="en-US" sz="2400" dirty="0"/>
          </a:p>
        </p:txBody>
      </p:sp>
      <p:sp>
        <p:nvSpPr>
          <p:cNvPr id="29" name="reaction"/>
          <p:cNvSpPr txBox="1"/>
          <p:nvPr/>
        </p:nvSpPr>
        <p:spPr>
          <a:xfrm>
            <a:off x="6400800" y="64465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Уже есть в приложении; расходы по другим банкам не учтены</a:t>
            </a:r>
            <a:endParaRPr lang="en-US" sz="21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320" y="6729984"/>
            <a:ext cx="347472" cy="347472"/>
          </a:xfrm>
          <a:prstGeom prst="rect">
            <a:avLst/>
          </a:prstGeom>
        </p:spPr>
      </p:pic>
      <p:sp>
        <p:nvSpPr>
          <p:cNvPr id="31" name="strengthening pill"/>
          <p:cNvSpPr/>
          <p:nvPr/>
        </p:nvSpPr>
        <p:spPr>
          <a:xfrm>
            <a:off x="14538960" y="6556248"/>
            <a:ext cx="8656625" cy="694944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32" name="strengthening"/>
          <p:cNvSpPr txBox="1"/>
          <p:nvPr/>
        </p:nvSpPr>
        <p:spPr>
          <a:xfrm>
            <a:off x="14859000" y="6446520"/>
            <a:ext cx="81994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Показать возможность сэкономить или решить задачу</a:t>
            </a:r>
            <a:endParaRPr lang="en-US" sz="2000" dirty="0"/>
          </a:p>
        </p:txBody>
      </p:sp>
      <p:sp>
        <p:nvSpPr>
          <p:cNvPr id="33" name="rule"/>
          <p:cNvSpPr/>
          <p:nvPr/>
        </p:nvSpPr>
        <p:spPr>
          <a:xfrm>
            <a:off x="1005840" y="7360920"/>
            <a:ext cx="22372625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34" name="idea"/>
          <p:cNvSpPr txBox="1"/>
          <p:nvPr/>
        </p:nvSpPr>
        <p:spPr>
          <a:xfrm>
            <a:off x="1280160" y="7360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Повышенный кешбэк</a:t>
            </a:r>
            <a:endParaRPr lang="en-US" sz="2400" dirty="0"/>
          </a:p>
        </p:txBody>
      </p:sp>
      <p:sp>
        <p:nvSpPr>
          <p:cNvPr id="35" name="reaction"/>
          <p:cNvSpPr txBox="1"/>
          <p:nvPr/>
        </p:nvSpPr>
        <p:spPr>
          <a:xfrm>
            <a:off x="6400800" y="7360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Интересно; хотят самостоятельно выбирать категории</a:t>
            </a:r>
            <a:endParaRPr lang="en-US" sz="21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90320" y="7644384"/>
            <a:ext cx="347472" cy="347472"/>
          </a:xfrm>
          <a:prstGeom prst="rect">
            <a:avLst/>
          </a:prstGeom>
        </p:spPr>
      </p:pic>
      <p:sp>
        <p:nvSpPr>
          <p:cNvPr id="37" name="strengthening pill"/>
          <p:cNvSpPr/>
          <p:nvPr/>
        </p:nvSpPr>
        <p:spPr>
          <a:xfrm>
            <a:off x="14538960" y="7470648"/>
            <a:ext cx="8656625" cy="694944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38" name="strengthening"/>
          <p:cNvSpPr txBox="1"/>
          <p:nvPr/>
        </p:nvSpPr>
        <p:spPr>
          <a:xfrm>
            <a:off x="14859000" y="7360920"/>
            <a:ext cx="81994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Дать выбор и объяснить, какие категории подходят</a:t>
            </a:r>
            <a:endParaRPr lang="en-US" sz="2000" dirty="0"/>
          </a:p>
        </p:txBody>
      </p:sp>
      <p:sp>
        <p:nvSpPr>
          <p:cNvPr id="39" name="rule"/>
          <p:cNvSpPr/>
          <p:nvPr/>
        </p:nvSpPr>
        <p:spPr>
          <a:xfrm>
            <a:off x="1005840" y="8275320"/>
            <a:ext cx="22372625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40" name="idea"/>
          <p:cNvSpPr txBox="1"/>
          <p:nvPr/>
        </p:nvSpPr>
        <p:spPr>
          <a:xfrm>
            <a:off x="1280160" y="82753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Сервисная выписка</a:t>
            </a:r>
            <a:endParaRPr lang="en-US" sz="2400" dirty="0"/>
          </a:p>
        </p:txBody>
      </p:sp>
      <p:sp>
        <p:nvSpPr>
          <p:cNvPr id="41" name="reaction"/>
          <p:cNvSpPr txBox="1"/>
          <p:nvPr/>
        </p:nvSpPr>
        <p:spPr>
          <a:xfrm>
            <a:off x="6400800" y="8275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Непонятно содержание; ожидают доступность в приложении</a:t>
            </a:r>
            <a:endParaRPr lang="en-US" sz="21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0320" y="8558784"/>
            <a:ext cx="347472" cy="347472"/>
          </a:xfrm>
          <a:prstGeom prst="rect">
            <a:avLst/>
          </a:prstGeom>
        </p:spPr>
      </p:pic>
      <p:sp>
        <p:nvSpPr>
          <p:cNvPr id="43" name="strengthening pill"/>
          <p:cNvSpPr/>
          <p:nvPr/>
        </p:nvSpPr>
        <p:spPr>
          <a:xfrm>
            <a:off x="14538960" y="8385048"/>
            <a:ext cx="8656625" cy="694944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44" name="strengthening"/>
          <p:cNvSpPr txBox="1"/>
          <p:nvPr/>
        </p:nvSpPr>
        <p:spPr>
          <a:xfrm>
            <a:off x="14859000" y="8275320"/>
            <a:ext cx="81994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Объяснить изменения и доступные действия</a:t>
            </a:r>
            <a:endParaRPr lang="en-US" sz="2000" dirty="0"/>
          </a:p>
        </p:txBody>
      </p:sp>
      <p:sp>
        <p:nvSpPr>
          <p:cNvPr id="45" name="rule"/>
          <p:cNvSpPr/>
          <p:nvPr/>
        </p:nvSpPr>
        <p:spPr>
          <a:xfrm>
            <a:off x="1005840" y="9189720"/>
            <a:ext cx="22372625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46" name="quote bubble"/>
          <p:cNvSpPr/>
          <p:nvPr/>
        </p:nvSpPr>
        <p:spPr>
          <a:xfrm>
            <a:off x="1005840" y="9628632"/>
            <a:ext cx="8046720" cy="1785747"/>
          </a:xfrm>
          <a:prstGeom prst="roundRect">
            <a:avLst>
              <a:gd name="adj" fmla="val 17410"/>
            </a:avLst>
          </a:prstGeom>
          <a:solidFill>
            <a:srgbClr val="E3EEFB"/>
          </a:solidFill>
          <a:ln/>
        </p:spPr>
      </p:sp>
      <p:sp>
        <p:nvSpPr>
          <p:cNvPr id="47" name="quote tail"/>
          <p:cNvSpPr/>
          <p:nvPr/>
        </p:nvSpPr>
        <p:spPr>
          <a:xfrm flipV="1">
            <a:off x="1691640" y="11386947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48" name="quote mark"/>
          <p:cNvSpPr/>
          <p:nvPr/>
        </p:nvSpPr>
        <p:spPr>
          <a:xfrm>
            <a:off x="8138160" y="937260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9518904"/>
            <a:ext cx="219456" cy="219456"/>
          </a:xfrm>
          <a:prstGeom prst="rect">
            <a:avLst/>
          </a:prstGeom>
        </p:spPr>
      </p:pic>
      <p:sp>
        <p:nvSpPr>
          <p:cNvPr id="50" name="quote text"/>
          <p:cNvSpPr txBox="1"/>
          <p:nvPr/>
        </p:nvSpPr>
        <p:spPr>
          <a:xfrm>
            <a:off x="1417320" y="9994392"/>
            <a:ext cx="7223760" cy="119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«Он меня изучил, и мне интересно, что для меня подобрал. Я хочу, чтобы они мне помогали оптимизировать мои траты»</a:t>
            </a:r>
            <a:endParaRPr lang="en-US" sz="1900" dirty="0"/>
          </a:p>
        </p:txBody>
      </p:sp>
      <p:sp>
        <p:nvSpPr>
          <p:cNvPr id="51" name="avatar"/>
          <p:cNvSpPr/>
          <p:nvPr/>
        </p:nvSpPr>
        <p:spPr>
          <a:xfrm>
            <a:off x="2331720" y="11505819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2304" y="11597259"/>
            <a:ext cx="182880" cy="182880"/>
          </a:xfrm>
          <a:prstGeom prst="rect">
            <a:avLst/>
          </a:prstGeom>
        </p:spPr>
      </p:pic>
      <p:sp>
        <p:nvSpPr>
          <p:cNvPr id="53" name="attribution"/>
          <p:cNvSpPr txBox="1"/>
          <p:nvPr/>
        </p:nvSpPr>
        <p:spPr>
          <a:xfrm>
            <a:off x="2834640" y="11505819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30–44 года, Москва</a:t>
            </a:r>
            <a:endParaRPr lang="en-US" sz="1600" dirty="0"/>
          </a:p>
        </p:txBody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09760" y="9646920"/>
            <a:ext cx="13868705" cy="3291840"/>
          </a:xfrm>
          <a:prstGeom prst="rect">
            <a:avLst/>
          </a:prstGeom>
        </p:spPr>
      </p:pic>
      <p:sp>
        <p:nvSpPr>
          <p:cNvPr id="55" name="conclusion label"/>
          <p:cNvSpPr txBox="1"/>
          <p:nvPr/>
        </p:nvSpPr>
        <p:spPr>
          <a:xfrm>
            <a:off x="10058400" y="9921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СБЕРА:</a:t>
            </a:r>
            <a:endParaRPr lang="en-US" sz="2100" dirty="0"/>
          </a:p>
        </p:txBody>
      </p:sp>
      <p:sp>
        <p:nvSpPr>
          <p:cNvPr id="56" name="conclusion"/>
          <p:cNvSpPr txBox="1"/>
          <p:nvPr/>
        </p:nvSpPr>
        <p:spPr>
          <a:xfrm>
            <a:off x="10058400" y="1046988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Связывать совет с тратами и продуктами клиента</a:t>
            </a:r>
            <a:endParaRPr lang="en-US" sz="2000" dirty="0"/>
          </a:p>
          <a:p>
            <a:pPr marL="279400" indent="-279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Объяснять личную выгоду и следующий шаг</a:t>
            </a:r>
            <a:endParaRPr lang="en-US" sz="2000" dirty="0"/>
          </a:p>
          <a:p>
            <a:pPr marL="279400" indent="-279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Предлагать выбор категорий и условий</a:t>
            </a:r>
            <a:endParaRPr lang="en-US" sz="2000" dirty="0"/>
          </a:p>
        </p:txBody>
      </p:sp>
      <p:sp>
        <p:nvSpPr>
          <p:cNvPr id="57" name="ideas label"/>
          <p:cNvSpPr txBox="1"/>
          <p:nvPr/>
        </p:nvSpPr>
        <p:spPr>
          <a:xfrm>
            <a:off x="17190720" y="99486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3"/>
                </a:solidFill>
              </a:rPr>
              <a:t>ПРАКТИЧЕСКИЕ ИДЕИ ИЗ ГРУПП</a:t>
            </a:r>
            <a:endParaRPr lang="en-US" sz="1500" dirty="0"/>
          </a:p>
        </p:txBody>
      </p:sp>
      <p:sp>
        <p:nvSpPr>
          <p:cNvPr id="58" name="ideas"/>
          <p:cNvSpPr txBox="1"/>
          <p:nvPr/>
        </p:nvSpPr>
        <p:spPr>
          <a:xfrm>
            <a:off x="17190720" y="10469880"/>
            <a:ext cx="582198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Налоговый вычет по тратам</a:t>
            </a:r>
            <a:endParaRPr lang="en-US" sz="2000" dirty="0"/>
          </a:p>
          <a:p>
            <a:pPr marL="279400" indent="-279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Расчет условий вклада</a:t>
            </a:r>
            <a:endParaRPr lang="en-US" sz="2000" dirty="0"/>
          </a:p>
          <a:p>
            <a:pPr marL="279400" indent="-279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Выбор тем рассылки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0876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КЛЮЧЕВЫЕ ВЫВОДЫ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Письма от компаний экосистемы чаще ценят за работающую выгоду и помощь с используемыми услугами</a:t>
            </a:r>
            <a:endParaRPr lang="en-US" sz="4200" dirty="0"/>
          </a:p>
        </p:txBody>
      </p:sp>
      <p:sp>
        <p:nvSpPr>
          <p:cNvPr id="5" name="quote bubble"/>
          <p:cNvSpPr/>
          <p:nvPr/>
        </p:nvSpPr>
        <p:spPr>
          <a:xfrm>
            <a:off x="1005840" y="2999232"/>
            <a:ext cx="5852160" cy="2706624"/>
          </a:xfrm>
          <a:prstGeom prst="roundRect">
            <a:avLst>
              <a:gd name="adj" fmla="val 11486"/>
            </a:avLst>
          </a:prstGeom>
          <a:solidFill>
            <a:srgbClr val="E3EEFB"/>
          </a:solidFill>
          <a:ln/>
        </p:spPr>
      </p:sp>
      <p:sp>
        <p:nvSpPr>
          <p:cNvPr id="6" name="quote tail"/>
          <p:cNvSpPr/>
          <p:nvPr/>
        </p:nvSpPr>
        <p:spPr>
          <a:xfrm flipV="1">
            <a:off x="1691640" y="567842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7" name="quote mark"/>
          <p:cNvSpPr/>
          <p:nvPr/>
        </p:nvSpPr>
        <p:spPr>
          <a:xfrm>
            <a:off x="5943600" y="274320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4" y="2889504"/>
            <a:ext cx="219456" cy="219456"/>
          </a:xfrm>
          <a:prstGeom prst="rect">
            <a:avLst/>
          </a:prstGeom>
        </p:spPr>
      </p:pic>
      <p:sp>
        <p:nvSpPr>
          <p:cNvPr id="9" name="quote text"/>
          <p:cNvSpPr txBox="1"/>
          <p:nvPr/>
        </p:nvSpPr>
        <p:spPr>
          <a:xfrm>
            <a:off x="1417320" y="3364992"/>
            <a:ext cx="502920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«Было бы неплохо, если бы мне Сбер напомнил заранее, что у меня заканчивается полис ОСАГО»</a:t>
            </a:r>
            <a:endParaRPr lang="en-US" sz="2100" dirty="0"/>
          </a:p>
        </p:txBody>
      </p:sp>
      <p:sp>
        <p:nvSpPr>
          <p:cNvPr id="10" name="avatar"/>
          <p:cNvSpPr/>
          <p:nvPr/>
        </p:nvSpPr>
        <p:spPr>
          <a:xfrm>
            <a:off x="2331720" y="579729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304" y="5888736"/>
            <a:ext cx="182880" cy="182880"/>
          </a:xfrm>
          <a:prstGeom prst="rect">
            <a:avLst/>
          </a:prstGeom>
        </p:spPr>
      </p:pic>
      <p:sp>
        <p:nvSpPr>
          <p:cNvPr id="12" name="attribution"/>
          <p:cNvSpPr txBox="1"/>
          <p:nvPr/>
        </p:nvSpPr>
        <p:spPr>
          <a:xfrm>
            <a:off x="2834640" y="57972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20–29 лет, Екатеринбург</a:t>
            </a:r>
            <a:endParaRPr lang="en-US" sz="1600" dirty="0"/>
          </a:p>
        </p:txBody>
      </p:sp>
      <p:sp>
        <p:nvSpPr>
          <p:cNvPr id="13" name="quote bubble"/>
          <p:cNvSpPr/>
          <p:nvPr/>
        </p:nvSpPr>
        <p:spPr>
          <a:xfrm>
            <a:off x="7223760" y="2999232"/>
            <a:ext cx="5394960" cy="2706624"/>
          </a:xfrm>
          <a:prstGeom prst="roundRect">
            <a:avLst>
              <a:gd name="adj" fmla="val 11486"/>
            </a:avLst>
          </a:prstGeom>
          <a:solidFill>
            <a:srgbClr val="E3EEFB"/>
          </a:solidFill>
          <a:ln/>
        </p:spPr>
      </p:sp>
      <p:sp>
        <p:nvSpPr>
          <p:cNvPr id="14" name="quote tail"/>
          <p:cNvSpPr/>
          <p:nvPr/>
        </p:nvSpPr>
        <p:spPr>
          <a:xfrm flipV="1">
            <a:off x="7909560" y="567842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15" name="quote mark"/>
          <p:cNvSpPr/>
          <p:nvPr/>
        </p:nvSpPr>
        <p:spPr>
          <a:xfrm>
            <a:off x="11704320" y="274320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0624" y="2889504"/>
            <a:ext cx="219456" cy="219456"/>
          </a:xfrm>
          <a:prstGeom prst="rect">
            <a:avLst/>
          </a:prstGeom>
        </p:spPr>
      </p:pic>
      <p:sp>
        <p:nvSpPr>
          <p:cNvPr id="17" name="quote text"/>
          <p:cNvSpPr txBox="1"/>
          <p:nvPr/>
        </p:nvSpPr>
        <p:spPr>
          <a:xfrm>
            <a:off x="7635240" y="3364992"/>
            <a:ext cx="457200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«Автостраховка, помимо того, что хранится в приложении банка, приходит и на почту»</a:t>
            </a:r>
            <a:endParaRPr lang="en-US" sz="2100" dirty="0"/>
          </a:p>
        </p:txBody>
      </p:sp>
      <p:sp>
        <p:nvSpPr>
          <p:cNvPr id="18" name="avatar"/>
          <p:cNvSpPr/>
          <p:nvPr/>
        </p:nvSpPr>
        <p:spPr>
          <a:xfrm>
            <a:off x="8549640" y="579729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224" y="5888736"/>
            <a:ext cx="182880" cy="182880"/>
          </a:xfrm>
          <a:prstGeom prst="rect">
            <a:avLst/>
          </a:prstGeom>
        </p:spPr>
      </p:pic>
      <p:sp>
        <p:nvSpPr>
          <p:cNvPr id="20" name="attribution"/>
          <p:cNvSpPr txBox="1"/>
          <p:nvPr/>
        </p:nvSpPr>
        <p:spPr>
          <a:xfrm>
            <a:off x="9052560" y="579729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20–29 лет, Екатеринбург</a:t>
            </a:r>
            <a:endParaRPr lang="en-US" sz="1600" dirty="0"/>
          </a:p>
        </p:txBody>
      </p:sp>
      <p:sp>
        <p:nvSpPr>
          <p:cNvPr id="21" name="quote bubble"/>
          <p:cNvSpPr/>
          <p:nvPr/>
        </p:nvSpPr>
        <p:spPr>
          <a:xfrm>
            <a:off x="12984480" y="2999232"/>
            <a:ext cx="10393985" cy="2706624"/>
          </a:xfrm>
          <a:prstGeom prst="roundRect">
            <a:avLst>
              <a:gd name="adj" fmla="val 11486"/>
            </a:avLst>
          </a:prstGeom>
          <a:solidFill>
            <a:srgbClr val="E3EEFB"/>
          </a:solidFill>
          <a:ln/>
        </p:spPr>
      </p:sp>
      <p:sp>
        <p:nvSpPr>
          <p:cNvPr id="22" name="quote tail"/>
          <p:cNvSpPr/>
          <p:nvPr/>
        </p:nvSpPr>
        <p:spPr>
          <a:xfrm flipV="1">
            <a:off x="13670280" y="567842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3" name="quote mark"/>
          <p:cNvSpPr/>
          <p:nvPr/>
        </p:nvSpPr>
        <p:spPr>
          <a:xfrm>
            <a:off x="22464065" y="274320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10369" y="2889504"/>
            <a:ext cx="219456" cy="219456"/>
          </a:xfrm>
          <a:prstGeom prst="rect">
            <a:avLst/>
          </a:prstGeom>
        </p:spPr>
      </p:pic>
      <p:sp>
        <p:nvSpPr>
          <p:cNvPr id="25" name="quote text"/>
          <p:cNvSpPr txBox="1"/>
          <p:nvPr/>
        </p:nvSpPr>
        <p:spPr>
          <a:xfrm>
            <a:off x="13395960" y="3364992"/>
            <a:ext cx="9571025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«Мне пришло по СБЕР-страхованию предложение по страховке всех членов семьи по фиксированной ставке на 3 года. А я страхуюсь от клеща каждый год, конечно, я оформила. Но не сразу через письмо, я на сайт зашла по сбер id».</a:t>
            </a:r>
            <a:endParaRPr lang="en-US" sz="2100" dirty="0"/>
          </a:p>
        </p:txBody>
      </p:sp>
      <p:sp>
        <p:nvSpPr>
          <p:cNvPr id="26" name="avatar"/>
          <p:cNvSpPr/>
          <p:nvPr/>
        </p:nvSpPr>
        <p:spPr>
          <a:xfrm>
            <a:off x="14310360" y="579729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10944" y="5888736"/>
            <a:ext cx="182880" cy="182880"/>
          </a:xfrm>
          <a:prstGeom prst="rect">
            <a:avLst/>
          </a:prstGeom>
        </p:spPr>
      </p:pic>
      <p:sp>
        <p:nvSpPr>
          <p:cNvPr id="28" name="attribution"/>
          <p:cNvSpPr txBox="1"/>
          <p:nvPr/>
        </p:nvSpPr>
        <p:spPr>
          <a:xfrm>
            <a:off x="14813280" y="5797296"/>
            <a:ext cx="84737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45-55, Екатеринбург</a:t>
            </a:r>
            <a:endParaRPr lang="en-US" sz="1600" dirty="0"/>
          </a:p>
        </p:txBody>
      </p:sp>
      <p:sp>
        <p:nvSpPr>
          <p:cNvPr id="29" name="label"/>
          <p:cNvSpPr txBox="1"/>
          <p:nvPr/>
        </p:nvSpPr>
        <p:spPr>
          <a:xfrm>
            <a:off x="1005840" y="644652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b="1" spc="200" kern="0" dirty="0">
                <a:solidFill>
                  <a:schemeClr val="accent1"/>
                </a:solidFill>
              </a:rPr>
              <a:t>КОГДА РЕСПОНДЕНТЫ ОТМЕЧАЛИ РАССЫЛКУ КАК ЦЕННУЮ</a:t>
            </a:r>
            <a:endParaRPr lang="en-US" sz="1700" dirty="0"/>
          </a:p>
        </p:txBody>
      </p:sp>
      <p:sp>
        <p:nvSpPr>
          <p:cNvPr id="30" name="icon ring"/>
          <p:cNvSpPr/>
          <p:nvPr/>
        </p:nvSpPr>
        <p:spPr>
          <a:xfrm>
            <a:off x="1005840" y="6995160"/>
            <a:ext cx="731520" cy="73152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3350" y="7192670"/>
            <a:ext cx="336499" cy="336499"/>
          </a:xfrm>
          <a:prstGeom prst="rect">
            <a:avLst/>
          </a:prstGeom>
        </p:spPr>
      </p:pic>
      <p:sp>
        <p:nvSpPr>
          <p:cNvPr id="32" name="value"/>
          <p:cNvSpPr txBox="1"/>
          <p:nvPr/>
        </p:nvSpPr>
        <p:spPr>
          <a:xfrm>
            <a:off x="1965960" y="6949440"/>
            <a:ext cx="60859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Работающая выгода</a:t>
            </a:r>
            <a:endParaRPr lang="en-US" sz="2200" dirty="0"/>
          </a:p>
        </p:txBody>
      </p:sp>
      <p:sp>
        <p:nvSpPr>
          <p:cNvPr id="33" name="value text"/>
          <p:cNvSpPr txBox="1"/>
          <p:nvPr/>
        </p:nvSpPr>
        <p:spPr>
          <a:xfrm>
            <a:off x="1005840" y="8001000"/>
            <a:ext cx="70003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Скидка или купон действительно применяются; понятные условия создают доверие к следующим письмам</a:t>
            </a:r>
            <a:endParaRPr lang="en-US" sz="2000" dirty="0"/>
          </a:p>
        </p:txBody>
      </p:sp>
      <p:sp>
        <p:nvSpPr>
          <p:cNvPr id="34" name="rule"/>
          <p:cNvSpPr/>
          <p:nvPr/>
        </p:nvSpPr>
        <p:spPr>
          <a:xfrm>
            <a:off x="8234782" y="6995160"/>
            <a:ext cx="0" cy="2468880"/>
          </a:xfrm>
          <a:prstGeom prst="line">
            <a:avLst/>
          </a:prstGeom>
          <a:noFill/>
          <a:ln w="12700">
            <a:solidFill>
              <a:srgbClr val="9ED8B0"/>
            </a:solidFill>
            <a:prstDash val="sysDot"/>
          </a:ln>
        </p:spPr>
      </p:sp>
      <p:sp>
        <p:nvSpPr>
          <p:cNvPr id="35" name="icon ring"/>
          <p:cNvSpPr/>
          <p:nvPr/>
        </p:nvSpPr>
        <p:spPr>
          <a:xfrm>
            <a:off x="8463382" y="6995160"/>
            <a:ext cx="731520" cy="73152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0892" y="7192670"/>
            <a:ext cx="336499" cy="336499"/>
          </a:xfrm>
          <a:prstGeom prst="rect">
            <a:avLst/>
          </a:prstGeom>
        </p:spPr>
      </p:pic>
      <p:sp>
        <p:nvSpPr>
          <p:cNvPr id="37" name="value"/>
          <p:cNvSpPr txBox="1"/>
          <p:nvPr/>
        </p:nvSpPr>
        <p:spPr>
          <a:xfrm>
            <a:off x="9423502" y="6949440"/>
            <a:ext cx="60859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Документы под рукой</a:t>
            </a:r>
            <a:endParaRPr lang="en-US" sz="2200" dirty="0"/>
          </a:p>
        </p:txBody>
      </p:sp>
      <p:sp>
        <p:nvSpPr>
          <p:cNvPr id="38" name="value text"/>
          <p:cNvSpPr txBox="1"/>
          <p:nvPr/>
        </p:nvSpPr>
        <p:spPr>
          <a:xfrm>
            <a:off x="8463382" y="8001000"/>
            <a:ext cx="70003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Полис, билет, чек или QR-код можно сохранить и использовать, когда нет доступа к приложению или сети</a:t>
            </a:r>
            <a:endParaRPr lang="en-US" sz="2000" dirty="0"/>
          </a:p>
        </p:txBody>
      </p:sp>
      <p:sp>
        <p:nvSpPr>
          <p:cNvPr id="39" name="rule"/>
          <p:cNvSpPr/>
          <p:nvPr/>
        </p:nvSpPr>
        <p:spPr>
          <a:xfrm>
            <a:off x="15692323" y="6995160"/>
            <a:ext cx="0" cy="2468880"/>
          </a:xfrm>
          <a:prstGeom prst="line">
            <a:avLst/>
          </a:prstGeom>
          <a:noFill/>
          <a:ln w="12700">
            <a:solidFill>
              <a:srgbClr val="9ED8B0"/>
            </a:solidFill>
            <a:prstDash val="sysDot"/>
          </a:ln>
        </p:spPr>
      </p:sp>
      <p:sp>
        <p:nvSpPr>
          <p:cNvPr id="40" name="icon ring"/>
          <p:cNvSpPr/>
          <p:nvPr/>
        </p:nvSpPr>
        <p:spPr>
          <a:xfrm>
            <a:off x="15920923" y="6995160"/>
            <a:ext cx="731520" cy="73152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18434" y="7192670"/>
            <a:ext cx="336499" cy="336499"/>
          </a:xfrm>
          <a:prstGeom prst="rect">
            <a:avLst/>
          </a:prstGeom>
        </p:spPr>
      </p:pic>
      <p:sp>
        <p:nvSpPr>
          <p:cNvPr id="42" name="value"/>
          <p:cNvSpPr txBox="1"/>
          <p:nvPr/>
        </p:nvSpPr>
        <p:spPr>
          <a:xfrm>
            <a:off x="16881043" y="6949440"/>
            <a:ext cx="60859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Помощь или предложение по действующей услуге</a:t>
            </a:r>
            <a:endParaRPr lang="en-US" sz="2200" dirty="0"/>
          </a:p>
        </p:txBody>
      </p:sp>
      <p:sp>
        <p:nvSpPr>
          <p:cNvPr id="43" name="value text"/>
          <p:cNvSpPr txBox="1"/>
          <p:nvPr/>
        </p:nvSpPr>
        <p:spPr>
          <a:xfrm>
            <a:off x="15920923" y="8001000"/>
            <a:ext cx="700034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Напомнить о продлении полиса или платеже; предложить скидку постоянному клиенту, а не только за первый заказ</a:t>
            </a:r>
            <a:endParaRPr lang="en-US" sz="20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9601200"/>
            <a:ext cx="22372625" cy="3337560"/>
          </a:xfrm>
          <a:prstGeom prst="rect">
            <a:avLst/>
          </a:prstGeom>
        </p:spPr>
      </p:pic>
      <p:sp>
        <p:nvSpPr>
          <p:cNvPr id="45" name="conclusion label"/>
          <p:cNvSpPr txBox="1"/>
          <p:nvPr/>
        </p:nvSpPr>
        <p:spPr>
          <a:xfrm>
            <a:off x="1645920" y="9857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spc="150" kern="0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ВЫВОДЫ ДЛЯ СБЕРА:</a:t>
            </a:r>
            <a:endParaRPr lang="en-US" sz="2100" dirty="0"/>
          </a:p>
        </p:txBody>
      </p:sp>
      <p:sp>
        <p:nvSpPr>
          <p:cNvPr id="46" name="conclusion"/>
          <p:cNvSpPr txBox="1"/>
          <p:nvPr/>
        </p:nvSpPr>
        <p:spPr>
          <a:xfrm>
            <a:off x="1645920" y="10469880"/>
            <a:ext cx="666506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Коммерческий потенциал почты связан с уже существующей потребностью: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предложение по знакомой услуге с понятной выгодой может стать поводом для покупки</a:t>
            </a:r>
            <a:endParaRPr lang="en-US" sz="1900" dirty="0"/>
          </a:p>
        </p:txBody>
      </p:sp>
      <p:sp>
        <p:nvSpPr>
          <p:cNvPr id="47" name="conclusion"/>
          <p:cNvSpPr txBox="1"/>
          <p:nvPr/>
        </p:nvSpPr>
        <p:spPr>
          <a:xfrm>
            <a:off x="8859622" y="10469880"/>
            <a:ext cx="666506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Условия для постоянных клиентов важны при повторном выборе сервиса: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участники ждут напоминания о продлении и выгоды, которая поможет предпочесть Сбер конкурентам</a:t>
            </a:r>
            <a:endParaRPr lang="en-US" sz="1900" dirty="0"/>
          </a:p>
        </p:txBody>
      </p:sp>
      <p:sp>
        <p:nvSpPr>
          <p:cNvPr id="48" name="rule"/>
          <p:cNvSpPr/>
          <p:nvPr/>
        </p:nvSpPr>
        <p:spPr>
          <a:xfrm>
            <a:off x="8585302" y="10515600"/>
            <a:ext cx="0" cy="2057400"/>
          </a:xfrm>
          <a:prstGeom prst="line">
            <a:avLst/>
          </a:prstGeom>
          <a:noFill/>
          <a:ln w="12700">
            <a:solidFill>
              <a:srgbClr val="9ED8B0"/>
            </a:solidFill>
            <a:prstDash val="solid"/>
          </a:ln>
        </p:spPr>
      </p:sp>
      <p:sp>
        <p:nvSpPr>
          <p:cNvPr id="49" name="conclusion"/>
          <p:cNvSpPr txBox="1"/>
          <p:nvPr/>
        </p:nvSpPr>
        <p:spPr>
          <a:xfrm>
            <a:off x="16073323" y="10469880"/>
            <a:ext cx="666506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Вклад письма в продажу может быть шире прямых переходов: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клиент может узнать о предложении из почты, а оформить его самостоятельно на сайте или в приложении. Оценка только по кликам может недооценивать роль канала</a:t>
            </a:r>
            <a:endParaRPr lang="en-US" sz="1900" dirty="0"/>
          </a:p>
        </p:txBody>
      </p:sp>
      <p:sp>
        <p:nvSpPr>
          <p:cNvPr id="50" name="rule"/>
          <p:cNvSpPr/>
          <p:nvPr/>
        </p:nvSpPr>
        <p:spPr>
          <a:xfrm>
            <a:off x="15799003" y="10515600"/>
            <a:ext cx="0" cy="2057400"/>
          </a:xfrm>
          <a:prstGeom prst="line">
            <a:avLst/>
          </a:prstGeom>
          <a:noFill/>
          <a:ln w="12700">
            <a:solidFill>
              <a:srgbClr val="9ED8B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Гипотезы для проработки</a:t>
            </a:r>
            <a:endParaRPr lang="en-US" sz="9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0876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ГИПОТЕЗЫ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Гипотезы для дальней проработки</a:t>
            </a:r>
            <a:endParaRPr lang="en-US" sz="4200" dirty="0"/>
          </a:p>
        </p:txBody>
      </p:sp>
      <p:sp>
        <p:nvSpPr>
          <p:cNvPr id="5" name="column head"/>
          <p:cNvSpPr txBox="1"/>
          <p:nvPr/>
        </p:nvSpPr>
        <p:spPr>
          <a:xfrm>
            <a:off x="1371600" y="26060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Гипотеза</a:t>
            </a:r>
            <a:endParaRPr lang="en-US" sz="1500" dirty="0"/>
          </a:p>
        </p:txBody>
      </p:sp>
      <p:sp>
        <p:nvSpPr>
          <p:cNvPr id="6" name="column head"/>
          <p:cNvSpPr txBox="1"/>
          <p:nvPr/>
        </p:nvSpPr>
        <p:spPr>
          <a:xfrm>
            <a:off x="1152144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spc="200" kern="0" dirty="0">
                <a:solidFill>
                  <a:schemeClr val="accent6"/>
                </a:solidFill>
              </a:rPr>
              <a:t>Вариант проверки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154680"/>
            <a:ext cx="10332720" cy="2103120"/>
          </a:xfrm>
          <a:prstGeom prst="rect">
            <a:avLst/>
          </a:prstGeom>
        </p:spPr>
      </p:pic>
      <p:sp>
        <p:nvSpPr>
          <p:cNvPr id="8" name="icon ring"/>
          <p:cNvSpPr/>
          <p:nvPr/>
        </p:nvSpPr>
        <p:spPr>
          <a:xfrm>
            <a:off x="1371600" y="392277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71" y="4075847"/>
            <a:ext cx="260787" cy="260787"/>
          </a:xfrm>
          <a:prstGeom prst="rect">
            <a:avLst/>
          </a:prstGeom>
        </p:spPr>
      </p:pic>
      <p:sp>
        <p:nvSpPr>
          <p:cNvPr id="10" name="hypothesis"/>
          <p:cNvSpPr txBox="1"/>
          <p:nvPr/>
        </p:nvSpPr>
        <p:spPr>
          <a:xfrm>
            <a:off x="2194560" y="3154680"/>
            <a:ext cx="8138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Почта дает дополнительные продажи среди клиентов, слабо вовлеченных в другие каналы</a:t>
            </a:r>
            <a:endParaRPr lang="en-US" sz="2500" dirty="0"/>
          </a:p>
        </p:txBody>
      </p:sp>
      <p:sp>
        <p:nvSpPr>
          <p:cNvPr id="11" name="test card"/>
          <p:cNvSpPr/>
          <p:nvPr/>
        </p:nvSpPr>
        <p:spPr>
          <a:xfrm>
            <a:off x="11521440" y="3154680"/>
            <a:ext cx="11857025" cy="2103120"/>
          </a:xfrm>
          <a:prstGeom prst="roundRect">
            <a:avLst>
              <a:gd name="adj" fmla="val 13043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2" name="test"/>
          <p:cNvSpPr txBox="1"/>
          <p:nvPr/>
        </p:nvSpPr>
        <p:spPr>
          <a:xfrm>
            <a:off x="11978640" y="3154680"/>
            <a:ext cx="1103406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Выделить клиентов, которые редко используют приложение, но взаимодействуют с почтой. Сравнить текущую коммуникацию с добавлением письма и без него</a:t>
            </a:r>
            <a:endParaRPr lang="en-US" sz="2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486400"/>
            <a:ext cx="10332720" cy="2103120"/>
          </a:xfrm>
          <a:prstGeom prst="rect">
            <a:avLst/>
          </a:prstGeom>
        </p:spPr>
      </p:pic>
      <p:sp>
        <p:nvSpPr>
          <p:cNvPr id="14" name="icon ring"/>
          <p:cNvSpPr/>
          <p:nvPr/>
        </p:nvSpPr>
        <p:spPr>
          <a:xfrm>
            <a:off x="1371600" y="625449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671" y="6407567"/>
            <a:ext cx="260787" cy="260787"/>
          </a:xfrm>
          <a:prstGeom prst="rect">
            <a:avLst/>
          </a:prstGeom>
        </p:spPr>
      </p:pic>
      <p:sp>
        <p:nvSpPr>
          <p:cNvPr id="16" name="hypothesis"/>
          <p:cNvSpPr txBox="1"/>
          <p:nvPr/>
        </p:nvSpPr>
        <p:spPr>
          <a:xfrm>
            <a:off x="2194560" y="5486400"/>
            <a:ext cx="8138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Личный расчет выгоды в письме помогает завершить выбор продукта</a:t>
            </a:r>
            <a:endParaRPr lang="en-US" sz="2500" dirty="0"/>
          </a:p>
        </p:txBody>
      </p:sp>
      <p:sp>
        <p:nvSpPr>
          <p:cNvPr id="17" name="test card"/>
          <p:cNvSpPr/>
          <p:nvPr/>
        </p:nvSpPr>
        <p:spPr>
          <a:xfrm>
            <a:off x="11521440" y="5486400"/>
            <a:ext cx="11857025" cy="2103120"/>
          </a:xfrm>
          <a:prstGeom prst="roundRect">
            <a:avLst>
              <a:gd name="adj" fmla="val 13043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8" name="test"/>
          <p:cNvSpPr txBox="1"/>
          <p:nvPr/>
        </p:nvSpPr>
        <p:spPr>
          <a:xfrm>
            <a:off x="11978640" y="5486400"/>
            <a:ext cx="1103406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Для продукта, требующего обдумывания, сравнить действующее письмо с персональным расчетом: что клиент получит, сколько заплатит, какие условия важны</a:t>
            </a:r>
            <a:endParaRPr lang="en-US" sz="2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7818120"/>
            <a:ext cx="10332720" cy="2103120"/>
          </a:xfrm>
          <a:prstGeom prst="rect">
            <a:avLst/>
          </a:prstGeom>
        </p:spPr>
      </p:pic>
      <p:sp>
        <p:nvSpPr>
          <p:cNvPr id="20" name="icon ring"/>
          <p:cNvSpPr/>
          <p:nvPr/>
        </p:nvSpPr>
        <p:spPr>
          <a:xfrm>
            <a:off x="1371600" y="858621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671" y="8739287"/>
            <a:ext cx="260787" cy="260787"/>
          </a:xfrm>
          <a:prstGeom prst="rect">
            <a:avLst/>
          </a:prstGeom>
        </p:spPr>
      </p:pic>
      <p:sp>
        <p:nvSpPr>
          <p:cNvPr id="22" name="hypothesis"/>
          <p:cNvSpPr txBox="1"/>
          <p:nvPr/>
        </p:nvSpPr>
        <p:spPr>
          <a:xfrm>
            <a:off x="2194560" y="7818120"/>
            <a:ext cx="8138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Письма по используемым услугам могут стать точкой дополнительных продаж</a:t>
            </a:r>
            <a:endParaRPr lang="en-US" sz="2500" dirty="0"/>
          </a:p>
        </p:txBody>
      </p:sp>
      <p:sp>
        <p:nvSpPr>
          <p:cNvPr id="23" name="test card"/>
          <p:cNvSpPr/>
          <p:nvPr/>
        </p:nvSpPr>
        <p:spPr>
          <a:xfrm>
            <a:off x="11521440" y="7818120"/>
            <a:ext cx="11857025" cy="2103120"/>
          </a:xfrm>
          <a:prstGeom prst="roundRect">
            <a:avLst>
              <a:gd name="adj" fmla="val 13043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24" name="test"/>
          <p:cNvSpPr txBox="1"/>
          <p:nvPr/>
        </p:nvSpPr>
        <p:spPr>
          <a:xfrm>
            <a:off x="11978640" y="7818120"/>
            <a:ext cx="1103406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Проверить предложение, связанное с текущей задачей клиента: например, дополнительное покрытие при продлении страховки. Сравнить с текущей коммуникацией без такого предложения</a:t>
            </a:r>
            <a:endParaRPr lang="en-US" sz="2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10149840"/>
            <a:ext cx="10332720" cy="2103120"/>
          </a:xfrm>
          <a:prstGeom prst="rect">
            <a:avLst/>
          </a:prstGeom>
        </p:spPr>
      </p:pic>
      <p:sp>
        <p:nvSpPr>
          <p:cNvPr id="26" name="icon ring"/>
          <p:cNvSpPr/>
          <p:nvPr/>
        </p:nvSpPr>
        <p:spPr>
          <a:xfrm>
            <a:off x="1371600" y="10917936"/>
            <a:ext cx="566928" cy="56692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4671" y="11071007"/>
            <a:ext cx="260787" cy="260787"/>
          </a:xfrm>
          <a:prstGeom prst="rect">
            <a:avLst/>
          </a:prstGeom>
        </p:spPr>
      </p:pic>
      <p:sp>
        <p:nvSpPr>
          <p:cNvPr id="28" name="hypothesis"/>
          <p:cNvSpPr txBox="1"/>
          <p:nvPr/>
        </p:nvSpPr>
        <p:spPr>
          <a:xfrm>
            <a:off x="2194560" y="10149840"/>
            <a:ext cx="8138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Подписка на конкретную тему и пользу вовлекает клиентов, игнорирующих общие рассылки</a:t>
            </a:r>
            <a:endParaRPr lang="en-US" sz="2500" dirty="0"/>
          </a:p>
        </p:txBody>
      </p:sp>
      <p:sp>
        <p:nvSpPr>
          <p:cNvPr id="29" name="test card"/>
          <p:cNvSpPr/>
          <p:nvPr/>
        </p:nvSpPr>
        <p:spPr>
          <a:xfrm>
            <a:off x="11521440" y="10149840"/>
            <a:ext cx="11857025" cy="2103120"/>
          </a:xfrm>
          <a:prstGeom prst="roundRect">
            <a:avLst>
              <a:gd name="adj" fmla="val 13043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30" name="test"/>
          <p:cNvSpPr txBox="1"/>
          <p:nvPr/>
        </p:nvSpPr>
        <p:spPr>
          <a:xfrm>
            <a:off x="11978640" y="10149840"/>
            <a:ext cx="1103406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Части неактивной почтовой базы предложить выбрать интересующую тему и получать соответствующие предложения. Сравнить всю приглашенную группу с контрольной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508760" y="502920"/>
            <a:ext cx="1828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chemeClr val="accent1"/>
                </a:solidFill>
              </a:rPr>
              <a:t>ИИ В КОММУНИКАЦИЯХ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05840" y="105156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chemeClr val="tx1"/>
                </a:solidFill>
              </a:rPr>
              <a:t>Гипотезы для дальней проработки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97480"/>
            <a:ext cx="22372625" cy="1645920"/>
          </a:xfrm>
          <a:prstGeom prst="rect">
            <a:avLst/>
          </a:prstGeom>
        </p:spPr>
      </p:pic>
      <p:sp>
        <p:nvSpPr>
          <p:cNvPr id="6" name="key statement"/>
          <p:cNvSpPr txBox="1"/>
          <p:nvPr/>
        </p:nvSpPr>
        <p:spPr>
          <a:xfrm>
            <a:off x="1737360" y="2697480"/>
            <a:ext cx="2090958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bg1"/>
                </a:solidFill>
              </a:rPr>
              <a:t>Основание из исследования: </a:t>
            </a:r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bg1"/>
                </a:solidFill>
              </a:rPr>
              <a:t>общие предложения игнорируют. Интерес вызывают письма по своим продуктам, советы по ситуации клиента и понятный следующий шаг</a:t>
            </a:r>
            <a:endParaRPr lang="en-US" sz="2600" dirty="0"/>
          </a:p>
        </p:txBody>
      </p:sp>
      <p:sp>
        <p:nvSpPr>
          <p:cNvPr id="7" name="idea card"/>
          <p:cNvSpPr/>
          <p:nvPr/>
        </p:nvSpPr>
        <p:spPr>
          <a:xfrm>
            <a:off x="1005840" y="5074920"/>
            <a:ext cx="7152742" cy="7863840"/>
          </a:xfrm>
          <a:prstGeom prst="roundRect">
            <a:avLst>
              <a:gd name="adj" fmla="val 511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8" name="icon ring"/>
          <p:cNvSpPr/>
          <p:nvPr/>
        </p:nvSpPr>
        <p:spPr>
          <a:xfrm>
            <a:off x="1463040" y="4572000"/>
            <a:ext cx="1005840" cy="10058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617" y="4843577"/>
            <a:ext cx="462686" cy="462686"/>
          </a:xfrm>
          <a:prstGeom prst="rect">
            <a:avLst/>
          </a:prstGeom>
        </p:spPr>
      </p:pic>
      <p:sp>
        <p:nvSpPr>
          <p:cNvPr id="10" name="idea title"/>
          <p:cNvSpPr txBox="1"/>
          <p:nvPr/>
        </p:nvSpPr>
        <p:spPr>
          <a:xfrm>
            <a:off x="1508760" y="5852160"/>
            <a:ext cx="614690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Объяснять изменения по продукту</a:t>
            </a:r>
            <a:endParaRPr lang="en-US" sz="3200" dirty="0"/>
          </a:p>
        </p:txBody>
      </p:sp>
      <p:sp>
        <p:nvSpPr>
          <p:cNvPr id="11" name="idea role"/>
          <p:cNvSpPr txBox="1"/>
          <p:nvPr/>
        </p:nvSpPr>
        <p:spPr>
          <a:xfrm>
            <a:off x="1508760" y="7680960"/>
            <a:ext cx="614690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На основе актуальных условий готовить краткое объяснение: что изменилось для клиента и какое действие доступно</a:t>
            </a:r>
            <a:endParaRPr lang="en-US" sz="2400" dirty="0"/>
          </a:p>
        </p:txBody>
      </p:sp>
      <p:sp>
        <p:nvSpPr>
          <p:cNvPr id="12" name="example pill"/>
          <p:cNvSpPr/>
          <p:nvPr/>
        </p:nvSpPr>
        <p:spPr>
          <a:xfrm>
            <a:off x="1325880" y="10972800"/>
            <a:ext cx="6512662" cy="16459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13" name="example"/>
          <p:cNvSpPr txBox="1"/>
          <p:nvPr/>
        </p:nvSpPr>
        <p:spPr>
          <a:xfrm>
            <a:off x="1783080" y="10972800"/>
            <a:ext cx="55982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Пример: что меняется при продлении полиса</a:t>
            </a:r>
            <a:endParaRPr lang="en-US" sz="2100" dirty="0"/>
          </a:p>
        </p:txBody>
      </p:sp>
      <p:sp>
        <p:nvSpPr>
          <p:cNvPr id="14" name="idea card"/>
          <p:cNvSpPr/>
          <p:nvPr/>
        </p:nvSpPr>
        <p:spPr>
          <a:xfrm>
            <a:off x="8615782" y="5074920"/>
            <a:ext cx="7152742" cy="7863840"/>
          </a:xfrm>
          <a:prstGeom prst="roundRect">
            <a:avLst>
              <a:gd name="adj" fmla="val 511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5" name="icon ring"/>
          <p:cNvSpPr/>
          <p:nvPr/>
        </p:nvSpPr>
        <p:spPr>
          <a:xfrm>
            <a:off x="9072982" y="4572000"/>
            <a:ext cx="1005840" cy="10058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4558" y="4843577"/>
            <a:ext cx="462686" cy="462686"/>
          </a:xfrm>
          <a:prstGeom prst="rect">
            <a:avLst/>
          </a:prstGeom>
        </p:spPr>
      </p:pic>
      <p:sp>
        <p:nvSpPr>
          <p:cNvPr id="17" name="idea title"/>
          <p:cNvSpPr txBox="1"/>
          <p:nvPr/>
        </p:nvSpPr>
        <p:spPr>
          <a:xfrm>
            <a:off x="9118702" y="5852160"/>
            <a:ext cx="614690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Давать совет по ситуации клиента</a:t>
            </a:r>
            <a:endParaRPr lang="en-US" sz="3200" dirty="0"/>
          </a:p>
        </p:txBody>
      </p:sp>
      <p:sp>
        <p:nvSpPr>
          <p:cNvPr id="18" name="idea role"/>
          <p:cNvSpPr txBox="1"/>
          <p:nvPr/>
        </p:nvSpPr>
        <p:spPr>
          <a:xfrm>
            <a:off x="9118702" y="7680960"/>
            <a:ext cx="614690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Учитывать траты и текущие продукты, объяснять доступную выгоду и предлагать следующий шаг</a:t>
            </a:r>
            <a:endParaRPr lang="en-US" sz="2400" dirty="0"/>
          </a:p>
        </p:txBody>
      </p:sp>
      <p:sp>
        <p:nvSpPr>
          <p:cNvPr id="19" name="example pill"/>
          <p:cNvSpPr/>
          <p:nvPr/>
        </p:nvSpPr>
        <p:spPr>
          <a:xfrm>
            <a:off x="8935822" y="10972800"/>
            <a:ext cx="6512662" cy="16459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20" name="example"/>
          <p:cNvSpPr txBox="1"/>
          <p:nvPr/>
        </p:nvSpPr>
        <p:spPr>
          <a:xfrm>
            <a:off x="9393022" y="10972800"/>
            <a:ext cx="55982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Пример: какие категории кешбэка стоит рассмотреть</a:t>
            </a:r>
            <a:endParaRPr lang="en-US" sz="2100" dirty="0"/>
          </a:p>
        </p:txBody>
      </p:sp>
      <p:sp>
        <p:nvSpPr>
          <p:cNvPr id="21" name="idea card"/>
          <p:cNvSpPr/>
          <p:nvPr/>
        </p:nvSpPr>
        <p:spPr>
          <a:xfrm>
            <a:off x="16225723" y="5074920"/>
            <a:ext cx="7152742" cy="7863840"/>
          </a:xfrm>
          <a:prstGeom prst="roundRect">
            <a:avLst>
              <a:gd name="adj" fmla="val 511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22" name="icon ring"/>
          <p:cNvSpPr/>
          <p:nvPr/>
        </p:nvSpPr>
        <p:spPr>
          <a:xfrm>
            <a:off x="16682923" y="4572000"/>
            <a:ext cx="1005840" cy="100584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4500" y="4843577"/>
            <a:ext cx="462686" cy="462686"/>
          </a:xfrm>
          <a:prstGeom prst="rect">
            <a:avLst/>
          </a:prstGeom>
        </p:spPr>
      </p:pic>
      <p:sp>
        <p:nvSpPr>
          <p:cNvPr id="24" name="idea title"/>
          <p:cNvSpPr txBox="1"/>
          <p:nvPr/>
        </p:nvSpPr>
        <p:spPr>
          <a:xfrm>
            <a:off x="16728643" y="5852160"/>
            <a:ext cx="614690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Продолжать письмо в диалоге</a:t>
            </a:r>
            <a:endParaRPr lang="en-US" sz="3200" dirty="0"/>
          </a:p>
        </p:txBody>
      </p:sp>
      <p:sp>
        <p:nvSpPr>
          <p:cNvPr id="25" name="idea role"/>
          <p:cNvSpPr txBox="1"/>
          <p:nvPr/>
        </p:nvSpPr>
        <p:spPr>
          <a:xfrm>
            <a:off x="16728643" y="7680960"/>
            <a:ext cx="614690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Передавать тему письма помощнику в приложении, чтобы клиент мог уточнить условия и получить инструкцию</a:t>
            </a:r>
            <a:endParaRPr lang="en-US" sz="2400" dirty="0"/>
          </a:p>
        </p:txBody>
      </p:sp>
      <p:sp>
        <p:nvSpPr>
          <p:cNvPr id="26" name="example pill"/>
          <p:cNvSpPr/>
          <p:nvPr/>
        </p:nvSpPr>
        <p:spPr>
          <a:xfrm>
            <a:off x="16545763" y="10972800"/>
            <a:ext cx="6512662" cy="1645920"/>
          </a:xfrm>
          <a:prstGeom prst="roundRect">
            <a:avLst>
              <a:gd name="adj" fmla="val 50000"/>
            </a:avLst>
          </a:prstGeom>
          <a:solidFill>
            <a:srgbClr val="E3F3E7"/>
          </a:solidFill>
          <a:ln/>
        </p:spPr>
      </p:sp>
      <p:sp>
        <p:nvSpPr>
          <p:cNvPr id="27" name="example"/>
          <p:cNvSpPr txBox="1"/>
          <p:nvPr/>
        </p:nvSpPr>
        <p:spPr>
          <a:xfrm>
            <a:off x="17002963" y="10972800"/>
            <a:ext cx="559826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Пример: «Как воспользоваться предложением из письма?»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1289304"/>
            <a:ext cx="2743200" cy="749808"/>
          </a:xfrm>
          <a:prstGeom prst="rect">
            <a:avLst/>
          </a:prstGeom>
        </p:spPr>
      </p:pic>
      <p:sp>
        <p:nvSpPr>
          <p:cNvPr id="3" name="decor circle"/>
          <p:cNvSpPr/>
          <p:nvPr/>
        </p:nvSpPr>
        <p:spPr>
          <a:xfrm>
            <a:off x="15087600" y="2377440"/>
            <a:ext cx="10058400" cy="10058400"/>
          </a:xfrm>
          <a:prstGeom prst="ellipse">
            <a:avLst/>
          </a:prstGeom>
          <a:solidFill>
            <a:schemeClr val="accent2">
              <a:alpha val="30000"/>
            </a:schemeClr>
          </a:solidFill>
          <a:ln/>
        </p:spPr>
      </p:sp>
      <p:sp>
        <p:nvSpPr>
          <p:cNvPr id="4" name="decor circle"/>
          <p:cNvSpPr/>
          <p:nvPr/>
        </p:nvSpPr>
        <p:spPr>
          <a:xfrm>
            <a:off x="17922240" y="5394960"/>
            <a:ext cx="6583680" cy="6583680"/>
          </a:xfrm>
          <a:prstGeom prst="ellipse">
            <a:avLst/>
          </a:prstGeom>
          <a:solidFill>
            <a:schemeClr val="accent5">
              <a:alpha val="20000"/>
            </a:schemeClr>
          </a:solidFill>
          <a:ln/>
        </p:spPr>
      </p:sp>
      <p:sp>
        <p:nvSpPr>
          <p:cNvPr id="5" name="decor ring"/>
          <p:cNvSpPr/>
          <p:nvPr/>
        </p:nvSpPr>
        <p:spPr>
          <a:xfrm>
            <a:off x="13258800" y="548640"/>
            <a:ext cx="12801600" cy="12801600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1517904" y="4023360"/>
            <a:ext cx="18288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chemeClr val="bg1"/>
                </a:solidFill>
              </a:rPr>
              <a:t>Спасибо</a:t>
            </a:r>
            <a:endParaRPr lang="en-US" sz="13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000" b="1" dirty="0">
                <a:solidFill>
                  <a:schemeClr val="bg1"/>
                </a:solidFill>
              </a:rPr>
              <a:t>за внимание!</a:t>
            </a:r>
            <a:endParaRPr lang="en-US" sz="13000" dirty="0"/>
          </a:p>
        </p:txBody>
      </p:sp>
      <p:sp>
        <p:nvSpPr>
          <p:cNvPr id="7" name="footer"/>
          <p:cNvSpPr txBox="1"/>
          <p:nvPr/>
        </p:nvSpPr>
        <p:spPr>
          <a:xfrm>
            <a:off x="1517904" y="11338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ДМиК. Стратегический маркетинг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Сентябрь 2026</a:t>
            </a:r>
            <a:endParaRPr lang="en-US" sz="2200" dirty="0"/>
          </a:p>
        </p:txBody>
      </p:sp>
      <p:sp>
        <p:nvSpPr>
          <p:cNvPr id="8" name="footer"/>
          <p:cNvSpPr txBox="1"/>
          <p:nvPr/>
        </p:nvSpPr>
        <p:spPr>
          <a:xfrm>
            <a:off x="10972800" y="11338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ПАО Сбербанк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1"/>
                </a:solidFill>
              </a:rPr>
              <a:t>Строго для внутреннего использования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Сбе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463040"/>
            <a:ext cx="2743200" cy="7498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2194560" y="3108960"/>
            <a:ext cx="1828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600" b="1" dirty="0">
                <a:solidFill>
                  <a:schemeClr val="tx1"/>
                </a:solidFill>
              </a:rPr>
              <a:t>Приложение</a:t>
            </a:r>
            <a:endParaRPr lang="en-US" sz="9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Банковские приложения – основной канал получения информации от банков. Email рассылки от банков практически не читают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11155680" cy="1657604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645920" y="3017520"/>
            <a:ext cx="10058400" cy="1657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Гипотеза о том, что потребители не читают рассылки из банков, подтвердилась.</a:t>
            </a:r>
            <a:endParaRPr lang="en-US" sz="2200" dirty="0"/>
          </a:p>
        </p:txBody>
      </p:sp>
      <p:sp>
        <p:nvSpPr>
          <p:cNvPr id="5" name="text"/>
          <p:cNvSpPr txBox="1"/>
          <p:nvPr/>
        </p:nvSpPr>
        <p:spPr>
          <a:xfrm>
            <a:off x="1097280" y="5022088"/>
            <a:ext cx="11155680" cy="76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Большинство потребителей действительно практически не читает писем и рассылок из банка:</a:t>
            </a:r>
            <a:endParaRPr lang="en-US" sz="2000" dirty="0"/>
          </a:p>
        </p:txBody>
      </p:sp>
      <p:sp>
        <p:nvSpPr>
          <p:cNvPr id="6" name="icon ring"/>
          <p:cNvSpPr/>
          <p:nvPr/>
        </p:nvSpPr>
        <p:spPr>
          <a:xfrm>
            <a:off x="1097280" y="6172708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8" y="6330716"/>
            <a:ext cx="269199" cy="269199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2048256" y="6136132"/>
            <a:ext cx="10204704" cy="178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Банковские приложения - более официальный, надежный и удобный канал. 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Информацию о новых продуктах и услугах, о состоянии счета, изменениях в условиях обслуживания и т.п. привычнее и удобнее получать через приложение. Кроме того, информация в приложении, в отличие от рассылок, воспринимается как более точная и персонализированная.</a:t>
            </a:r>
            <a:endParaRPr lang="en-US" sz="2000" dirty="0"/>
          </a:p>
        </p:txBody>
      </p:sp>
      <p:sp>
        <p:nvSpPr>
          <p:cNvPr id="9" name="rule"/>
          <p:cNvSpPr/>
          <p:nvPr/>
        </p:nvSpPr>
        <p:spPr>
          <a:xfrm>
            <a:off x="2048256" y="8090154"/>
            <a:ext cx="10204704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10" name="icon ring"/>
          <p:cNvSpPr/>
          <p:nvPr/>
        </p:nvSpPr>
        <p:spPr>
          <a:xfrm>
            <a:off x="1097280" y="830021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288" y="8458220"/>
            <a:ext cx="269199" cy="269199"/>
          </a:xfrm>
          <a:prstGeom prst="rect">
            <a:avLst/>
          </a:prstGeom>
        </p:spPr>
      </p:pic>
      <p:sp>
        <p:nvSpPr>
          <p:cNvPr id="12" name="point"/>
          <p:cNvSpPr txBox="1"/>
          <p:nvPr/>
        </p:nvSpPr>
        <p:spPr>
          <a:xfrm>
            <a:off x="2048256" y="8263636"/>
            <a:ext cx="10204704" cy="2118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Потребители предпочитают, чтобы инициатива исходила от них, а не от банка. 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Большая часть рассылок от банка оценивается как не актуальная, не своевременная, выгодная не потребителям, а банку. Поэтому рассылки воспринимают как навязывание ненужных услуг и продуктов. В случае интереса к продуктам или услугам банка предпочитают сами обращаться в банк через приложение, сайт или офис.</a:t>
            </a:r>
            <a:endParaRPr lang="en-US" sz="2000" dirty="0"/>
          </a:p>
        </p:txBody>
      </p:sp>
      <p:sp>
        <p:nvSpPr>
          <p:cNvPr id="13" name="rule"/>
          <p:cNvSpPr/>
          <p:nvPr/>
        </p:nvSpPr>
        <p:spPr>
          <a:xfrm>
            <a:off x="2048256" y="10555478"/>
            <a:ext cx="10204704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14" name="icon ring"/>
          <p:cNvSpPr/>
          <p:nvPr/>
        </p:nvSpPr>
        <p:spPr>
          <a:xfrm>
            <a:off x="1097280" y="10765536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288" y="10923544"/>
            <a:ext cx="269199" cy="269199"/>
          </a:xfrm>
          <a:prstGeom prst="rect">
            <a:avLst/>
          </a:prstGeom>
        </p:spPr>
      </p:pic>
      <p:sp>
        <p:nvSpPr>
          <p:cNvPr id="16" name="point"/>
          <p:cNvSpPr txBox="1"/>
          <p:nvPr/>
        </p:nvSpPr>
        <p:spPr>
          <a:xfrm>
            <a:off x="2048256" y="10728960"/>
            <a:ext cx="10204704" cy="2118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accent3"/>
                </a:solidFill>
              </a:rPr>
              <a:t>Частота, объем и качество информации от банков не соответствует потребностям аудитории. 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tx1"/>
                </a:solidFill>
              </a:rPr>
              <a:t>Есть ощущение, что среди рассылок абсолютное большинство информации – не нужная, а какие-то действительно полезные или важные сообщения просто теряются в таком потоке. Массовость рассылок снижает их релевантность, т.к. очень редко «попадает» в интересы потребителей.</a:t>
            </a:r>
            <a:endParaRPr lang="en-US" sz="2000" dirty="0"/>
          </a:p>
        </p:txBody>
      </p:sp>
      <p:sp>
        <p:nvSpPr>
          <p:cNvPr id="17" name="quote bubble"/>
          <p:cNvSpPr/>
          <p:nvPr/>
        </p:nvSpPr>
        <p:spPr>
          <a:xfrm>
            <a:off x="12801600" y="3090672"/>
            <a:ext cx="10576865" cy="2250980"/>
          </a:xfrm>
          <a:prstGeom prst="roundRect">
            <a:avLst>
              <a:gd name="adj" fmla="val 13812"/>
            </a:avLst>
          </a:prstGeom>
          <a:solidFill>
            <a:srgbClr val="E3EEFB"/>
          </a:solidFill>
          <a:ln/>
        </p:spPr>
      </p:sp>
      <p:sp>
        <p:nvSpPr>
          <p:cNvPr id="18" name="quote tail"/>
          <p:cNvSpPr/>
          <p:nvPr/>
        </p:nvSpPr>
        <p:spPr>
          <a:xfrm flipV="1">
            <a:off x="13487400" y="5314220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19" name="quote mark"/>
          <p:cNvSpPr/>
          <p:nvPr/>
        </p:nvSpPr>
        <p:spPr>
          <a:xfrm>
            <a:off x="22464065" y="283464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10369" y="2980944"/>
            <a:ext cx="219456" cy="219456"/>
          </a:xfrm>
          <a:prstGeom prst="rect">
            <a:avLst/>
          </a:prstGeom>
        </p:spPr>
      </p:pic>
      <p:sp>
        <p:nvSpPr>
          <p:cNvPr id="21" name="quote text"/>
          <p:cNvSpPr txBox="1"/>
          <p:nvPr/>
        </p:nvSpPr>
        <p:spPr>
          <a:xfrm>
            <a:off x="13213080" y="3456432"/>
            <a:ext cx="9753905" cy="1656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Раньше не было приложений, на почту приходили выписки из банка. Сейчас в этом нет необходимости. И большую часть того, что присылают по рассылках, людям это не нужно, потому что оно слишком общее. Я не хочу, чтобы мне слали информацию, которая мне не нужна, потому что так информации дофига»</a:t>
            </a:r>
            <a:endParaRPr lang="en-US" sz="1900" dirty="0"/>
          </a:p>
        </p:txBody>
      </p:sp>
      <p:sp>
        <p:nvSpPr>
          <p:cNvPr id="22" name="avatar"/>
          <p:cNvSpPr/>
          <p:nvPr/>
        </p:nvSpPr>
        <p:spPr>
          <a:xfrm>
            <a:off x="14127480" y="5433092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8064" y="5524532"/>
            <a:ext cx="182880" cy="182880"/>
          </a:xfrm>
          <a:prstGeom prst="rect">
            <a:avLst/>
          </a:prstGeom>
        </p:spPr>
      </p:pic>
      <p:sp>
        <p:nvSpPr>
          <p:cNvPr id="24" name="attribution"/>
          <p:cNvSpPr txBox="1"/>
          <p:nvPr/>
        </p:nvSpPr>
        <p:spPr>
          <a:xfrm>
            <a:off x="14630400" y="5433092"/>
            <a:ext cx="86566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(45-55, Москва)</a:t>
            </a:r>
            <a:endParaRPr lang="en-US" sz="1600" dirty="0"/>
          </a:p>
        </p:txBody>
      </p:sp>
      <p:sp>
        <p:nvSpPr>
          <p:cNvPr id="25" name="quote bubble"/>
          <p:cNvSpPr/>
          <p:nvPr/>
        </p:nvSpPr>
        <p:spPr>
          <a:xfrm>
            <a:off x="12801600" y="6201188"/>
            <a:ext cx="10576865" cy="1609122"/>
          </a:xfrm>
          <a:prstGeom prst="roundRect">
            <a:avLst>
              <a:gd name="adj" fmla="val 19321"/>
            </a:avLst>
          </a:prstGeom>
          <a:solidFill>
            <a:srgbClr val="E3EEFB"/>
          </a:solidFill>
          <a:ln/>
        </p:spPr>
      </p:sp>
      <p:sp>
        <p:nvSpPr>
          <p:cNvPr id="26" name="quote tail"/>
          <p:cNvSpPr/>
          <p:nvPr/>
        </p:nvSpPr>
        <p:spPr>
          <a:xfrm flipV="1">
            <a:off x="13487400" y="7782878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7" name="quote mark"/>
          <p:cNvSpPr/>
          <p:nvPr/>
        </p:nvSpPr>
        <p:spPr>
          <a:xfrm>
            <a:off x="22464065" y="5945156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10369" y="6091460"/>
            <a:ext cx="219456" cy="219456"/>
          </a:xfrm>
          <a:prstGeom prst="rect">
            <a:avLst/>
          </a:prstGeom>
        </p:spPr>
      </p:pic>
      <p:sp>
        <p:nvSpPr>
          <p:cNvPr id="29" name="quote text"/>
          <p:cNvSpPr txBox="1"/>
          <p:nvPr/>
        </p:nvSpPr>
        <p:spPr>
          <a:xfrm>
            <a:off x="13213080" y="6566948"/>
            <a:ext cx="9753905" cy="101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«Банк - это высокой степени серьезности инстанция. И ждать от него важную информацию к себе на почту, а не через профильное приложение, мы не привыкли»</a:t>
            </a:r>
            <a:endParaRPr lang="en-US" sz="1900" dirty="0"/>
          </a:p>
        </p:txBody>
      </p:sp>
      <p:sp>
        <p:nvSpPr>
          <p:cNvPr id="30" name="avatar"/>
          <p:cNvSpPr/>
          <p:nvPr/>
        </p:nvSpPr>
        <p:spPr>
          <a:xfrm>
            <a:off x="14127480" y="7901749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28064" y="7993189"/>
            <a:ext cx="182880" cy="182880"/>
          </a:xfrm>
          <a:prstGeom prst="rect">
            <a:avLst/>
          </a:prstGeom>
        </p:spPr>
      </p:pic>
      <p:sp>
        <p:nvSpPr>
          <p:cNvPr id="32" name="attribution"/>
          <p:cNvSpPr txBox="1"/>
          <p:nvPr/>
        </p:nvSpPr>
        <p:spPr>
          <a:xfrm>
            <a:off x="14630400" y="7901749"/>
            <a:ext cx="86566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Москва)</a:t>
            </a:r>
            <a:endParaRPr lang="en-US" sz="1600" dirty="0"/>
          </a:p>
        </p:txBody>
      </p:sp>
      <p:sp>
        <p:nvSpPr>
          <p:cNvPr id="33" name="quote bubble"/>
          <p:cNvSpPr/>
          <p:nvPr/>
        </p:nvSpPr>
        <p:spPr>
          <a:xfrm>
            <a:off x="12801600" y="8669846"/>
            <a:ext cx="10576865" cy="1288193"/>
          </a:xfrm>
          <a:prstGeom prst="roundRect">
            <a:avLst>
              <a:gd name="adj" fmla="val 24134"/>
            </a:avLst>
          </a:prstGeom>
          <a:solidFill>
            <a:srgbClr val="E3EEFB"/>
          </a:solidFill>
          <a:ln/>
        </p:spPr>
      </p:sp>
      <p:sp>
        <p:nvSpPr>
          <p:cNvPr id="34" name="quote tail"/>
          <p:cNvSpPr/>
          <p:nvPr/>
        </p:nvSpPr>
        <p:spPr>
          <a:xfrm flipV="1">
            <a:off x="13487400" y="9930606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5" name="quote mark"/>
          <p:cNvSpPr/>
          <p:nvPr/>
        </p:nvSpPr>
        <p:spPr>
          <a:xfrm>
            <a:off x="22464065" y="8413814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10369" y="8560118"/>
            <a:ext cx="219456" cy="219456"/>
          </a:xfrm>
          <a:prstGeom prst="rect">
            <a:avLst/>
          </a:prstGeom>
        </p:spPr>
      </p:pic>
      <p:sp>
        <p:nvSpPr>
          <p:cNvPr id="37" name="quote text"/>
          <p:cNvSpPr txBox="1"/>
          <p:nvPr/>
        </p:nvSpPr>
        <p:spPr>
          <a:xfrm>
            <a:off x="13213080" y="9035606"/>
            <a:ext cx="9753905" cy="69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«У меня всё, что мне нужно, присылает приложение уведомлением. Если что-то важное, я через приложение зайду, почитаю. А почту смысл читать?»</a:t>
            </a:r>
            <a:endParaRPr lang="en-US" sz="1900" dirty="0"/>
          </a:p>
        </p:txBody>
      </p:sp>
      <p:sp>
        <p:nvSpPr>
          <p:cNvPr id="38" name="avatar"/>
          <p:cNvSpPr/>
          <p:nvPr/>
        </p:nvSpPr>
        <p:spPr>
          <a:xfrm>
            <a:off x="14127480" y="1004947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28064" y="10140918"/>
            <a:ext cx="182880" cy="182880"/>
          </a:xfrm>
          <a:prstGeom prst="rect">
            <a:avLst/>
          </a:prstGeom>
        </p:spPr>
      </p:pic>
      <p:sp>
        <p:nvSpPr>
          <p:cNvPr id="40" name="attribution"/>
          <p:cNvSpPr txBox="1"/>
          <p:nvPr/>
        </p:nvSpPr>
        <p:spPr>
          <a:xfrm>
            <a:off x="14630400" y="10049478"/>
            <a:ext cx="86566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Екат)</a:t>
            </a:r>
            <a:endParaRPr lang="en-US" sz="1600" dirty="0"/>
          </a:p>
        </p:txBody>
      </p:sp>
      <p:sp>
        <p:nvSpPr>
          <p:cNvPr id="41" name="quote bubble"/>
          <p:cNvSpPr/>
          <p:nvPr/>
        </p:nvSpPr>
        <p:spPr>
          <a:xfrm>
            <a:off x="12801600" y="10817574"/>
            <a:ext cx="10576865" cy="1609122"/>
          </a:xfrm>
          <a:prstGeom prst="roundRect">
            <a:avLst>
              <a:gd name="adj" fmla="val 19321"/>
            </a:avLst>
          </a:prstGeom>
          <a:solidFill>
            <a:srgbClr val="E3EEFB"/>
          </a:solidFill>
          <a:ln/>
        </p:spPr>
      </p:sp>
      <p:sp>
        <p:nvSpPr>
          <p:cNvPr id="42" name="quote tail"/>
          <p:cNvSpPr/>
          <p:nvPr/>
        </p:nvSpPr>
        <p:spPr>
          <a:xfrm flipV="1">
            <a:off x="13487400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43" name="quote mark"/>
          <p:cNvSpPr/>
          <p:nvPr/>
        </p:nvSpPr>
        <p:spPr>
          <a:xfrm>
            <a:off x="22464065" y="10561542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610369" y="10707846"/>
            <a:ext cx="219456" cy="219456"/>
          </a:xfrm>
          <a:prstGeom prst="rect">
            <a:avLst/>
          </a:prstGeom>
        </p:spPr>
      </p:pic>
      <p:sp>
        <p:nvSpPr>
          <p:cNvPr id="45" name="quote text"/>
          <p:cNvSpPr txBox="1"/>
          <p:nvPr/>
        </p:nvSpPr>
        <p:spPr>
          <a:xfrm>
            <a:off x="13213080" y="11183334"/>
            <a:ext cx="9753905" cy="101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«На рассылки от банков не реагирую, потому что там скидывают и кредиты, и сплиты, и рассрочки ОЗОН. Я этим всем не пользуюсь, поэтому неинтересно»</a:t>
            </a:r>
            <a:endParaRPr lang="en-US" sz="1900" dirty="0"/>
          </a:p>
        </p:txBody>
      </p:sp>
      <p:sp>
        <p:nvSpPr>
          <p:cNvPr id="46" name="avatar"/>
          <p:cNvSpPr/>
          <p:nvPr/>
        </p:nvSpPr>
        <p:spPr>
          <a:xfrm>
            <a:off x="14127480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28064" y="12609576"/>
            <a:ext cx="182880" cy="182880"/>
          </a:xfrm>
          <a:prstGeom prst="rect">
            <a:avLst/>
          </a:prstGeom>
        </p:spPr>
      </p:pic>
      <p:sp>
        <p:nvSpPr>
          <p:cNvPr id="48" name="attribution"/>
          <p:cNvSpPr txBox="1"/>
          <p:nvPr/>
        </p:nvSpPr>
        <p:spPr>
          <a:xfrm>
            <a:off x="14630400" y="12518136"/>
            <a:ext cx="86566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(20-29, Москва)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Из всей массы рассылок от Сбера потребители просматривают письма с информацией о текущих продуктах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926080"/>
            <a:ext cx="10058400" cy="3931920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645920" y="2926080"/>
            <a:ext cx="8778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</a:rPr>
              <a:t>Потребители все же просматривают письма от банка, связанные с используемыми в данный момент продуктами или услугами Сбера - например, о приближающихся сроках оплаты кредита, или об изменениях условий обслуживания по счету, о начислении дивидендов и т.п.</a:t>
            </a:r>
            <a:endParaRPr lang="en-US" sz="2400" dirty="0"/>
          </a:p>
        </p:txBody>
      </p:sp>
      <p:sp>
        <p:nvSpPr>
          <p:cNvPr id="5" name="rule"/>
          <p:cNvSpPr/>
          <p:nvPr/>
        </p:nvSpPr>
        <p:spPr>
          <a:xfrm>
            <a:off x="11905488" y="3337560"/>
            <a:ext cx="0" cy="2788920"/>
          </a:xfrm>
          <a:prstGeom prst="line">
            <a:avLst/>
          </a:prstGeom>
          <a:noFill/>
          <a:ln w="25400">
            <a:solidFill>
              <a:srgbClr val="9ED8B0"/>
            </a:solidFill>
            <a:prstDash val="solid"/>
          </a:ln>
        </p:spPr>
      </p:sp>
      <p:sp>
        <p:nvSpPr>
          <p:cNvPr id="6" name="icon ring"/>
          <p:cNvSpPr/>
          <p:nvPr/>
        </p:nvSpPr>
        <p:spPr>
          <a:xfrm>
            <a:off x="11612880" y="2971800"/>
            <a:ext cx="585216" cy="585216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0888" y="3129808"/>
            <a:ext cx="269199" cy="269199"/>
          </a:xfrm>
          <a:prstGeom prst="rect">
            <a:avLst/>
          </a:prstGeom>
        </p:spPr>
      </p:pic>
      <p:sp>
        <p:nvSpPr>
          <p:cNvPr id="8" name="point"/>
          <p:cNvSpPr txBox="1"/>
          <p:nvPr/>
        </p:nvSpPr>
        <p:spPr>
          <a:xfrm>
            <a:off x="12527280" y="2971800"/>
            <a:ext cx="10851185" cy="1160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Среди общей массы рассылок обращают внимание на эти письма благодаря теме письма, в которой указан конкретный продукт и предмет письма (например, изменение условий по вкладам).</a:t>
            </a:r>
            <a:endParaRPr lang="en-US" sz="2200" dirty="0"/>
          </a:p>
        </p:txBody>
      </p:sp>
      <p:sp>
        <p:nvSpPr>
          <p:cNvPr id="9" name="icon ring"/>
          <p:cNvSpPr/>
          <p:nvPr/>
        </p:nvSpPr>
        <p:spPr>
          <a:xfrm>
            <a:off x="11612880" y="4512183"/>
            <a:ext cx="585216" cy="585216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0888" y="4670191"/>
            <a:ext cx="269199" cy="269199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12527280" y="4512183"/>
            <a:ext cx="108511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Также, как правило, информация дублируется в приложении, а в некоторых случаях предваряется SMS от банка.</a:t>
            </a:r>
            <a:endParaRPr lang="en-US" sz="2200" dirty="0"/>
          </a:p>
        </p:txBody>
      </p:sp>
      <p:sp>
        <p:nvSpPr>
          <p:cNvPr id="12" name="icon ring"/>
          <p:cNvSpPr/>
          <p:nvPr/>
        </p:nvSpPr>
        <p:spPr>
          <a:xfrm>
            <a:off x="11612880" y="5760720"/>
            <a:ext cx="585216" cy="585216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0888" y="5918728"/>
            <a:ext cx="269199" cy="269199"/>
          </a:xfrm>
          <a:prstGeom prst="rect">
            <a:avLst/>
          </a:prstGeom>
        </p:spPr>
      </p:pic>
      <p:sp>
        <p:nvSpPr>
          <p:cNvPr id="14" name="point"/>
          <p:cNvSpPr txBox="1"/>
          <p:nvPr/>
        </p:nvSpPr>
        <p:spPr>
          <a:xfrm>
            <a:off x="12527280" y="5760720"/>
            <a:ext cx="1085118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tx1"/>
                </a:solidFill>
              </a:rPr>
              <a:t>В противном случае письмо может остаться не замеченным среди других рассылок.</a:t>
            </a:r>
            <a:endParaRPr lang="en-US" sz="2200" dirty="0"/>
          </a:p>
        </p:txBody>
      </p:sp>
      <p:sp>
        <p:nvSpPr>
          <p:cNvPr id="15" name="quote bubble"/>
          <p:cNvSpPr/>
          <p:nvPr/>
        </p:nvSpPr>
        <p:spPr>
          <a:xfrm>
            <a:off x="1005840" y="7479792"/>
            <a:ext cx="7213702" cy="4946904"/>
          </a:xfrm>
          <a:prstGeom prst="roundRect">
            <a:avLst>
              <a:gd name="adj" fmla="val 6285"/>
            </a:avLst>
          </a:prstGeom>
          <a:solidFill>
            <a:srgbClr val="E3EEFB"/>
          </a:solidFill>
          <a:ln/>
        </p:spPr>
      </p:sp>
      <p:sp>
        <p:nvSpPr>
          <p:cNvPr id="16" name="quote tail"/>
          <p:cNvSpPr/>
          <p:nvPr/>
        </p:nvSpPr>
        <p:spPr>
          <a:xfrm flipV="1">
            <a:off x="1691640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17" name="quote mark"/>
          <p:cNvSpPr/>
          <p:nvPr/>
        </p:nvSpPr>
        <p:spPr>
          <a:xfrm>
            <a:off x="7305142" y="722376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446" y="7370064"/>
            <a:ext cx="219456" cy="219456"/>
          </a:xfrm>
          <a:prstGeom prst="rect">
            <a:avLst/>
          </a:prstGeom>
        </p:spPr>
      </p:pic>
      <p:sp>
        <p:nvSpPr>
          <p:cNvPr id="19" name="quote text"/>
          <p:cNvSpPr txBox="1"/>
          <p:nvPr/>
        </p:nvSpPr>
        <p:spPr>
          <a:xfrm>
            <a:off x="1417320" y="7845552"/>
            <a:ext cx="639074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500" i="1" dirty="0">
                <a:solidFill>
                  <a:schemeClr val="tx1"/>
                </a:solidFill>
              </a:rPr>
              <a:t>«Банк раньше высылал, когда подходил срок оплаты налога за автомобиль. Вот это я просматривала. Раз в год страховая присылает на почту, там они делают тебе ссылку, чтобы ты перешёл. Но, опять же, если бы не подтверждение SMS, я бы фиг туда, может, и зашла»</a:t>
            </a:r>
            <a:endParaRPr lang="en-US" sz="2500" dirty="0"/>
          </a:p>
        </p:txBody>
      </p:sp>
      <p:sp>
        <p:nvSpPr>
          <p:cNvPr id="20" name="avatar"/>
          <p:cNvSpPr/>
          <p:nvPr/>
        </p:nvSpPr>
        <p:spPr>
          <a:xfrm>
            <a:off x="2331720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2304" y="12609576"/>
            <a:ext cx="182880" cy="182880"/>
          </a:xfrm>
          <a:prstGeom prst="rect">
            <a:avLst/>
          </a:prstGeom>
        </p:spPr>
      </p:pic>
      <p:sp>
        <p:nvSpPr>
          <p:cNvPr id="22" name="attribution"/>
          <p:cNvSpPr txBox="1"/>
          <p:nvPr/>
        </p:nvSpPr>
        <p:spPr>
          <a:xfrm>
            <a:off x="2834640" y="12518136"/>
            <a:ext cx="5293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Москва)</a:t>
            </a:r>
            <a:endParaRPr lang="en-US" sz="1600" dirty="0"/>
          </a:p>
        </p:txBody>
      </p:sp>
      <p:sp>
        <p:nvSpPr>
          <p:cNvPr id="23" name="quote bubble"/>
          <p:cNvSpPr/>
          <p:nvPr/>
        </p:nvSpPr>
        <p:spPr>
          <a:xfrm>
            <a:off x="8585302" y="7479792"/>
            <a:ext cx="7213702" cy="4946904"/>
          </a:xfrm>
          <a:prstGeom prst="roundRect">
            <a:avLst>
              <a:gd name="adj" fmla="val 6285"/>
            </a:avLst>
          </a:prstGeom>
          <a:solidFill>
            <a:srgbClr val="E3EEFB"/>
          </a:solidFill>
          <a:ln/>
        </p:spPr>
      </p:sp>
      <p:sp>
        <p:nvSpPr>
          <p:cNvPr id="24" name="quote tail"/>
          <p:cNvSpPr/>
          <p:nvPr/>
        </p:nvSpPr>
        <p:spPr>
          <a:xfrm flipV="1">
            <a:off x="9271102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5" name="quote mark"/>
          <p:cNvSpPr/>
          <p:nvPr/>
        </p:nvSpPr>
        <p:spPr>
          <a:xfrm>
            <a:off x="14884603" y="722376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030907" y="7370064"/>
            <a:ext cx="219456" cy="219456"/>
          </a:xfrm>
          <a:prstGeom prst="rect">
            <a:avLst/>
          </a:prstGeom>
        </p:spPr>
      </p:pic>
      <p:sp>
        <p:nvSpPr>
          <p:cNvPr id="27" name="quote text"/>
          <p:cNvSpPr txBox="1"/>
          <p:nvPr/>
        </p:nvSpPr>
        <p:spPr>
          <a:xfrm>
            <a:off x="8996782" y="7845552"/>
            <a:ext cx="639074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500" i="1" dirty="0">
                <a:solidFill>
                  <a:schemeClr val="tx1"/>
                </a:solidFill>
              </a:rPr>
              <a:t>«У меня в Сбербанке открыты инвестиции, недавно вот пришло письмо, что мне выплатили дивиденды. Я портфель не проверяю каждый день, а тут после письма зашла, купила снова акции на эти. Всё, То есть портфель инвестиционный без меня сам работает, а я только письма читаю и вот захожу что-то продать, купить»</a:t>
            </a:r>
            <a:endParaRPr lang="en-US" sz="2500" dirty="0"/>
          </a:p>
        </p:txBody>
      </p:sp>
      <p:sp>
        <p:nvSpPr>
          <p:cNvPr id="28" name="avatar"/>
          <p:cNvSpPr/>
          <p:nvPr/>
        </p:nvSpPr>
        <p:spPr>
          <a:xfrm>
            <a:off x="9911182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1766" y="12609576"/>
            <a:ext cx="182880" cy="182880"/>
          </a:xfrm>
          <a:prstGeom prst="rect">
            <a:avLst/>
          </a:prstGeom>
        </p:spPr>
      </p:pic>
      <p:sp>
        <p:nvSpPr>
          <p:cNvPr id="30" name="attribution"/>
          <p:cNvSpPr txBox="1"/>
          <p:nvPr/>
        </p:nvSpPr>
        <p:spPr>
          <a:xfrm>
            <a:off x="10414102" y="12518136"/>
            <a:ext cx="5293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Москва)</a:t>
            </a:r>
            <a:endParaRPr lang="en-US" sz="1600" dirty="0"/>
          </a:p>
        </p:txBody>
      </p:sp>
      <p:sp>
        <p:nvSpPr>
          <p:cNvPr id="31" name="quote bubble"/>
          <p:cNvSpPr/>
          <p:nvPr/>
        </p:nvSpPr>
        <p:spPr>
          <a:xfrm>
            <a:off x="16164763" y="7479792"/>
            <a:ext cx="7213702" cy="4946904"/>
          </a:xfrm>
          <a:prstGeom prst="roundRect">
            <a:avLst>
              <a:gd name="adj" fmla="val 6285"/>
            </a:avLst>
          </a:prstGeom>
          <a:solidFill>
            <a:srgbClr val="E3EEFB"/>
          </a:solidFill>
          <a:ln/>
        </p:spPr>
      </p:sp>
      <p:sp>
        <p:nvSpPr>
          <p:cNvPr id="32" name="quote tail"/>
          <p:cNvSpPr/>
          <p:nvPr/>
        </p:nvSpPr>
        <p:spPr>
          <a:xfrm flipV="1">
            <a:off x="16850563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3" name="quote mark"/>
          <p:cNvSpPr/>
          <p:nvPr/>
        </p:nvSpPr>
        <p:spPr>
          <a:xfrm>
            <a:off x="22464065" y="722376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10369" y="7370064"/>
            <a:ext cx="219456" cy="219456"/>
          </a:xfrm>
          <a:prstGeom prst="rect">
            <a:avLst/>
          </a:prstGeom>
        </p:spPr>
      </p:pic>
      <p:sp>
        <p:nvSpPr>
          <p:cNvPr id="35" name="quote text"/>
          <p:cNvSpPr txBox="1"/>
          <p:nvPr/>
        </p:nvSpPr>
        <p:spPr>
          <a:xfrm>
            <a:off x="16576243" y="7845552"/>
            <a:ext cx="6390742" cy="435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500" i="1" dirty="0">
                <a:solidFill>
                  <a:schemeClr val="tx1"/>
                </a:solidFill>
              </a:rPr>
              <a:t>«Там должно быть что-то конкретное написано - изменились условия по вашим вкладам, или - наше приложение перестанет работать завтра, установите его. То есть это должно быть что-то важное и полезное»</a:t>
            </a:r>
            <a:endParaRPr lang="en-US" sz="2500" dirty="0"/>
          </a:p>
        </p:txBody>
      </p:sp>
      <p:sp>
        <p:nvSpPr>
          <p:cNvPr id="36" name="avatar"/>
          <p:cNvSpPr/>
          <p:nvPr/>
        </p:nvSpPr>
        <p:spPr>
          <a:xfrm>
            <a:off x="17490643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91227" y="12609576"/>
            <a:ext cx="182880" cy="182880"/>
          </a:xfrm>
          <a:prstGeom prst="rect">
            <a:avLst/>
          </a:prstGeom>
        </p:spPr>
      </p:pic>
      <p:sp>
        <p:nvSpPr>
          <p:cNvPr id="38" name="attribution"/>
          <p:cNvSpPr txBox="1"/>
          <p:nvPr/>
        </p:nvSpPr>
        <p:spPr>
          <a:xfrm>
            <a:off x="17993563" y="12518136"/>
            <a:ext cx="529346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(45-55, Москва)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Потенциально могут быть интересны письма, несущие другую полезную конкретную информацию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12252960" cy="2079879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645920" y="3017520"/>
            <a:ext cx="11155680" cy="2079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bg1"/>
                </a:solidFill>
              </a:rPr>
              <a:t>В меньшей степени ожидают получать от банка полезные материалы, не связанные напрямую с банковскими продуктами и услугами.</a:t>
            </a:r>
            <a:endParaRPr lang="en-US" sz="2300" dirty="0"/>
          </a:p>
        </p:txBody>
      </p:sp>
      <p:sp>
        <p:nvSpPr>
          <p:cNvPr id="5" name="text"/>
          <p:cNvSpPr txBox="1"/>
          <p:nvPr/>
        </p:nvSpPr>
        <p:spPr>
          <a:xfrm>
            <a:off x="1097280" y="5545582"/>
            <a:ext cx="12252960" cy="1155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Интерес к подобным материалам присутствует, в случае удачной подачи (понятной, интересной) может повысить интерес к каналу электронной почты и частоту пользования ею:</a:t>
            </a:r>
            <a:endParaRPr lang="en-US" sz="2100" dirty="0"/>
          </a:p>
        </p:txBody>
      </p:sp>
      <p:sp>
        <p:nvSpPr>
          <p:cNvPr id="6" name="cell"/>
          <p:cNvSpPr/>
          <p:nvPr/>
        </p:nvSpPr>
        <p:spPr>
          <a:xfrm>
            <a:off x="1097280" y="7515098"/>
            <a:ext cx="3901440" cy="3488817"/>
          </a:xfrm>
          <a:prstGeom prst="roundRect">
            <a:avLst>
              <a:gd name="adj" fmla="val 7863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7" name="icon ring"/>
          <p:cNvSpPr/>
          <p:nvPr/>
        </p:nvSpPr>
        <p:spPr>
          <a:xfrm>
            <a:off x="1463040" y="7195058"/>
            <a:ext cx="640080" cy="64008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862" y="7367880"/>
            <a:ext cx="294437" cy="294437"/>
          </a:xfrm>
          <a:prstGeom prst="rect">
            <a:avLst/>
          </a:prstGeom>
        </p:spPr>
      </p:pic>
      <p:sp>
        <p:nvSpPr>
          <p:cNvPr id="9" name="item"/>
          <p:cNvSpPr txBox="1"/>
          <p:nvPr/>
        </p:nvSpPr>
        <p:spPr>
          <a:xfrm>
            <a:off x="1508760" y="8063738"/>
            <a:ext cx="3078480" cy="266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Информирование об изменениях законодательства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-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и как они скажутся на конкретном потребителе</a:t>
            </a:r>
            <a:endParaRPr lang="en-US" sz="2100" dirty="0"/>
          </a:p>
        </p:txBody>
      </p:sp>
      <p:sp>
        <p:nvSpPr>
          <p:cNvPr id="10" name="cell"/>
          <p:cNvSpPr/>
          <p:nvPr/>
        </p:nvSpPr>
        <p:spPr>
          <a:xfrm>
            <a:off x="5273040" y="7515098"/>
            <a:ext cx="3901440" cy="3488817"/>
          </a:xfrm>
          <a:prstGeom prst="roundRect">
            <a:avLst>
              <a:gd name="adj" fmla="val 7863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1" name="icon ring"/>
          <p:cNvSpPr/>
          <p:nvPr/>
        </p:nvSpPr>
        <p:spPr>
          <a:xfrm>
            <a:off x="5638800" y="7195058"/>
            <a:ext cx="640080" cy="64008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622" y="7367880"/>
            <a:ext cx="294437" cy="294437"/>
          </a:xfrm>
          <a:prstGeom prst="rect">
            <a:avLst/>
          </a:prstGeom>
        </p:spPr>
      </p:pic>
      <p:sp>
        <p:nvSpPr>
          <p:cNvPr id="13" name="item"/>
          <p:cNvSpPr txBox="1"/>
          <p:nvPr/>
        </p:nvSpPr>
        <p:spPr>
          <a:xfrm>
            <a:off x="5684520" y="8063738"/>
            <a:ext cx="3078480" cy="266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Финансовые советы на основе потребительского поведения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(например, возврат налога за оплату обучения или лечения)</a:t>
            </a:r>
            <a:endParaRPr lang="en-US" sz="2100" dirty="0"/>
          </a:p>
        </p:txBody>
      </p:sp>
      <p:sp>
        <p:nvSpPr>
          <p:cNvPr id="14" name="cell"/>
          <p:cNvSpPr/>
          <p:nvPr/>
        </p:nvSpPr>
        <p:spPr>
          <a:xfrm>
            <a:off x="9448800" y="7515098"/>
            <a:ext cx="3901440" cy="3488817"/>
          </a:xfrm>
          <a:prstGeom prst="roundRect">
            <a:avLst>
              <a:gd name="adj" fmla="val 7863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5" name="icon ring"/>
          <p:cNvSpPr/>
          <p:nvPr/>
        </p:nvSpPr>
        <p:spPr>
          <a:xfrm>
            <a:off x="9814560" y="7195058"/>
            <a:ext cx="640080" cy="64008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7382" y="7367880"/>
            <a:ext cx="294437" cy="294437"/>
          </a:xfrm>
          <a:prstGeom prst="rect">
            <a:avLst/>
          </a:prstGeom>
        </p:spPr>
      </p:pic>
      <p:sp>
        <p:nvSpPr>
          <p:cNvPr id="17" name="item"/>
          <p:cNvSpPr txBox="1"/>
          <p:nvPr/>
        </p:nvSpPr>
        <p:spPr>
          <a:xfrm>
            <a:off x="9860280" y="8063738"/>
            <a:ext cx="3078480" cy="266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Образовательная информация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– связанная, например, с финансовой грамотностью или инвестированием</a:t>
            </a:r>
            <a:endParaRPr lang="en-US" sz="2100" dirty="0"/>
          </a:p>
        </p:txBody>
      </p:sp>
      <p:sp>
        <p:nvSpPr>
          <p:cNvPr id="18" name="secondary statement"/>
          <p:cNvSpPr/>
          <p:nvPr/>
        </p:nvSpPr>
        <p:spPr>
          <a:xfrm>
            <a:off x="1097280" y="11452098"/>
            <a:ext cx="12252960" cy="1395222"/>
          </a:xfrm>
          <a:prstGeom prst="roundRect">
            <a:avLst>
              <a:gd name="adj" fmla="val 32769"/>
            </a:avLst>
          </a:prstGeom>
          <a:solidFill>
            <a:srgbClr val="E3F3E7"/>
          </a:solidFill>
          <a:ln/>
        </p:spPr>
      </p:sp>
      <p:sp>
        <p:nvSpPr>
          <p:cNvPr id="19" name="secondary statement text"/>
          <p:cNvSpPr txBox="1"/>
          <p:nvPr/>
        </p:nvSpPr>
        <p:spPr>
          <a:xfrm>
            <a:off x="1691640" y="11452098"/>
            <a:ext cx="11064240" cy="1395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Узкоцелевые информационные письма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– например, информирование о необходимости </a:t>
            </a:r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обновить приложение - обычно также прочитываются.</a:t>
            </a:r>
            <a:endParaRPr lang="en-US" sz="2100" dirty="0"/>
          </a:p>
        </p:txBody>
      </p:sp>
      <p:sp>
        <p:nvSpPr>
          <p:cNvPr id="20" name="quote bubble"/>
          <p:cNvSpPr/>
          <p:nvPr/>
        </p:nvSpPr>
        <p:spPr>
          <a:xfrm>
            <a:off x="13898880" y="3090672"/>
            <a:ext cx="9479585" cy="1975951"/>
          </a:xfrm>
          <a:prstGeom prst="roundRect">
            <a:avLst>
              <a:gd name="adj" fmla="val 15734"/>
            </a:avLst>
          </a:prstGeom>
          <a:solidFill>
            <a:srgbClr val="E3EEFB"/>
          </a:solidFill>
          <a:ln/>
        </p:spPr>
      </p:sp>
      <p:sp>
        <p:nvSpPr>
          <p:cNvPr id="21" name="quote tail"/>
          <p:cNvSpPr/>
          <p:nvPr/>
        </p:nvSpPr>
        <p:spPr>
          <a:xfrm flipV="1">
            <a:off x="14584680" y="5039191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2" name="quote mark"/>
          <p:cNvSpPr/>
          <p:nvPr/>
        </p:nvSpPr>
        <p:spPr>
          <a:xfrm>
            <a:off x="22464065" y="283464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10369" y="2980944"/>
            <a:ext cx="219456" cy="219456"/>
          </a:xfrm>
          <a:prstGeom prst="rect">
            <a:avLst/>
          </a:prstGeom>
        </p:spPr>
      </p:pic>
      <p:sp>
        <p:nvSpPr>
          <p:cNvPr id="24" name="quote text"/>
          <p:cNvSpPr txBox="1"/>
          <p:nvPr/>
        </p:nvSpPr>
        <p:spPr>
          <a:xfrm>
            <a:off x="14310360" y="3456432"/>
            <a:ext cx="8656625" cy="1381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«Какие-то изменения касаемые налогов, финансов, что-то в законодательстве, условно, раз в месяц, именно рассылка такого маленького дайджеста. Что там изменится с первого числа»</a:t>
            </a:r>
            <a:endParaRPr lang="en-US" sz="2000" dirty="0"/>
          </a:p>
        </p:txBody>
      </p:sp>
      <p:sp>
        <p:nvSpPr>
          <p:cNvPr id="25" name="avatar"/>
          <p:cNvSpPr/>
          <p:nvPr/>
        </p:nvSpPr>
        <p:spPr>
          <a:xfrm>
            <a:off x="15224760" y="5158063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25344" y="5249503"/>
            <a:ext cx="182880" cy="182880"/>
          </a:xfrm>
          <a:prstGeom prst="rect">
            <a:avLst/>
          </a:prstGeom>
        </p:spPr>
      </p:pic>
      <p:sp>
        <p:nvSpPr>
          <p:cNvPr id="27" name="attribution"/>
          <p:cNvSpPr txBox="1"/>
          <p:nvPr/>
        </p:nvSpPr>
        <p:spPr>
          <a:xfrm>
            <a:off x="15727680" y="5158063"/>
            <a:ext cx="7559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45-55, Екатеринбург</a:t>
            </a:r>
            <a:endParaRPr lang="en-US" sz="1600" dirty="0"/>
          </a:p>
        </p:txBody>
      </p:sp>
      <p:sp>
        <p:nvSpPr>
          <p:cNvPr id="28" name="quote bubble"/>
          <p:cNvSpPr/>
          <p:nvPr/>
        </p:nvSpPr>
        <p:spPr>
          <a:xfrm>
            <a:off x="13898880" y="5926159"/>
            <a:ext cx="9479585" cy="3327231"/>
          </a:xfrm>
          <a:prstGeom prst="roundRect">
            <a:avLst>
              <a:gd name="adj" fmla="val 9344"/>
            </a:avLst>
          </a:prstGeom>
          <a:solidFill>
            <a:srgbClr val="E3EEFB"/>
          </a:solidFill>
          <a:ln/>
        </p:spPr>
      </p:sp>
      <p:sp>
        <p:nvSpPr>
          <p:cNvPr id="29" name="quote tail"/>
          <p:cNvSpPr/>
          <p:nvPr/>
        </p:nvSpPr>
        <p:spPr>
          <a:xfrm flipV="1">
            <a:off x="14584680" y="9225957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0" name="quote mark"/>
          <p:cNvSpPr/>
          <p:nvPr/>
        </p:nvSpPr>
        <p:spPr>
          <a:xfrm>
            <a:off x="22464065" y="5670127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10369" y="5816431"/>
            <a:ext cx="219456" cy="219456"/>
          </a:xfrm>
          <a:prstGeom prst="rect">
            <a:avLst/>
          </a:prstGeom>
        </p:spPr>
      </p:pic>
      <p:sp>
        <p:nvSpPr>
          <p:cNvPr id="32" name="quote text"/>
          <p:cNvSpPr txBox="1"/>
          <p:nvPr/>
        </p:nvSpPr>
        <p:spPr>
          <a:xfrm>
            <a:off x="14310360" y="6291919"/>
            <a:ext cx="8656625" cy="273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«Что-то про финансовую грамотность. Какие-то короткие, понятные видеоролики, я бы заинтересовалась. Если бы я интересовалась инвестициями, то про инвестиции я бы тоже посмотрела. Если бы банк мог отследить и сделать видео, допустим, про то, как там за автошколу можно вернуть налоговый вычет или за какие-то покупки, я не знаю, какой там перечень, за что можно сделать налоговый вычет, то я бы заинтересовалась»</a:t>
            </a:r>
            <a:endParaRPr lang="en-US" sz="2000" dirty="0"/>
          </a:p>
        </p:txBody>
      </p:sp>
      <p:sp>
        <p:nvSpPr>
          <p:cNvPr id="33" name="avatar"/>
          <p:cNvSpPr/>
          <p:nvPr/>
        </p:nvSpPr>
        <p:spPr>
          <a:xfrm>
            <a:off x="15224760" y="9344829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25344" y="9436269"/>
            <a:ext cx="182880" cy="182880"/>
          </a:xfrm>
          <a:prstGeom prst="rect">
            <a:avLst/>
          </a:prstGeom>
        </p:spPr>
      </p:pic>
      <p:sp>
        <p:nvSpPr>
          <p:cNvPr id="35" name="attribution"/>
          <p:cNvSpPr txBox="1"/>
          <p:nvPr/>
        </p:nvSpPr>
        <p:spPr>
          <a:xfrm>
            <a:off x="15727680" y="9344829"/>
            <a:ext cx="7559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20-29, Москва</a:t>
            </a:r>
            <a:endParaRPr lang="en-US" sz="1600" dirty="0"/>
          </a:p>
        </p:txBody>
      </p:sp>
      <p:sp>
        <p:nvSpPr>
          <p:cNvPr id="36" name="quote bubble"/>
          <p:cNvSpPr/>
          <p:nvPr/>
        </p:nvSpPr>
        <p:spPr>
          <a:xfrm>
            <a:off x="13898880" y="10112925"/>
            <a:ext cx="9479585" cy="2313771"/>
          </a:xfrm>
          <a:prstGeom prst="roundRect">
            <a:avLst>
              <a:gd name="adj" fmla="val 13437"/>
            </a:avLst>
          </a:prstGeom>
          <a:solidFill>
            <a:srgbClr val="E3EEFB"/>
          </a:solidFill>
          <a:ln/>
        </p:spPr>
      </p:sp>
      <p:sp>
        <p:nvSpPr>
          <p:cNvPr id="37" name="quote tail"/>
          <p:cNvSpPr/>
          <p:nvPr/>
        </p:nvSpPr>
        <p:spPr>
          <a:xfrm flipV="1">
            <a:off x="14584680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8" name="quote mark"/>
          <p:cNvSpPr/>
          <p:nvPr/>
        </p:nvSpPr>
        <p:spPr>
          <a:xfrm>
            <a:off x="22464065" y="9856893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10369" y="10003197"/>
            <a:ext cx="219456" cy="219456"/>
          </a:xfrm>
          <a:prstGeom prst="rect">
            <a:avLst/>
          </a:prstGeom>
        </p:spPr>
      </p:pic>
      <p:sp>
        <p:nvSpPr>
          <p:cNvPr id="40" name="quote text"/>
          <p:cNvSpPr txBox="1"/>
          <p:nvPr/>
        </p:nvSpPr>
        <p:spPr>
          <a:xfrm>
            <a:off x="14310360" y="10478685"/>
            <a:ext cx="8656625" cy="1719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«Я не припомню письма от банка, которое несет в себе какую-то пользу. за исключением сберовских или тиньковских рассылок о том, что нужно успеть залить новое приложение. Но они это делают и через СМС, и через пуши в своем приложении, и через электронную почту, всеми возможными каналами»</a:t>
            </a:r>
            <a:endParaRPr lang="en-US" sz="2000" dirty="0"/>
          </a:p>
        </p:txBody>
      </p:sp>
      <p:sp>
        <p:nvSpPr>
          <p:cNvPr id="41" name="avatar"/>
          <p:cNvSpPr/>
          <p:nvPr/>
        </p:nvSpPr>
        <p:spPr>
          <a:xfrm>
            <a:off x="15224760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25344" y="12609576"/>
            <a:ext cx="182880" cy="182880"/>
          </a:xfrm>
          <a:prstGeom prst="rect">
            <a:avLst/>
          </a:prstGeom>
        </p:spPr>
      </p:pic>
      <p:sp>
        <p:nvSpPr>
          <p:cNvPr id="43" name="attribution"/>
          <p:cNvSpPr txBox="1"/>
          <p:nvPr/>
        </p:nvSpPr>
        <p:spPr>
          <a:xfrm>
            <a:off x="15727680" y="12518136"/>
            <a:ext cx="75593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30-44, Екатеринбург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Тестирование гипотез: что могло бы быть интересно получать от Сбера 1/2</a:t>
            </a:r>
            <a:endParaRPr lang="en-US" sz="4000" dirty="0"/>
          </a:p>
        </p:txBody>
      </p:sp>
      <p:sp>
        <p:nvSpPr>
          <p:cNvPr id="3" name="cell"/>
          <p:cNvSpPr/>
          <p:nvPr/>
        </p:nvSpPr>
        <p:spPr>
          <a:xfrm>
            <a:off x="1097280" y="3383280"/>
            <a:ext cx="5669280" cy="4198239"/>
          </a:xfrm>
          <a:prstGeom prst="roundRect">
            <a:avLst>
              <a:gd name="adj" fmla="val 653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4" name="icon ring"/>
          <p:cNvSpPr/>
          <p:nvPr/>
        </p:nvSpPr>
        <p:spPr>
          <a:xfrm>
            <a:off x="1463040" y="3063240"/>
            <a:ext cx="640080" cy="640080"/>
          </a:xfrm>
          <a:prstGeom prst="ellipse">
            <a:avLst/>
          </a:prstGeom>
          <a:solidFill>
            <a:srgbClr val="1164C0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862" y="3236062"/>
            <a:ext cx="294437" cy="294437"/>
          </a:xfrm>
          <a:prstGeom prst="rect">
            <a:avLst/>
          </a:prstGeom>
        </p:spPr>
      </p:pic>
      <p:sp>
        <p:nvSpPr>
          <p:cNvPr id="6" name="item"/>
          <p:cNvSpPr txBox="1"/>
          <p:nvPr/>
        </p:nvSpPr>
        <p:spPr>
          <a:xfrm>
            <a:off x="1508760" y="3931920"/>
            <a:ext cx="4846320" cy="337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Персональная финансовая подборка –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не вполне понятно, что это. Несмотря на слово «персональная» звучит расплывчато и не очень интересно.</a:t>
            </a:r>
            <a:endParaRPr lang="en-US" sz="2100" dirty="0"/>
          </a:p>
        </p:txBody>
      </p:sp>
      <p:sp>
        <p:nvSpPr>
          <p:cNvPr id="7" name="cell"/>
          <p:cNvSpPr/>
          <p:nvPr/>
        </p:nvSpPr>
        <p:spPr>
          <a:xfrm>
            <a:off x="7040880" y="3383280"/>
            <a:ext cx="5669280" cy="4198239"/>
          </a:xfrm>
          <a:prstGeom prst="roundRect">
            <a:avLst>
              <a:gd name="adj" fmla="val 653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8" name="icon ring"/>
          <p:cNvSpPr/>
          <p:nvPr/>
        </p:nvSpPr>
        <p:spPr>
          <a:xfrm>
            <a:off x="7406640" y="3063240"/>
            <a:ext cx="640080" cy="640080"/>
          </a:xfrm>
          <a:prstGeom prst="ellipse">
            <a:avLst/>
          </a:prstGeom>
          <a:solidFill>
            <a:srgbClr val="1164C0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462" y="3236062"/>
            <a:ext cx="294437" cy="294437"/>
          </a:xfrm>
          <a:prstGeom prst="rect">
            <a:avLst/>
          </a:prstGeom>
        </p:spPr>
      </p:pic>
      <p:sp>
        <p:nvSpPr>
          <p:cNvPr id="10" name="item"/>
          <p:cNvSpPr txBox="1"/>
          <p:nvPr/>
        </p:nvSpPr>
        <p:spPr>
          <a:xfrm>
            <a:off x="7452360" y="3931920"/>
            <a:ext cx="4846320" cy="3375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Аналитика расходов – </a:t>
            </a:r>
            <a:pPr indent="0" marL="0">
              <a:lnSpc>
                <a:spcPct val="110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вызывает недоумение, т.к. подобная функция уже есть в МП банка. Кроме того, информация ожидается не полная, поскольку анализ делается на основе расходов по Сберу, а большинство потребителей пользуются не только этим банком</a:t>
            </a:r>
            <a:endParaRPr lang="en-US" sz="2100" dirty="0"/>
          </a:p>
        </p:txBody>
      </p:sp>
      <p:sp>
        <p:nvSpPr>
          <p:cNvPr id="11" name="secondary statement"/>
          <p:cNvSpPr/>
          <p:nvPr/>
        </p:nvSpPr>
        <p:spPr>
          <a:xfrm>
            <a:off x="1097280" y="8239125"/>
            <a:ext cx="11612880" cy="2459355"/>
          </a:xfrm>
          <a:prstGeom prst="roundRect">
            <a:avLst>
              <a:gd name="adj" fmla="val 18590"/>
            </a:avLst>
          </a:prstGeom>
          <a:solidFill>
            <a:srgbClr val="E3F3E7"/>
          </a:solidFill>
          <a:ln/>
        </p:spPr>
      </p:sp>
      <p:sp>
        <p:nvSpPr>
          <p:cNvPr id="12" name="secondary statement text"/>
          <p:cNvSpPr txBox="1"/>
          <p:nvPr/>
        </p:nvSpPr>
        <p:spPr>
          <a:xfrm>
            <a:off x="1691640" y="8239125"/>
            <a:ext cx="10424160" cy="2459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accent3"/>
                </a:solidFill>
              </a:rPr>
              <a:t>В качестве альтернативы предлагают идеи персональной финансовой аналитики – то есть советов и рекомендаций на основе совершенных трат, с элементами финансовой грамотности. Не просто анализ трат, а разъяснение, как распоряжаться средствами лучше, что именно делать.</a:t>
            </a:r>
            <a:endParaRPr lang="en-US" sz="2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1109960"/>
            <a:ext cx="11612880" cy="1828800"/>
          </a:xfrm>
          <a:prstGeom prst="rect">
            <a:avLst/>
          </a:prstGeom>
        </p:spPr>
      </p:pic>
      <p:sp>
        <p:nvSpPr>
          <p:cNvPr id="14" name="cashback note"/>
          <p:cNvSpPr txBox="1"/>
          <p:nvPr/>
        </p:nvSpPr>
        <p:spPr>
          <a:xfrm>
            <a:off x="1737360" y="1110996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5"/>
                </a:solidFill>
              </a:rPr>
              <a:t>Повышенный кэшбек – </a:t>
            </a:r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chemeClr val="bg1"/>
                </a:solidFill>
              </a:rPr>
              <a:t>интересно, оптимально было бы предоставить потребителям выбирать категории самим.</a:t>
            </a:r>
            <a:endParaRPr lang="en-US" sz="2300" dirty="0"/>
          </a:p>
        </p:txBody>
      </p:sp>
      <p:sp>
        <p:nvSpPr>
          <p:cNvPr id="15" name="quote bubble"/>
          <p:cNvSpPr/>
          <p:nvPr/>
        </p:nvSpPr>
        <p:spPr>
          <a:xfrm>
            <a:off x="13258800" y="3090672"/>
            <a:ext cx="10119665" cy="3034453"/>
          </a:xfrm>
          <a:prstGeom prst="roundRect">
            <a:avLst>
              <a:gd name="adj" fmla="val 10246"/>
            </a:avLst>
          </a:prstGeom>
          <a:solidFill>
            <a:srgbClr val="E3EEFB"/>
          </a:solidFill>
          <a:ln/>
        </p:spPr>
      </p:sp>
      <p:sp>
        <p:nvSpPr>
          <p:cNvPr id="16" name="quote tail"/>
          <p:cNvSpPr/>
          <p:nvPr/>
        </p:nvSpPr>
        <p:spPr>
          <a:xfrm flipV="1">
            <a:off x="13944600" y="6097693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17" name="quote mark"/>
          <p:cNvSpPr/>
          <p:nvPr/>
        </p:nvSpPr>
        <p:spPr>
          <a:xfrm>
            <a:off x="22464065" y="283464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0369" y="2980944"/>
            <a:ext cx="219456" cy="219456"/>
          </a:xfrm>
          <a:prstGeom prst="rect">
            <a:avLst/>
          </a:prstGeom>
        </p:spPr>
      </p:pic>
      <p:sp>
        <p:nvSpPr>
          <p:cNvPr id="19" name="quote text"/>
          <p:cNvSpPr txBox="1"/>
          <p:nvPr/>
        </p:nvSpPr>
        <p:spPr>
          <a:xfrm>
            <a:off x="13670280" y="3456432"/>
            <a:ext cx="9296705" cy="2440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«Я не очень финансово грамотная, деньги трачу шаляй-валяй. И если мне банк проанализирует, что я заходила, я там что-то как-то тратила, при этом он мне пропишет, что вот, там, не знаю, вы недавно так совершали, ну, а почему нет? Если банк за меня подумает и мне какие-то вот, не знаю, фишки накидает, то будет очень здорово»</a:t>
            </a:r>
            <a:endParaRPr lang="en-US" sz="2200" dirty="0"/>
          </a:p>
        </p:txBody>
      </p:sp>
      <p:sp>
        <p:nvSpPr>
          <p:cNvPr id="20" name="avatar"/>
          <p:cNvSpPr/>
          <p:nvPr/>
        </p:nvSpPr>
        <p:spPr>
          <a:xfrm>
            <a:off x="14584680" y="6216565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5264" y="6308005"/>
            <a:ext cx="182880" cy="182880"/>
          </a:xfrm>
          <a:prstGeom prst="rect">
            <a:avLst/>
          </a:prstGeom>
        </p:spPr>
      </p:pic>
      <p:sp>
        <p:nvSpPr>
          <p:cNvPr id="22" name="attribution"/>
          <p:cNvSpPr txBox="1"/>
          <p:nvPr/>
        </p:nvSpPr>
        <p:spPr>
          <a:xfrm>
            <a:off x="15087600" y="6216565"/>
            <a:ext cx="81994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Екат)</a:t>
            </a:r>
            <a:endParaRPr lang="en-US" sz="1600" dirty="0"/>
          </a:p>
        </p:txBody>
      </p:sp>
      <p:sp>
        <p:nvSpPr>
          <p:cNvPr id="23" name="quote bubble"/>
          <p:cNvSpPr/>
          <p:nvPr/>
        </p:nvSpPr>
        <p:spPr>
          <a:xfrm>
            <a:off x="13258800" y="6984661"/>
            <a:ext cx="10119665" cy="2662851"/>
          </a:xfrm>
          <a:prstGeom prst="roundRect">
            <a:avLst>
              <a:gd name="adj" fmla="val 11675"/>
            </a:avLst>
          </a:prstGeom>
          <a:solidFill>
            <a:srgbClr val="E3EEFB"/>
          </a:solidFill>
          <a:ln/>
        </p:spPr>
      </p:sp>
      <p:sp>
        <p:nvSpPr>
          <p:cNvPr id="24" name="quote tail"/>
          <p:cNvSpPr/>
          <p:nvPr/>
        </p:nvSpPr>
        <p:spPr>
          <a:xfrm flipV="1">
            <a:off x="13944600" y="9620081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5" name="quote mark"/>
          <p:cNvSpPr/>
          <p:nvPr/>
        </p:nvSpPr>
        <p:spPr>
          <a:xfrm>
            <a:off x="22464065" y="6728629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10369" y="6874933"/>
            <a:ext cx="219456" cy="219456"/>
          </a:xfrm>
          <a:prstGeom prst="rect">
            <a:avLst/>
          </a:prstGeom>
        </p:spPr>
      </p:pic>
      <p:sp>
        <p:nvSpPr>
          <p:cNvPr id="27" name="quote text"/>
          <p:cNvSpPr txBox="1"/>
          <p:nvPr/>
        </p:nvSpPr>
        <p:spPr>
          <a:xfrm>
            <a:off x="13670280" y="7350421"/>
            <a:ext cx="9296705" cy="206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«Смените категорию кэшбэков, поменяйте что-нибудь в инвестициях. Есть новое предложение по вкладу по-вашему, да, что если там то-то, то-то вот так-то чуть-чуть поддобавить, то будет лучше. А то пока у них персональные индивидуальные предложения – это какая-то фигня»</a:t>
            </a:r>
            <a:endParaRPr lang="en-US" sz="2200" dirty="0"/>
          </a:p>
        </p:txBody>
      </p:sp>
      <p:sp>
        <p:nvSpPr>
          <p:cNvPr id="28" name="avatar"/>
          <p:cNvSpPr/>
          <p:nvPr/>
        </p:nvSpPr>
        <p:spPr>
          <a:xfrm>
            <a:off x="14584680" y="9738953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85264" y="9830393"/>
            <a:ext cx="182880" cy="182880"/>
          </a:xfrm>
          <a:prstGeom prst="rect">
            <a:avLst/>
          </a:prstGeom>
        </p:spPr>
      </p:pic>
      <p:sp>
        <p:nvSpPr>
          <p:cNvPr id="30" name="attribution"/>
          <p:cNvSpPr txBox="1"/>
          <p:nvPr/>
        </p:nvSpPr>
        <p:spPr>
          <a:xfrm>
            <a:off x="15087600" y="9738953"/>
            <a:ext cx="81994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Екат)</a:t>
            </a:r>
            <a:endParaRPr lang="en-US" sz="1600" dirty="0"/>
          </a:p>
        </p:txBody>
      </p:sp>
      <p:sp>
        <p:nvSpPr>
          <p:cNvPr id="31" name="quote bubble"/>
          <p:cNvSpPr/>
          <p:nvPr/>
        </p:nvSpPr>
        <p:spPr>
          <a:xfrm>
            <a:off x="13258800" y="10507049"/>
            <a:ext cx="10119665" cy="1919647"/>
          </a:xfrm>
          <a:prstGeom prst="roundRect">
            <a:avLst>
              <a:gd name="adj" fmla="val 16195"/>
            </a:avLst>
          </a:prstGeom>
          <a:solidFill>
            <a:srgbClr val="E3EEFB"/>
          </a:solidFill>
          <a:ln/>
        </p:spPr>
      </p:sp>
      <p:sp>
        <p:nvSpPr>
          <p:cNvPr id="32" name="quote tail"/>
          <p:cNvSpPr/>
          <p:nvPr/>
        </p:nvSpPr>
        <p:spPr>
          <a:xfrm flipV="1">
            <a:off x="13944600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3" name="quote mark"/>
          <p:cNvSpPr/>
          <p:nvPr/>
        </p:nvSpPr>
        <p:spPr>
          <a:xfrm>
            <a:off x="22464065" y="10251017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10369" y="10397321"/>
            <a:ext cx="219456" cy="219456"/>
          </a:xfrm>
          <a:prstGeom prst="rect">
            <a:avLst/>
          </a:prstGeom>
        </p:spPr>
      </p:pic>
      <p:sp>
        <p:nvSpPr>
          <p:cNvPr id="35" name="quote text"/>
          <p:cNvSpPr txBox="1"/>
          <p:nvPr/>
        </p:nvSpPr>
        <p:spPr>
          <a:xfrm>
            <a:off x="13670280" y="10872809"/>
            <a:ext cx="9296705" cy="1325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</a:rPr>
              <a:t>«Не информационный контекст, а побудительный. Мне нужно что-то сделать. Например, выбрать те категории кэшбека, что мне интересны»</a:t>
            </a:r>
            <a:endParaRPr lang="en-US" sz="2200" dirty="0"/>
          </a:p>
        </p:txBody>
      </p:sp>
      <p:sp>
        <p:nvSpPr>
          <p:cNvPr id="36" name="avatar"/>
          <p:cNvSpPr/>
          <p:nvPr/>
        </p:nvSpPr>
        <p:spPr>
          <a:xfrm>
            <a:off x="14584680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85264" y="12609576"/>
            <a:ext cx="182880" cy="182880"/>
          </a:xfrm>
          <a:prstGeom prst="rect">
            <a:avLst/>
          </a:prstGeom>
        </p:spPr>
      </p:pic>
      <p:sp>
        <p:nvSpPr>
          <p:cNvPr id="38" name="attribution"/>
          <p:cNvSpPr txBox="1"/>
          <p:nvPr/>
        </p:nvSpPr>
        <p:spPr>
          <a:xfrm>
            <a:off x="15087600" y="12518136"/>
            <a:ext cx="81994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Москва)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Тестирование гипотез: что могло бы быть интересно получать от Сбера 2/3</a:t>
            </a:r>
            <a:endParaRPr lang="en-US" sz="4000" dirty="0"/>
          </a:p>
        </p:txBody>
      </p:sp>
      <p:sp>
        <p:nvSpPr>
          <p:cNvPr id="3" name="icon ring"/>
          <p:cNvSpPr/>
          <p:nvPr/>
        </p:nvSpPr>
        <p:spPr>
          <a:xfrm>
            <a:off x="1097280" y="3054096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288" y="3212104"/>
            <a:ext cx="269199" cy="269199"/>
          </a:xfrm>
          <a:prstGeom prst="rect">
            <a:avLst/>
          </a:prstGeom>
        </p:spPr>
      </p:pic>
      <p:sp>
        <p:nvSpPr>
          <p:cNvPr id="5" name="point"/>
          <p:cNvSpPr txBox="1"/>
          <p:nvPr/>
        </p:nvSpPr>
        <p:spPr>
          <a:xfrm>
            <a:off x="2048256" y="3017520"/>
            <a:ext cx="9838944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Сервисная выписка – 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не вполне понятно, что это. Предполагают, что точно можно получить через приложение</a:t>
            </a:r>
            <a:endParaRPr lang="en-US" sz="2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687824"/>
            <a:ext cx="10789920" cy="1792732"/>
          </a:xfrm>
          <a:prstGeom prst="rect">
            <a:avLst/>
          </a:prstGeom>
        </p:spPr>
      </p:pic>
      <p:sp>
        <p:nvSpPr>
          <p:cNvPr id="7" name="key statement"/>
          <p:cNvSpPr txBox="1"/>
          <p:nvPr/>
        </p:nvSpPr>
        <p:spPr>
          <a:xfrm>
            <a:off x="1645920" y="4687824"/>
            <a:ext cx="9692640" cy="1792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600" b="1" dirty="0">
                <a:solidFill>
                  <a:schemeClr val="bg1"/>
                </a:solidFill>
              </a:rPr>
              <a:t>Альтернативные варианты содержимого рассылок, предложенные потребителями:</a:t>
            </a:r>
            <a:endParaRPr lang="en-US" sz="2600" dirty="0"/>
          </a:p>
        </p:txBody>
      </p:sp>
      <p:sp>
        <p:nvSpPr>
          <p:cNvPr id="8" name="cell"/>
          <p:cNvSpPr/>
          <p:nvPr/>
        </p:nvSpPr>
        <p:spPr>
          <a:xfrm>
            <a:off x="1097280" y="7248652"/>
            <a:ext cx="10789920" cy="2124456"/>
          </a:xfrm>
          <a:prstGeom prst="roundRect">
            <a:avLst>
              <a:gd name="adj" fmla="val 12912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9" name="icon ring"/>
          <p:cNvSpPr/>
          <p:nvPr/>
        </p:nvSpPr>
        <p:spPr>
          <a:xfrm>
            <a:off x="1417320" y="801827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328" y="8176280"/>
            <a:ext cx="269199" cy="269199"/>
          </a:xfrm>
          <a:prstGeom prst="rect">
            <a:avLst/>
          </a:prstGeom>
        </p:spPr>
      </p:pic>
      <p:sp>
        <p:nvSpPr>
          <p:cNvPr id="11" name="item"/>
          <p:cNvSpPr txBox="1"/>
          <p:nvPr/>
        </p:nvSpPr>
        <p:spPr>
          <a:xfrm>
            <a:off x="2322576" y="7248652"/>
            <a:ext cx="9290304" cy="212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Таргетированные предложения 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с учетом потребительского поведения и интереса, проявленного к тем или иным продуктам, сервисам, информации</a:t>
            </a:r>
            <a:endParaRPr lang="en-US" sz="2400" dirty="0"/>
          </a:p>
        </p:txBody>
      </p:sp>
      <p:sp>
        <p:nvSpPr>
          <p:cNvPr id="12" name="cell"/>
          <p:cNvSpPr/>
          <p:nvPr/>
        </p:nvSpPr>
        <p:spPr>
          <a:xfrm>
            <a:off x="1097280" y="9647428"/>
            <a:ext cx="10789920" cy="2124456"/>
          </a:xfrm>
          <a:prstGeom prst="roundRect">
            <a:avLst>
              <a:gd name="adj" fmla="val 12912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3" name="icon ring"/>
          <p:cNvSpPr/>
          <p:nvPr/>
        </p:nvSpPr>
        <p:spPr>
          <a:xfrm>
            <a:off x="1417320" y="10417048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328" y="10575056"/>
            <a:ext cx="269199" cy="269199"/>
          </a:xfrm>
          <a:prstGeom prst="rect">
            <a:avLst/>
          </a:prstGeom>
        </p:spPr>
      </p:pic>
      <p:sp>
        <p:nvSpPr>
          <p:cNvPr id="15" name="item"/>
          <p:cNvSpPr txBox="1"/>
          <p:nvPr/>
        </p:nvSpPr>
        <p:spPr>
          <a:xfrm>
            <a:off x="2322576" y="9647428"/>
            <a:ext cx="9290304" cy="2124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3"/>
                </a:solidFill>
              </a:rPr>
              <a:t>Ежемесячный апдейт состояния вклада с онлайн-калькулятором 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chemeClr val="tx1"/>
                </a:solidFill>
              </a:rPr>
              <a:t>(чтобы можно было посчитать итоговую сумму в зависимости от срока и выбрать подходящие для себя условия)</a:t>
            </a:r>
            <a:endParaRPr lang="en-US" sz="2400" dirty="0"/>
          </a:p>
        </p:txBody>
      </p:sp>
      <p:sp>
        <p:nvSpPr>
          <p:cNvPr id="16" name="quote bubble"/>
          <p:cNvSpPr/>
          <p:nvPr/>
        </p:nvSpPr>
        <p:spPr>
          <a:xfrm>
            <a:off x="12435840" y="3090672"/>
            <a:ext cx="10942625" cy="2876804"/>
          </a:xfrm>
          <a:prstGeom prst="roundRect">
            <a:avLst>
              <a:gd name="adj" fmla="val 10807"/>
            </a:avLst>
          </a:prstGeom>
          <a:solidFill>
            <a:srgbClr val="E3EEFB"/>
          </a:solidFill>
          <a:ln/>
        </p:spPr>
      </p:sp>
      <p:sp>
        <p:nvSpPr>
          <p:cNvPr id="17" name="quote tail"/>
          <p:cNvSpPr/>
          <p:nvPr/>
        </p:nvSpPr>
        <p:spPr>
          <a:xfrm flipV="1">
            <a:off x="13121640" y="594004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18" name="quote mark"/>
          <p:cNvSpPr/>
          <p:nvPr/>
        </p:nvSpPr>
        <p:spPr>
          <a:xfrm>
            <a:off x="22464065" y="283464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10369" y="2980944"/>
            <a:ext cx="219456" cy="219456"/>
          </a:xfrm>
          <a:prstGeom prst="rect">
            <a:avLst/>
          </a:prstGeom>
        </p:spPr>
      </p:pic>
      <p:sp>
        <p:nvSpPr>
          <p:cNvPr id="20" name="quote text"/>
          <p:cNvSpPr txBox="1"/>
          <p:nvPr/>
        </p:nvSpPr>
        <p:spPr>
          <a:xfrm>
            <a:off x="12847320" y="3456432"/>
            <a:ext cx="10119665" cy="228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«У них же есть целая аналитика внутри, по тому, как мы тратим. Он меня изучил, и мне интересно, что для меня подобрал. Я хочу, чтобы они мне помогали оптимизировать мои траты. Вот Альфа-Банк сразу запрашивает, а как вам кэшбэки того месяца? И я им пишу, на одежду и на продукты, пожалуйста, добавьте. То есть они такие, да-да-да, учтем, учтем. То есть они аналитику сразу собирают»</a:t>
            </a:r>
            <a:endParaRPr lang="en-US" sz="2000" dirty="0"/>
          </a:p>
        </p:txBody>
      </p:sp>
      <p:sp>
        <p:nvSpPr>
          <p:cNvPr id="21" name="avatar"/>
          <p:cNvSpPr/>
          <p:nvPr/>
        </p:nvSpPr>
        <p:spPr>
          <a:xfrm>
            <a:off x="13761720" y="605891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62304" y="6150356"/>
            <a:ext cx="182880" cy="182880"/>
          </a:xfrm>
          <a:prstGeom prst="rect">
            <a:avLst/>
          </a:prstGeom>
        </p:spPr>
      </p:pic>
      <p:sp>
        <p:nvSpPr>
          <p:cNvPr id="23" name="attribution"/>
          <p:cNvSpPr txBox="1"/>
          <p:nvPr/>
        </p:nvSpPr>
        <p:spPr>
          <a:xfrm>
            <a:off x="14264640" y="6058916"/>
            <a:ext cx="90223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Москва)</a:t>
            </a:r>
            <a:endParaRPr lang="en-US" sz="1600" dirty="0"/>
          </a:p>
        </p:txBody>
      </p:sp>
      <p:sp>
        <p:nvSpPr>
          <p:cNvPr id="24" name="quote bubble"/>
          <p:cNvSpPr/>
          <p:nvPr/>
        </p:nvSpPr>
        <p:spPr>
          <a:xfrm>
            <a:off x="12435840" y="6827012"/>
            <a:ext cx="10942625" cy="2538984"/>
          </a:xfrm>
          <a:prstGeom prst="roundRect">
            <a:avLst>
              <a:gd name="adj" fmla="val 12245"/>
            </a:avLst>
          </a:prstGeom>
          <a:solidFill>
            <a:srgbClr val="E3EEFB"/>
          </a:solidFill>
          <a:ln/>
        </p:spPr>
      </p:sp>
      <p:sp>
        <p:nvSpPr>
          <p:cNvPr id="25" name="quote tail"/>
          <p:cNvSpPr/>
          <p:nvPr/>
        </p:nvSpPr>
        <p:spPr>
          <a:xfrm flipV="1">
            <a:off x="13121640" y="93385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6" name="quote mark"/>
          <p:cNvSpPr/>
          <p:nvPr/>
        </p:nvSpPr>
        <p:spPr>
          <a:xfrm>
            <a:off x="22464065" y="657098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10369" y="6717284"/>
            <a:ext cx="219456" cy="219456"/>
          </a:xfrm>
          <a:prstGeom prst="rect">
            <a:avLst/>
          </a:prstGeom>
        </p:spPr>
      </p:pic>
      <p:sp>
        <p:nvSpPr>
          <p:cNvPr id="28" name="quote text"/>
          <p:cNvSpPr txBox="1"/>
          <p:nvPr/>
        </p:nvSpPr>
        <p:spPr>
          <a:xfrm>
            <a:off x="12847320" y="7192772"/>
            <a:ext cx="10119665" cy="1944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«По тиктоку, например, то, что ты сам отмечаешь, тебе и подкидывается все время. Вот что-то наподобие чтобы можно было настроить в банке, в приложении, чтобы мне отправлялись конкретные эти вещи. Тогда я точно буду заходить, И если это еще будет дублироваться СМСкой, допустим, или Push-уведомлением, что вот зайдите в почту, вообще прекрасно»</a:t>
            </a:r>
            <a:endParaRPr lang="en-US" sz="2000" dirty="0"/>
          </a:p>
        </p:txBody>
      </p:sp>
      <p:sp>
        <p:nvSpPr>
          <p:cNvPr id="29" name="avatar"/>
          <p:cNvSpPr/>
          <p:nvPr/>
        </p:nvSpPr>
        <p:spPr>
          <a:xfrm>
            <a:off x="13761720" y="94574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62304" y="9548876"/>
            <a:ext cx="182880" cy="182880"/>
          </a:xfrm>
          <a:prstGeom prst="rect">
            <a:avLst/>
          </a:prstGeom>
        </p:spPr>
      </p:pic>
      <p:sp>
        <p:nvSpPr>
          <p:cNvPr id="31" name="attribution"/>
          <p:cNvSpPr txBox="1"/>
          <p:nvPr/>
        </p:nvSpPr>
        <p:spPr>
          <a:xfrm>
            <a:off x="14264640" y="9457436"/>
            <a:ext cx="90223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Екат)</a:t>
            </a:r>
            <a:endParaRPr lang="en-US" sz="1600" dirty="0"/>
          </a:p>
        </p:txBody>
      </p:sp>
      <p:sp>
        <p:nvSpPr>
          <p:cNvPr id="32" name="quote bubble"/>
          <p:cNvSpPr/>
          <p:nvPr/>
        </p:nvSpPr>
        <p:spPr>
          <a:xfrm>
            <a:off x="12435840" y="10225532"/>
            <a:ext cx="10942625" cy="2201164"/>
          </a:xfrm>
          <a:prstGeom prst="roundRect">
            <a:avLst>
              <a:gd name="adj" fmla="val 14124"/>
            </a:avLst>
          </a:prstGeom>
          <a:solidFill>
            <a:srgbClr val="E3EEFB"/>
          </a:solidFill>
          <a:ln/>
        </p:spPr>
      </p:sp>
      <p:sp>
        <p:nvSpPr>
          <p:cNvPr id="33" name="quote tail"/>
          <p:cNvSpPr/>
          <p:nvPr/>
        </p:nvSpPr>
        <p:spPr>
          <a:xfrm flipV="1">
            <a:off x="13121640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4" name="quote mark"/>
          <p:cNvSpPr/>
          <p:nvPr/>
        </p:nvSpPr>
        <p:spPr>
          <a:xfrm>
            <a:off x="22464065" y="996950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10369" y="10115804"/>
            <a:ext cx="219456" cy="219456"/>
          </a:xfrm>
          <a:prstGeom prst="rect">
            <a:avLst/>
          </a:prstGeom>
        </p:spPr>
      </p:pic>
      <p:sp>
        <p:nvSpPr>
          <p:cNvPr id="36" name="quote text"/>
          <p:cNvSpPr txBox="1"/>
          <p:nvPr/>
        </p:nvSpPr>
        <p:spPr>
          <a:xfrm>
            <a:off x="12847320" y="10591292"/>
            <a:ext cx="10119665" cy="160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«Если был каждый месяц приходил калькулятор вклада, я бы точно прочитала и посмотрела, какая у меня сумма, какой процент я получу. Я буду знать, что банк обо мне помнит, и я как бы как вкладчик могу, вот посмотрел, сделал вывод, что мне удобно, и тут же онлайн подключу»</a:t>
            </a:r>
            <a:endParaRPr lang="en-US" sz="2000" dirty="0"/>
          </a:p>
        </p:txBody>
      </p:sp>
      <p:sp>
        <p:nvSpPr>
          <p:cNvPr id="37" name="avatar"/>
          <p:cNvSpPr/>
          <p:nvPr/>
        </p:nvSpPr>
        <p:spPr>
          <a:xfrm>
            <a:off x="13761720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62304" y="12609576"/>
            <a:ext cx="182880" cy="182880"/>
          </a:xfrm>
          <a:prstGeom prst="rect">
            <a:avLst/>
          </a:prstGeom>
        </p:spPr>
      </p:pic>
      <p:sp>
        <p:nvSpPr>
          <p:cNvPr id="39" name="attribution"/>
          <p:cNvSpPr txBox="1"/>
          <p:nvPr/>
        </p:nvSpPr>
        <p:spPr>
          <a:xfrm>
            <a:off x="14264640" y="12518136"/>
            <a:ext cx="902238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(45-55, Екат)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Формат рассылок должен быть максимально компактным, информативным, но при этом не скучным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14264640" cy="1758950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645920" y="3017520"/>
            <a:ext cx="13167360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bg1"/>
                </a:solidFill>
              </a:rPr>
              <a:t>Гипотеза о том, что в электронную почту идут читать лонгриды, не подтвердилась.</a:t>
            </a:r>
            <a:endParaRPr lang="en-US" sz="2500" dirty="0"/>
          </a:p>
        </p:txBody>
      </p:sp>
      <p:sp>
        <p:nvSpPr>
          <p:cNvPr id="5" name="icon ring"/>
          <p:cNvSpPr/>
          <p:nvPr/>
        </p:nvSpPr>
        <p:spPr>
          <a:xfrm>
            <a:off x="1097280" y="540080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288" y="5558810"/>
            <a:ext cx="269199" cy="269199"/>
          </a:xfrm>
          <a:prstGeom prst="rect">
            <a:avLst/>
          </a:prstGeom>
        </p:spPr>
      </p:pic>
      <p:sp>
        <p:nvSpPr>
          <p:cNvPr id="7" name="point"/>
          <p:cNvSpPr txBox="1"/>
          <p:nvPr/>
        </p:nvSpPr>
        <p:spPr>
          <a:xfrm>
            <a:off x="2048256" y="5364226"/>
            <a:ext cx="8650224" cy="1645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Наоборот, у письма в виде длинного текста меньше всего шансов быть изученным. Аудитория, особенно молодая, не читает и не смотрит большие форматы (исключение – работа и учёба).</a:t>
            </a:r>
            <a:endParaRPr lang="en-US" sz="2300" dirty="0"/>
          </a:p>
        </p:txBody>
      </p:sp>
      <p:sp>
        <p:nvSpPr>
          <p:cNvPr id="8" name="rule"/>
          <p:cNvSpPr/>
          <p:nvPr/>
        </p:nvSpPr>
        <p:spPr>
          <a:xfrm>
            <a:off x="2048256" y="7303516"/>
            <a:ext cx="8650224" cy="0"/>
          </a:xfrm>
          <a:prstGeom prst="line">
            <a:avLst/>
          </a:prstGeom>
          <a:noFill/>
          <a:ln w="12700">
            <a:solidFill>
              <a:srgbClr val="D3DDE9"/>
            </a:solidFill>
            <a:prstDash val="solid"/>
          </a:ln>
        </p:spPr>
      </p:sp>
      <p:sp>
        <p:nvSpPr>
          <p:cNvPr id="9" name="icon ring"/>
          <p:cNvSpPr/>
          <p:nvPr/>
        </p:nvSpPr>
        <p:spPr>
          <a:xfrm>
            <a:off x="1097280" y="7633970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64C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288" y="7791978"/>
            <a:ext cx="269199" cy="269199"/>
          </a:xfrm>
          <a:prstGeom prst="rect">
            <a:avLst/>
          </a:prstGeom>
        </p:spPr>
      </p:pic>
      <p:sp>
        <p:nvSpPr>
          <p:cNvPr id="11" name="point"/>
          <p:cNvSpPr txBox="1"/>
          <p:nvPr/>
        </p:nvSpPr>
        <p:spPr>
          <a:xfrm>
            <a:off x="2048256" y="7597394"/>
            <a:ext cx="8650224" cy="203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dirty="0">
                <a:solidFill>
                  <a:schemeClr val="tx1"/>
                </a:solidFill>
              </a:rPr>
              <a:t>Информация от банка априори представляется сложной для понимания, сухой и неинтересной. Даже потенциально релевантные темы, изложенные стандартным языком, не привлекают внимание обычных потребителей и не вызовут желания изучить рассылку.</a:t>
            </a:r>
            <a:endParaRPr lang="en-US" sz="2300" dirty="0"/>
          </a:p>
        </p:txBody>
      </p:sp>
      <p:sp>
        <p:nvSpPr>
          <p:cNvPr id="12" name="secondary statement"/>
          <p:cNvSpPr/>
          <p:nvPr/>
        </p:nvSpPr>
        <p:spPr>
          <a:xfrm>
            <a:off x="1097280" y="10219055"/>
            <a:ext cx="14264640" cy="2628265"/>
          </a:xfrm>
          <a:prstGeom prst="roundRect">
            <a:avLst>
              <a:gd name="adj" fmla="val 17396"/>
            </a:avLst>
          </a:prstGeom>
          <a:solidFill>
            <a:srgbClr val="E3F3E7"/>
          </a:solidFill>
          <a:ln/>
        </p:spPr>
      </p:sp>
      <p:sp>
        <p:nvSpPr>
          <p:cNvPr id="13" name="secondary statement text"/>
          <p:cNvSpPr txBox="1"/>
          <p:nvPr/>
        </p:nvSpPr>
        <p:spPr>
          <a:xfrm>
            <a:off x="1691640" y="10219055"/>
            <a:ext cx="13075920" cy="26282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300" b="1" dirty="0">
                <a:solidFill>
                  <a:schemeClr val="accent3"/>
                </a:solidFill>
              </a:rPr>
              <a:t>Предпочтительные форматы для рассылок – иконографика или короткие видеоролики, с возможностью перехода в приложение или на сайт при желании получить более детальную информацию. Язык изложения информации должен быть максимально понятным, «человеческим», с конкретными примерами.</a:t>
            </a:r>
            <a:endParaRPr lang="en-US" sz="2300" dirty="0"/>
          </a:p>
        </p:txBody>
      </p:sp>
      <p:pic>
        <p:nvPicPr>
          <p:cNvPr id="14" name="Image 3" descr="/tmp/claude-0/-home-user--/79b729a8-3fa1-5cbb-8e3b-0cd80d582848/scratchpad/build/image1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003045"/>
            <a:ext cx="4206240" cy="2989435"/>
          </a:xfrm>
          <a:prstGeom prst="rect">
            <a:avLst/>
          </a:prstGeom>
        </p:spPr>
      </p:pic>
      <p:sp>
        <p:nvSpPr>
          <p:cNvPr id="15" name="quote bubble"/>
          <p:cNvSpPr/>
          <p:nvPr/>
        </p:nvSpPr>
        <p:spPr>
          <a:xfrm>
            <a:off x="15910560" y="3090672"/>
            <a:ext cx="7467905" cy="4626737"/>
          </a:xfrm>
          <a:prstGeom prst="roundRect">
            <a:avLst>
              <a:gd name="adj" fmla="val 6720"/>
            </a:avLst>
          </a:prstGeom>
          <a:solidFill>
            <a:srgbClr val="E3EEFB"/>
          </a:solidFill>
          <a:ln/>
        </p:spPr>
      </p:sp>
      <p:sp>
        <p:nvSpPr>
          <p:cNvPr id="16" name="quote tail"/>
          <p:cNvSpPr/>
          <p:nvPr/>
        </p:nvSpPr>
        <p:spPr>
          <a:xfrm flipV="1">
            <a:off x="16596360" y="7689977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17" name="quote mark"/>
          <p:cNvSpPr/>
          <p:nvPr/>
        </p:nvSpPr>
        <p:spPr>
          <a:xfrm>
            <a:off x="22464065" y="283464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10369" y="2980944"/>
            <a:ext cx="219456" cy="219456"/>
          </a:xfrm>
          <a:prstGeom prst="rect">
            <a:avLst/>
          </a:prstGeom>
        </p:spPr>
      </p:pic>
      <p:sp>
        <p:nvSpPr>
          <p:cNvPr id="19" name="quote text"/>
          <p:cNvSpPr txBox="1"/>
          <p:nvPr/>
        </p:nvSpPr>
        <p:spPr>
          <a:xfrm>
            <a:off x="16322040" y="3456432"/>
            <a:ext cx="6644945" cy="4032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300" i="1" dirty="0">
                <a:solidFill>
                  <a:schemeClr val="tx1"/>
                </a:solidFill>
              </a:rPr>
              <a:t>«Мне бы было интересно, но, к сожалению, сейчас почему-то читать как будто бы некогда. Поэтому вся информация, которая приходит в почте текстом, тем более, банковская, заумная, невкусно. А вот если бы это было видеосообщением каким-нибудь вот прямо доходчивым, я не знаю, самые сливки и всё понятно, было бы круто, я бы посмотрела»</a:t>
            </a:r>
            <a:endParaRPr lang="en-US" sz="2300" dirty="0"/>
          </a:p>
        </p:txBody>
      </p:sp>
      <p:sp>
        <p:nvSpPr>
          <p:cNvPr id="20" name="avatar"/>
          <p:cNvSpPr/>
          <p:nvPr/>
        </p:nvSpPr>
        <p:spPr>
          <a:xfrm>
            <a:off x="17236440" y="7808849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7024" y="7900289"/>
            <a:ext cx="182880" cy="182880"/>
          </a:xfrm>
          <a:prstGeom prst="rect">
            <a:avLst/>
          </a:prstGeom>
        </p:spPr>
      </p:pic>
      <p:sp>
        <p:nvSpPr>
          <p:cNvPr id="22" name="attribution"/>
          <p:cNvSpPr txBox="1"/>
          <p:nvPr/>
        </p:nvSpPr>
        <p:spPr>
          <a:xfrm>
            <a:off x="17739360" y="7808849"/>
            <a:ext cx="5547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Екат)</a:t>
            </a:r>
            <a:endParaRPr lang="en-US" sz="1600" dirty="0"/>
          </a:p>
        </p:txBody>
      </p:sp>
      <p:sp>
        <p:nvSpPr>
          <p:cNvPr id="23" name="quote bubble"/>
          <p:cNvSpPr/>
          <p:nvPr/>
        </p:nvSpPr>
        <p:spPr>
          <a:xfrm>
            <a:off x="15910560" y="8576945"/>
            <a:ext cx="7467905" cy="3849751"/>
          </a:xfrm>
          <a:prstGeom prst="roundRect">
            <a:avLst>
              <a:gd name="adj" fmla="val 8076"/>
            </a:avLst>
          </a:prstGeom>
          <a:solidFill>
            <a:srgbClr val="E3EEFB"/>
          </a:solidFill>
          <a:ln/>
        </p:spPr>
      </p:sp>
      <p:sp>
        <p:nvSpPr>
          <p:cNvPr id="24" name="quote tail"/>
          <p:cNvSpPr/>
          <p:nvPr/>
        </p:nvSpPr>
        <p:spPr>
          <a:xfrm flipV="1">
            <a:off x="16596360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5" name="quote mark"/>
          <p:cNvSpPr/>
          <p:nvPr/>
        </p:nvSpPr>
        <p:spPr>
          <a:xfrm>
            <a:off x="22464065" y="8320913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10369" y="8467217"/>
            <a:ext cx="219456" cy="219456"/>
          </a:xfrm>
          <a:prstGeom prst="rect">
            <a:avLst/>
          </a:prstGeom>
        </p:spPr>
      </p:pic>
      <p:sp>
        <p:nvSpPr>
          <p:cNvPr id="27" name="quote text"/>
          <p:cNvSpPr txBox="1"/>
          <p:nvPr/>
        </p:nvSpPr>
        <p:spPr>
          <a:xfrm>
            <a:off x="16322040" y="8942705"/>
            <a:ext cx="6644945" cy="325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300" i="1" dirty="0">
                <a:solidFill>
                  <a:schemeClr val="tx1"/>
                </a:solidFill>
              </a:rPr>
              <a:t>«Мне приходило письмо об изменении процентной ставки. Я пыталась понять, в чем же изменение, и как я могу повлиять, поняла, что никак, и просто открыла новый вклад с другими условиями. Я в экономике в этой банковской сфере не понимаю...”</a:t>
            </a:r>
            <a:endParaRPr lang="en-US" sz="2300" dirty="0"/>
          </a:p>
        </p:txBody>
      </p:sp>
      <p:sp>
        <p:nvSpPr>
          <p:cNvPr id="28" name="avatar"/>
          <p:cNvSpPr/>
          <p:nvPr/>
        </p:nvSpPr>
        <p:spPr>
          <a:xfrm>
            <a:off x="17236440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37024" y="12609576"/>
            <a:ext cx="182880" cy="182880"/>
          </a:xfrm>
          <a:prstGeom prst="rect">
            <a:avLst/>
          </a:prstGeom>
        </p:spPr>
      </p:pic>
      <p:sp>
        <p:nvSpPr>
          <p:cNvPr id="30" name="attribution"/>
          <p:cNvSpPr txBox="1"/>
          <p:nvPr/>
        </p:nvSpPr>
        <p:spPr>
          <a:xfrm>
            <a:off x="17739360" y="12518136"/>
            <a:ext cx="55476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(45-55, Москва)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Отношение к рассылкам от экосистемы более положительное, чем к банковской рассылке, в них видят больше ценности и чаще открывают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13716000" cy="3194685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645920" y="3017520"/>
            <a:ext cx="12618720" cy="3194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chemeClr val="bg1"/>
                </a:solidFill>
              </a:rPr>
              <a:t>Клиенты экосистемы склонны просматривать рассылки по продуктам экосистемы, которыми они пользуются. Большая открытость и заинтересованность обусловлены личным позитивным опытом и ценностью, которую потребители видят для себя в этих рассылках:</a:t>
            </a:r>
            <a:endParaRPr lang="en-US" sz="2700" dirty="0"/>
          </a:p>
        </p:txBody>
      </p:sp>
      <p:sp>
        <p:nvSpPr>
          <p:cNvPr id="5" name="cell"/>
          <p:cNvSpPr/>
          <p:nvPr/>
        </p:nvSpPr>
        <p:spPr>
          <a:xfrm>
            <a:off x="1097280" y="7346061"/>
            <a:ext cx="6720840" cy="2272665"/>
          </a:xfrm>
          <a:prstGeom prst="roundRect">
            <a:avLst>
              <a:gd name="adj" fmla="val 12070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6" name="icon ring"/>
          <p:cNvSpPr/>
          <p:nvPr/>
        </p:nvSpPr>
        <p:spPr>
          <a:xfrm>
            <a:off x="1463040" y="7026021"/>
            <a:ext cx="640080" cy="64008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862" y="7198843"/>
            <a:ext cx="294437" cy="294437"/>
          </a:xfrm>
          <a:prstGeom prst="rect">
            <a:avLst/>
          </a:prstGeom>
        </p:spPr>
      </p:pic>
      <p:sp>
        <p:nvSpPr>
          <p:cNvPr id="8" name="item"/>
          <p:cNvSpPr txBox="1"/>
          <p:nvPr/>
        </p:nvSpPr>
        <p:spPr>
          <a:xfrm>
            <a:off x="1508760" y="7894701"/>
            <a:ext cx="5897880" cy="144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Акции, купоны на скидки </a:t>
            </a:r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– действительно попадаются и реально работают;</a:t>
            </a:r>
            <a:endParaRPr lang="en-US" sz="2500" dirty="0"/>
          </a:p>
        </p:txBody>
      </p:sp>
      <p:sp>
        <p:nvSpPr>
          <p:cNvPr id="9" name="cell"/>
          <p:cNvSpPr/>
          <p:nvPr/>
        </p:nvSpPr>
        <p:spPr>
          <a:xfrm>
            <a:off x="8092440" y="7346061"/>
            <a:ext cx="6720840" cy="2272665"/>
          </a:xfrm>
          <a:prstGeom prst="roundRect">
            <a:avLst>
              <a:gd name="adj" fmla="val 12070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0" name="icon ring"/>
          <p:cNvSpPr/>
          <p:nvPr/>
        </p:nvSpPr>
        <p:spPr>
          <a:xfrm>
            <a:off x="8458200" y="7026021"/>
            <a:ext cx="640080" cy="640080"/>
          </a:xfrm>
          <a:prstGeom prst="ellipse">
            <a:avLst/>
          </a:prstGeom>
          <a:solidFill>
            <a:srgbClr val="21A038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022" y="7198843"/>
            <a:ext cx="294437" cy="294437"/>
          </a:xfrm>
          <a:prstGeom prst="rect">
            <a:avLst/>
          </a:prstGeom>
        </p:spPr>
      </p:pic>
      <p:sp>
        <p:nvSpPr>
          <p:cNvPr id="12" name="item"/>
          <p:cNvSpPr txBox="1"/>
          <p:nvPr/>
        </p:nvSpPr>
        <p:spPr>
          <a:xfrm>
            <a:off x="8503920" y="7894701"/>
            <a:ext cx="5897880" cy="1449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Возможность скачать </a:t>
            </a:r>
            <a:pPr indent="0" marL="0">
              <a:lnSpc>
                <a:spcPct val="110000"/>
              </a:lnSpc>
              <a:buNone/>
            </a:pPr>
            <a:r>
              <a:rPr lang="en-US" sz="2500" dirty="0">
                <a:solidFill>
                  <a:schemeClr val="tx1"/>
                </a:solidFill>
              </a:rPr>
              <a:t>документ, QR-код, купон на скидку - и использовать без интернета.</a:t>
            </a:r>
            <a:endParaRPr lang="en-US" sz="2500" dirty="0"/>
          </a:p>
        </p:txBody>
      </p:sp>
      <p:sp>
        <p:nvSpPr>
          <p:cNvPr id="13" name="secondary statement"/>
          <p:cNvSpPr/>
          <p:nvPr/>
        </p:nvSpPr>
        <p:spPr>
          <a:xfrm>
            <a:off x="1097280" y="10386822"/>
            <a:ext cx="13716000" cy="1952625"/>
          </a:xfrm>
          <a:prstGeom prst="roundRect">
            <a:avLst>
              <a:gd name="adj" fmla="val 23415"/>
            </a:avLst>
          </a:prstGeom>
          <a:solidFill>
            <a:srgbClr val="E3F3E7"/>
          </a:solidFill>
          <a:ln/>
        </p:spPr>
      </p:sp>
      <p:sp>
        <p:nvSpPr>
          <p:cNvPr id="14" name="secondary statement text"/>
          <p:cNvSpPr txBox="1"/>
          <p:nvPr/>
        </p:nvSpPr>
        <p:spPr>
          <a:xfrm>
            <a:off x="1691640" y="10386822"/>
            <a:ext cx="12527280" cy="1952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chemeClr val="accent3"/>
                </a:solidFill>
              </a:rPr>
              <a:t>В целом от рассылок продуктов экосистемы ожидают меньше подводных камней в виде выполнения определенных критериев, условий, написанных «мелким шрифтом» и т.п., чем от банка.</a:t>
            </a:r>
            <a:endParaRPr lang="en-US" sz="2500" dirty="0"/>
          </a:p>
        </p:txBody>
      </p:sp>
      <p:sp>
        <p:nvSpPr>
          <p:cNvPr id="15" name="quote bubble"/>
          <p:cNvSpPr/>
          <p:nvPr/>
        </p:nvSpPr>
        <p:spPr>
          <a:xfrm>
            <a:off x="15361920" y="3090672"/>
            <a:ext cx="8016545" cy="4238244"/>
          </a:xfrm>
          <a:prstGeom prst="roundRect">
            <a:avLst>
              <a:gd name="adj" fmla="val 7335"/>
            </a:avLst>
          </a:prstGeom>
          <a:solidFill>
            <a:srgbClr val="E3EEFB"/>
          </a:solidFill>
          <a:ln/>
        </p:spPr>
      </p:sp>
      <p:sp>
        <p:nvSpPr>
          <p:cNvPr id="16" name="quote tail"/>
          <p:cNvSpPr/>
          <p:nvPr/>
        </p:nvSpPr>
        <p:spPr>
          <a:xfrm flipV="1">
            <a:off x="16047720" y="730148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17" name="quote mark"/>
          <p:cNvSpPr/>
          <p:nvPr/>
        </p:nvSpPr>
        <p:spPr>
          <a:xfrm>
            <a:off x="22464065" y="283464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0369" y="2980944"/>
            <a:ext cx="219456" cy="219456"/>
          </a:xfrm>
          <a:prstGeom prst="rect">
            <a:avLst/>
          </a:prstGeom>
        </p:spPr>
      </p:pic>
      <p:sp>
        <p:nvSpPr>
          <p:cNvPr id="19" name="quote text"/>
          <p:cNvSpPr txBox="1"/>
          <p:nvPr/>
        </p:nvSpPr>
        <p:spPr>
          <a:xfrm>
            <a:off x="15773400" y="3456432"/>
            <a:ext cx="7193585" cy="364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«Могу посмотреть, если из, к примеру, Яндекс.Маркета придет индивидуальное предложение с каким-нибудь чайником за 500 рублей, а так он стоит 3000. У меня бывали такие ситуации, что я так зашел, зашел по этой ссылочке, и там действительно был промокод на покупку какого-то товара, он правда сработал, я купил по акции. Если приходит с официальной очты, и это будет не базовая рассылка»</a:t>
            </a:r>
            <a:endParaRPr lang="en-US" sz="2100" dirty="0"/>
          </a:p>
        </p:txBody>
      </p:sp>
      <p:sp>
        <p:nvSpPr>
          <p:cNvPr id="20" name="avatar"/>
          <p:cNvSpPr/>
          <p:nvPr/>
        </p:nvSpPr>
        <p:spPr>
          <a:xfrm>
            <a:off x="16687800" y="742035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8384" y="7511796"/>
            <a:ext cx="182880" cy="182880"/>
          </a:xfrm>
          <a:prstGeom prst="rect">
            <a:avLst/>
          </a:prstGeom>
        </p:spPr>
      </p:pic>
      <p:sp>
        <p:nvSpPr>
          <p:cNvPr id="22" name="attribution"/>
          <p:cNvSpPr txBox="1"/>
          <p:nvPr/>
        </p:nvSpPr>
        <p:spPr>
          <a:xfrm>
            <a:off x="17190720" y="7420356"/>
            <a:ext cx="60963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(20-29, Екат)</a:t>
            </a:r>
            <a:endParaRPr lang="en-US" sz="1600" dirty="0"/>
          </a:p>
        </p:txBody>
      </p:sp>
      <p:sp>
        <p:nvSpPr>
          <p:cNvPr id="23" name="quote bubble"/>
          <p:cNvSpPr/>
          <p:nvPr/>
        </p:nvSpPr>
        <p:spPr>
          <a:xfrm>
            <a:off x="15361920" y="8188452"/>
            <a:ext cx="8016545" cy="4238244"/>
          </a:xfrm>
          <a:prstGeom prst="roundRect">
            <a:avLst>
              <a:gd name="adj" fmla="val 7335"/>
            </a:avLst>
          </a:prstGeom>
          <a:solidFill>
            <a:srgbClr val="E3EEFB"/>
          </a:solidFill>
          <a:ln/>
        </p:spPr>
      </p:sp>
      <p:sp>
        <p:nvSpPr>
          <p:cNvPr id="24" name="quote tail"/>
          <p:cNvSpPr/>
          <p:nvPr/>
        </p:nvSpPr>
        <p:spPr>
          <a:xfrm flipV="1">
            <a:off x="16047720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25" name="quote mark"/>
          <p:cNvSpPr/>
          <p:nvPr/>
        </p:nvSpPr>
        <p:spPr>
          <a:xfrm>
            <a:off x="22464065" y="793242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10369" y="8078724"/>
            <a:ext cx="219456" cy="219456"/>
          </a:xfrm>
          <a:prstGeom prst="rect">
            <a:avLst/>
          </a:prstGeom>
        </p:spPr>
      </p:pic>
      <p:sp>
        <p:nvSpPr>
          <p:cNvPr id="27" name="quote text"/>
          <p:cNvSpPr txBox="1"/>
          <p:nvPr/>
        </p:nvSpPr>
        <p:spPr>
          <a:xfrm>
            <a:off x="15773400" y="8554212"/>
            <a:ext cx="7193585" cy="364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2100" i="1" dirty="0">
                <a:solidFill>
                  <a:schemeClr val="tx1"/>
                </a:solidFill>
              </a:rPr>
              <a:t>«Автостраховка, помимо того, что хранится в приложении банка, приходит и на почту, ее можно скачать в кэш хранить там. Гаишникам показать, если нет мобильного интернета и нельзя показать из приложения. То же – билеты в театр, в кино, заказ в Самокате. У Тбанка бывают акции, ты заказываешь в приложении, потом тебе приходит на почту чек, делаешь скриншот, QR-код загружаешь, чтобы получить какой-то кэшбэк »</a:t>
            </a:r>
            <a:endParaRPr lang="en-US" sz="2100" dirty="0"/>
          </a:p>
        </p:txBody>
      </p:sp>
      <p:sp>
        <p:nvSpPr>
          <p:cNvPr id="28" name="avatar"/>
          <p:cNvSpPr/>
          <p:nvPr/>
        </p:nvSpPr>
        <p:spPr>
          <a:xfrm>
            <a:off x="16687800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88384" y="12609576"/>
            <a:ext cx="182880" cy="182880"/>
          </a:xfrm>
          <a:prstGeom prst="rect">
            <a:avLst/>
          </a:prstGeom>
        </p:spPr>
      </p:pic>
      <p:sp>
        <p:nvSpPr>
          <p:cNvPr id="30" name="attribution"/>
          <p:cNvSpPr txBox="1"/>
          <p:nvPr/>
        </p:nvSpPr>
        <p:spPr>
          <a:xfrm>
            <a:off x="17190720" y="12518136"/>
            <a:ext cx="60963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(20-29, Екат)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005840" y="777240"/>
            <a:ext cx="2237262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chemeClr val="tx1"/>
                </a:solidFill>
              </a:rPr>
              <a:t>Потребители готовы получать и изучать полезные и выгодные для них рассылки и от экосистемы Сбера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017520"/>
            <a:ext cx="10607040" cy="3042666"/>
          </a:xfrm>
          <a:prstGeom prst="rect">
            <a:avLst/>
          </a:prstGeom>
        </p:spPr>
      </p:pic>
      <p:sp>
        <p:nvSpPr>
          <p:cNvPr id="4" name="key statement"/>
          <p:cNvSpPr txBox="1"/>
          <p:nvPr/>
        </p:nvSpPr>
        <p:spPr>
          <a:xfrm>
            <a:off x="1645920" y="3017520"/>
            <a:ext cx="9509760" cy="3042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chemeClr val="bg1"/>
                </a:solidFill>
              </a:rPr>
              <a:t>Ценность этих рассылок может заключаться как в буквальной выгоде (скидки, выгодные предложения, информация о распродажах и т.п.), так и в облегчении жизни потребителей, заботе о них (напоминания о платежах по страховке, таргетированные предложения на основе анализа покупок, и т.п.):</a:t>
            </a:r>
            <a:endParaRPr lang="en-US" sz="2100" dirty="0"/>
          </a:p>
        </p:txBody>
      </p:sp>
      <p:sp>
        <p:nvSpPr>
          <p:cNvPr id="5" name="cell"/>
          <p:cNvSpPr/>
          <p:nvPr/>
        </p:nvSpPr>
        <p:spPr>
          <a:xfrm>
            <a:off x="1097280" y="6828282"/>
            <a:ext cx="5166360" cy="1786636"/>
          </a:xfrm>
          <a:prstGeom prst="roundRect">
            <a:avLst>
              <a:gd name="adj" fmla="val 1535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6" name="icon ring"/>
          <p:cNvSpPr/>
          <p:nvPr/>
        </p:nvSpPr>
        <p:spPr>
          <a:xfrm>
            <a:off x="1417320" y="742899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328" y="7587000"/>
            <a:ext cx="269199" cy="269199"/>
          </a:xfrm>
          <a:prstGeom prst="rect">
            <a:avLst/>
          </a:prstGeom>
        </p:spPr>
      </p:pic>
      <p:sp>
        <p:nvSpPr>
          <p:cNvPr id="8" name="item"/>
          <p:cNvSpPr txBox="1"/>
          <p:nvPr/>
        </p:nvSpPr>
        <p:spPr>
          <a:xfrm>
            <a:off x="2322576" y="6828282"/>
            <a:ext cx="3666744" cy="178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График платежей по подпискам, страховкам и т.п.</a:t>
            </a:r>
            <a:endParaRPr lang="en-US" sz="1900" dirty="0"/>
          </a:p>
        </p:txBody>
      </p:sp>
      <p:sp>
        <p:nvSpPr>
          <p:cNvPr id="9" name="cell"/>
          <p:cNvSpPr/>
          <p:nvPr/>
        </p:nvSpPr>
        <p:spPr>
          <a:xfrm>
            <a:off x="6537960" y="6828282"/>
            <a:ext cx="5166360" cy="1786636"/>
          </a:xfrm>
          <a:prstGeom prst="roundRect">
            <a:avLst>
              <a:gd name="adj" fmla="val 1535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0" name="icon ring"/>
          <p:cNvSpPr/>
          <p:nvPr/>
        </p:nvSpPr>
        <p:spPr>
          <a:xfrm>
            <a:off x="6858000" y="7428992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008" y="7587000"/>
            <a:ext cx="269199" cy="269199"/>
          </a:xfrm>
          <a:prstGeom prst="rect">
            <a:avLst/>
          </a:prstGeom>
        </p:spPr>
      </p:pic>
      <p:sp>
        <p:nvSpPr>
          <p:cNvPr id="12" name="item"/>
          <p:cNvSpPr txBox="1"/>
          <p:nvPr/>
        </p:nvSpPr>
        <p:spPr>
          <a:xfrm>
            <a:off x="7763256" y="6828282"/>
            <a:ext cx="3666744" cy="178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Напоминание о приближающемся платеже</a:t>
            </a:r>
            <a:endParaRPr lang="en-US" sz="1900" dirty="0"/>
          </a:p>
        </p:txBody>
      </p:sp>
      <p:sp>
        <p:nvSpPr>
          <p:cNvPr id="13" name="cell"/>
          <p:cNvSpPr/>
          <p:nvPr/>
        </p:nvSpPr>
        <p:spPr>
          <a:xfrm>
            <a:off x="1097280" y="8889238"/>
            <a:ext cx="5166360" cy="1786636"/>
          </a:xfrm>
          <a:prstGeom prst="roundRect">
            <a:avLst>
              <a:gd name="adj" fmla="val 1535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4" name="icon ring"/>
          <p:cNvSpPr/>
          <p:nvPr/>
        </p:nvSpPr>
        <p:spPr>
          <a:xfrm>
            <a:off x="1417320" y="9489948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328" y="9647956"/>
            <a:ext cx="269199" cy="269199"/>
          </a:xfrm>
          <a:prstGeom prst="rect">
            <a:avLst/>
          </a:prstGeom>
        </p:spPr>
      </p:pic>
      <p:sp>
        <p:nvSpPr>
          <p:cNvPr id="16" name="item"/>
          <p:cNvSpPr txBox="1"/>
          <p:nvPr/>
        </p:nvSpPr>
        <p:spPr>
          <a:xfrm>
            <a:off x="2322576" y="8889238"/>
            <a:ext cx="3666744" cy="178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Скидка за досрочную оплату/ оплату на длительный срок</a:t>
            </a:r>
            <a:endParaRPr lang="en-US" sz="1900" dirty="0"/>
          </a:p>
        </p:txBody>
      </p:sp>
      <p:sp>
        <p:nvSpPr>
          <p:cNvPr id="17" name="cell"/>
          <p:cNvSpPr/>
          <p:nvPr/>
        </p:nvSpPr>
        <p:spPr>
          <a:xfrm>
            <a:off x="6537960" y="8889238"/>
            <a:ext cx="5166360" cy="1786636"/>
          </a:xfrm>
          <a:prstGeom prst="roundRect">
            <a:avLst>
              <a:gd name="adj" fmla="val 1535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18" name="icon ring"/>
          <p:cNvSpPr/>
          <p:nvPr/>
        </p:nvSpPr>
        <p:spPr>
          <a:xfrm>
            <a:off x="6858000" y="9489948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6008" y="9647956"/>
            <a:ext cx="269199" cy="269199"/>
          </a:xfrm>
          <a:prstGeom prst="rect">
            <a:avLst/>
          </a:prstGeom>
        </p:spPr>
      </p:pic>
      <p:sp>
        <p:nvSpPr>
          <p:cNvPr id="20" name="item"/>
          <p:cNvSpPr txBox="1"/>
          <p:nvPr/>
        </p:nvSpPr>
        <p:spPr>
          <a:xfrm>
            <a:off x="7763256" y="8889238"/>
            <a:ext cx="3666744" cy="178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Уведомление о предстоящих акциях (скидках, распродажах)</a:t>
            </a:r>
            <a:endParaRPr lang="en-US" sz="1900" dirty="0"/>
          </a:p>
        </p:txBody>
      </p:sp>
      <p:sp>
        <p:nvSpPr>
          <p:cNvPr id="21" name="cell"/>
          <p:cNvSpPr/>
          <p:nvPr/>
        </p:nvSpPr>
        <p:spPr>
          <a:xfrm>
            <a:off x="1097280" y="10950194"/>
            <a:ext cx="5166360" cy="1786636"/>
          </a:xfrm>
          <a:prstGeom prst="roundRect">
            <a:avLst>
              <a:gd name="adj" fmla="val 1535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22" name="icon ring"/>
          <p:cNvSpPr/>
          <p:nvPr/>
        </p:nvSpPr>
        <p:spPr>
          <a:xfrm>
            <a:off x="1417320" y="11550904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5328" y="11708912"/>
            <a:ext cx="269199" cy="269199"/>
          </a:xfrm>
          <a:prstGeom prst="rect">
            <a:avLst/>
          </a:prstGeom>
        </p:spPr>
      </p:pic>
      <p:sp>
        <p:nvSpPr>
          <p:cNvPr id="24" name="item"/>
          <p:cNvSpPr txBox="1"/>
          <p:nvPr/>
        </p:nvSpPr>
        <p:spPr>
          <a:xfrm>
            <a:off x="2322576" y="10950194"/>
            <a:ext cx="3666744" cy="178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Скидки, выгодные предложения 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</a:rPr>
              <a:t>– не только за 1й заказ или покупку, но и как лояльным пользователям</a:t>
            </a:r>
            <a:endParaRPr lang="en-US" sz="1900" dirty="0"/>
          </a:p>
        </p:txBody>
      </p:sp>
      <p:sp>
        <p:nvSpPr>
          <p:cNvPr id="25" name="cell"/>
          <p:cNvSpPr/>
          <p:nvPr/>
        </p:nvSpPr>
        <p:spPr>
          <a:xfrm>
            <a:off x="6537960" y="10950194"/>
            <a:ext cx="5166360" cy="1786636"/>
          </a:xfrm>
          <a:prstGeom prst="roundRect">
            <a:avLst>
              <a:gd name="adj" fmla="val 15354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9ED8B0"/>
            </a:solidFill>
            <a:prstDash val="solid"/>
          </a:ln>
        </p:spPr>
      </p:sp>
      <p:sp>
        <p:nvSpPr>
          <p:cNvPr id="26" name="icon ring"/>
          <p:cNvSpPr/>
          <p:nvPr/>
        </p:nvSpPr>
        <p:spPr>
          <a:xfrm>
            <a:off x="6858000" y="11550904"/>
            <a:ext cx="585216" cy="5852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1A038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6008" y="11708912"/>
            <a:ext cx="269199" cy="269199"/>
          </a:xfrm>
          <a:prstGeom prst="rect">
            <a:avLst/>
          </a:prstGeom>
        </p:spPr>
      </p:pic>
      <p:sp>
        <p:nvSpPr>
          <p:cNvPr id="28" name="item"/>
          <p:cNvSpPr txBox="1"/>
          <p:nvPr/>
        </p:nvSpPr>
        <p:spPr>
          <a:xfrm>
            <a:off x="7763256" y="10950194"/>
            <a:ext cx="3666744" cy="1786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chemeClr val="accent3"/>
                </a:solidFill>
              </a:rPr>
              <a:t>Таргетированные предложения</a:t>
            </a:r>
            <a:endParaRPr lang="en-US" sz="1900" dirty="0"/>
          </a:p>
        </p:txBody>
      </p:sp>
      <p:sp>
        <p:nvSpPr>
          <p:cNvPr id="29" name="quote bubble"/>
          <p:cNvSpPr/>
          <p:nvPr/>
        </p:nvSpPr>
        <p:spPr>
          <a:xfrm>
            <a:off x="12252960" y="3090672"/>
            <a:ext cx="11125505" cy="2170747"/>
          </a:xfrm>
          <a:prstGeom prst="roundRect">
            <a:avLst>
              <a:gd name="adj" fmla="val 14322"/>
            </a:avLst>
          </a:prstGeom>
          <a:solidFill>
            <a:srgbClr val="E3EEFB"/>
          </a:solidFill>
          <a:ln/>
        </p:spPr>
      </p:sp>
      <p:sp>
        <p:nvSpPr>
          <p:cNvPr id="30" name="quote tail"/>
          <p:cNvSpPr/>
          <p:nvPr/>
        </p:nvSpPr>
        <p:spPr>
          <a:xfrm flipV="1">
            <a:off x="12938760" y="5233988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1" name="quote mark"/>
          <p:cNvSpPr/>
          <p:nvPr/>
        </p:nvSpPr>
        <p:spPr>
          <a:xfrm>
            <a:off x="22464065" y="2834640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10369" y="2980944"/>
            <a:ext cx="219456" cy="219456"/>
          </a:xfrm>
          <a:prstGeom prst="rect">
            <a:avLst/>
          </a:prstGeom>
        </p:spPr>
      </p:pic>
      <p:sp>
        <p:nvSpPr>
          <p:cNvPr id="33" name="quote text"/>
          <p:cNvSpPr txBox="1"/>
          <p:nvPr/>
        </p:nvSpPr>
        <p:spPr>
          <a:xfrm>
            <a:off x="12664440" y="3456432"/>
            <a:ext cx="10302545" cy="1576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«Было бы неплохо, если бы мне Сбер напомнил заранее, что у меня заканчивается полис ОСАГО и предложил мне скидку, чтобы я выбрал именно его, а не конкурентов. Еще было бы неплохо, чтобы мне как клиенту приходили индивидуальные купоны на скидки в Самокате. В Купере есть, но только на первый заказ».</a:t>
            </a:r>
            <a:endParaRPr lang="en-US" sz="1900" dirty="0"/>
          </a:p>
        </p:txBody>
      </p:sp>
      <p:sp>
        <p:nvSpPr>
          <p:cNvPr id="34" name="avatar"/>
          <p:cNvSpPr/>
          <p:nvPr/>
        </p:nvSpPr>
        <p:spPr>
          <a:xfrm>
            <a:off x="13578840" y="535286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79424" y="5444299"/>
            <a:ext cx="182880" cy="182880"/>
          </a:xfrm>
          <a:prstGeom prst="rect">
            <a:avLst/>
          </a:prstGeom>
        </p:spPr>
      </p:pic>
      <p:sp>
        <p:nvSpPr>
          <p:cNvPr id="36" name="attribution"/>
          <p:cNvSpPr txBox="1"/>
          <p:nvPr/>
        </p:nvSpPr>
        <p:spPr>
          <a:xfrm>
            <a:off x="14081760" y="5352860"/>
            <a:ext cx="92052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(20-29, Екат)</a:t>
            </a:r>
            <a:endParaRPr lang="en-US" sz="1600" dirty="0"/>
          </a:p>
        </p:txBody>
      </p:sp>
      <p:sp>
        <p:nvSpPr>
          <p:cNvPr id="37" name="quote bubble"/>
          <p:cNvSpPr/>
          <p:nvPr/>
        </p:nvSpPr>
        <p:spPr>
          <a:xfrm>
            <a:off x="12252960" y="6120956"/>
            <a:ext cx="11125505" cy="1528890"/>
          </a:xfrm>
          <a:prstGeom prst="roundRect">
            <a:avLst>
              <a:gd name="adj" fmla="val 20335"/>
            </a:avLst>
          </a:prstGeom>
          <a:solidFill>
            <a:srgbClr val="E3EEFB"/>
          </a:solidFill>
          <a:ln/>
        </p:spPr>
      </p:sp>
      <p:sp>
        <p:nvSpPr>
          <p:cNvPr id="38" name="quote tail"/>
          <p:cNvSpPr/>
          <p:nvPr/>
        </p:nvSpPr>
        <p:spPr>
          <a:xfrm flipV="1">
            <a:off x="12938760" y="7622413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39" name="quote mark"/>
          <p:cNvSpPr/>
          <p:nvPr/>
        </p:nvSpPr>
        <p:spPr>
          <a:xfrm>
            <a:off x="22464065" y="5864924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10369" y="6011228"/>
            <a:ext cx="219456" cy="219456"/>
          </a:xfrm>
          <a:prstGeom prst="rect">
            <a:avLst/>
          </a:prstGeom>
        </p:spPr>
      </p:pic>
      <p:sp>
        <p:nvSpPr>
          <p:cNvPr id="41" name="quote text"/>
          <p:cNvSpPr txBox="1"/>
          <p:nvPr/>
        </p:nvSpPr>
        <p:spPr>
          <a:xfrm>
            <a:off x="12664440" y="6486716"/>
            <a:ext cx="10302545" cy="934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«Мне пришло по СБЕР-страхованию предложение по страховке всех членов семьи по фиксированной ставке на 3 года. А я страхуюсь от клеща каждый год, конечно, я оформила. Но не сразу через письмо, я на сайт зашла по сбер id».</a:t>
            </a:r>
            <a:endParaRPr lang="en-US" sz="1900" dirty="0"/>
          </a:p>
        </p:txBody>
      </p:sp>
      <p:sp>
        <p:nvSpPr>
          <p:cNvPr id="42" name="avatar"/>
          <p:cNvSpPr/>
          <p:nvPr/>
        </p:nvSpPr>
        <p:spPr>
          <a:xfrm>
            <a:off x="13578840" y="7741285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79424" y="7832725"/>
            <a:ext cx="182880" cy="182880"/>
          </a:xfrm>
          <a:prstGeom prst="rect">
            <a:avLst/>
          </a:prstGeom>
        </p:spPr>
      </p:pic>
      <p:sp>
        <p:nvSpPr>
          <p:cNvPr id="44" name="attribution"/>
          <p:cNvSpPr txBox="1"/>
          <p:nvPr/>
        </p:nvSpPr>
        <p:spPr>
          <a:xfrm>
            <a:off x="14081760" y="7741285"/>
            <a:ext cx="92052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(45-55, Екат)</a:t>
            </a:r>
            <a:endParaRPr lang="en-US" sz="1600" dirty="0"/>
          </a:p>
        </p:txBody>
      </p:sp>
      <p:sp>
        <p:nvSpPr>
          <p:cNvPr id="45" name="quote bubble"/>
          <p:cNvSpPr/>
          <p:nvPr/>
        </p:nvSpPr>
        <p:spPr>
          <a:xfrm>
            <a:off x="12252960" y="8509381"/>
            <a:ext cx="11125505" cy="1528890"/>
          </a:xfrm>
          <a:prstGeom prst="roundRect">
            <a:avLst>
              <a:gd name="adj" fmla="val 20335"/>
            </a:avLst>
          </a:prstGeom>
          <a:solidFill>
            <a:srgbClr val="E3EEFB"/>
          </a:solidFill>
          <a:ln/>
        </p:spPr>
      </p:sp>
      <p:sp>
        <p:nvSpPr>
          <p:cNvPr id="46" name="quote tail"/>
          <p:cNvSpPr/>
          <p:nvPr/>
        </p:nvSpPr>
        <p:spPr>
          <a:xfrm flipV="1">
            <a:off x="12938760" y="10010839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47" name="quote mark"/>
          <p:cNvSpPr/>
          <p:nvPr/>
        </p:nvSpPr>
        <p:spPr>
          <a:xfrm>
            <a:off x="22464065" y="8253349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610369" y="8399653"/>
            <a:ext cx="219456" cy="219456"/>
          </a:xfrm>
          <a:prstGeom prst="rect">
            <a:avLst/>
          </a:prstGeom>
        </p:spPr>
      </p:pic>
      <p:sp>
        <p:nvSpPr>
          <p:cNvPr id="49" name="quote text"/>
          <p:cNvSpPr txBox="1"/>
          <p:nvPr/>
        </p:nvSpPr>
        <p:spPr>
          <a:xfrm>
            <a:off x="12664440" y="8875141"/>
            <a:ext cx="10302545" cy="934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«У Сбера раз в году есть Зеленые дни, скидки на разные продукты экосистемы. И обратный отсчет до начала этих дней идет. Можно планировать под эти даты, это удобно и выгодно»</a:t>
            </a:r>
            <a:endParaRPr lang="en-US" sz="1900" dirty="0"/>
          </a:p>
        </p:txBody>
      </p:sp>
      <p:sp>
        <p:nvSpPr>
          <p:cNvPr id="50" name="avatar"/>
          <p:cNvSpPr/>
          <p:nvPr/>
        </p:nvSpPr>
        <p:spPr>
          <a:xfrm>
            <a:off x="13578840" y="10129711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79424" y="10221151"/>
            <a:ext cx="182880" cy="182880"/>
          </a:xfrm>
          <a:prstGeom prst="rect">
            <a:avLst/>
          </a:prstGeom>
        </p:spPr>
      </p:pic>
      <p:sp>
        <p:nvSpPr>
          <p:cNvPr id="52" name="attribution"/>
          <p:cNvSpPr txBox="1"/>
          <p:nvPr/>
        </p:nvSpPr>
        <p:spPr>
          <a:xfrm>
            <a:off x="14081760" y="10129711"/>
            <a:ext cx="92052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(30-44, Москва)</a:t>
            </a:r>
            <a:endParaRPr lang="en-US" sz="1600" dirty="0"/>
          </a:p>
        </p:txBody>
      </p:sp>
      <p:sp>
        <p:nvSpPr>
          <p:cNvPr id="53" name="quote bubble"/>
          <p:cNvSpPr/>
          <p:nvPr/>
        </p:nvSpPr>
        <p:spPr>
          <a:xfrm>
            <a:off x="12252960" y="10897807"/>
            <a:ext cx="11125505" cy="1528890"/>
          </a:xfrm>
          <a:prstGeom prst="roundRect">
            <a:avLst>
              <a:gd name="adj" fmla="val 20335"/>
            </a:avLst>
          </a:prstGeom>
          <a:solidFill>
            <a:srgbClr val="E3EEFB"/>
          </a:solidFill>
          <a:ln/>
        </p:spPr>
      </p:sp>
      <p:sp>
        <p:nvSpPr>
          <p:cNvPr id="54" name="quote tail"/>
          <p:cNvSpPr/>
          <p:nvPr/>
        </p:nvSpPr>
        <p:spPr>
          <a:xfrm flipV="1">
            <a:off x="12938760" y="12399264"/>
            <a:ext cx="457200" cy="292608"/>
          </a:xfrm>
          <a:prstGeom prst="triangle">
            <a:avLst/>
          </a:prstGeom>
          <a:solidFill>
            <a:srgbClr val="E3EEFB"/>
          </a:solidFill>
          <a:ln/>
        </p:spPr>
      </p:sp>
      <p:sp>
        <p:nvSpPr>
          <p:cNvPr id="55" name="quote mark"/>
          <p:cNvSpPr/>
          <p:nvPr/>
        </p:nvSpPr>
        <p:spPr>
          <a:xfrm>
            <a:off x="22464065" y="10641775"/>
            <a:ext cx="512064" cy="51206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610369" y="10788079"/>
            <a:ext cx="219456" cy="219456"/>
          </a:xfrm>
          <a:prstGeom prst="rect">
            <a:avLst/>
          </a:prstGeom>
        </p:spPr>
      </p:pic>
      <p:sp>
        <p:nvSpPr>
          <p:cNvPr id="57" name="quote text"/>
          <p:cNvSpPr txBox="1"/>
          <p:nvPr/>
        </p:nvSpPr>
        <p:spPr>
          <a:xfrm>
            <a:off x="12664440" y="11263567"/>
            <a:ext cx="10302545" cy="934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i="1" dirty="0">
                <a:solidFill>
                  <a:schemeClr val="tx1"/>
                </a:solidFill>
              </a:rPr>
              <a:t>«Если человек пользуется экосистемой, о нем очень много можно узнать. Допустим, какую музыку он предпочитает слушать, куда ходит. Если для конкретного потребителя сделать подборку, было бы интересно»</a:t>
            </a:r>
            <a:endParaRPr lang="en-US" sz="1900" dirty="0"/>
          </a:p>
        </p:txBody>
      </p:sp>
      <p:sp>
        <p:nvSpPr>
          <p:cNvPr id="58" name="avatar"/>
          <p:cNvSpPr/>
          <p:nvPr/>
        </p:nvSpPr>
        <p:spPr>
          <a:xfrm>
            <a:off x="13578840" y="12518136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79424" y="12609576"/>
            <a:ext cx="182880" cy="182880"/>
          </a:xfrm>
          <a:prstGeom prst="rect">
            <a:avLst/>
          </a:prstGeom>
        </p:spPr>
      </p:pic>
      <p:sp>
        <p:nvSpPr>
          <p:cNvPr id="60" name="attribution"/>
          <p:cNvSpPr txBox="1"/>
          <p:nvPr/>
        </p:nvSpPr>
        <p:spPr>
          <a:xfrm>
            <a:off x="14081760" y="12518136"/>
            <a:ext cx="92052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3"/>
                </a:solidFill>
              </a:rPr>
              <a:t>(45-55, Екат)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1579840" y="13075920"/>
            <a:ext cx="1801368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ber Research">
  <a:themeElements>
    <a:clrScheme name="Sber Research">
      <a:dk1>
        <a:srgbClr val="23343D"/>
      </a:dk1>
      <a:lt1>
        <a:srgbClr val="FFFFFF"/>
      </a:lt1>
      <a:dk2>
        <a:srgbClr val="0D5146"/>
      </a:dk2>
      <a:lt2>
        <a:srgbClr val="F1F7F5"/>
      </a:lt2>
      <a:accent1>
        <a:srgbClr val="1164C0"/>
      </a:accent1>
      <a:accent2>
        <a:srgbClr val="21A038"/>
      </a:accent2>
      <a:accent3>
        <a:srgbClr val="0D5146"/>
      </a:accent3>
      <a:accent4>
        <a:srgbClr val="5AB0FF"/>
      </a:accent4>
      <a:accent5>
        <a:srgbClr val="BAF279"/>
      </a:accent5>
      <a:accent6>
        <a:srgbClr val="55666F"/>
      </a:accent6>
      <a:hlink>
        <a:srgbClr val="1164C0"/>
      </a:hlink>
      <a:folHlink>
        <a:srgbClr val="60717B"/>
      </a:folHlink>
    </a:clrScheme>
    <a:fontScheme name="Sber Research">
      <a:majorFont>
        <a:latin typeface="SB San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B Sans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Восприятие email-коммуникаций Сбера и направления развития канала</dc:title>
  <dc:subject>PptxGenJS Presentation</dc:subject>
  <dc:creator>PptxGenJS</dc:creator>
  <cp:lastModifiedBy>PptxGenJS</cp:lastModifiedBy>
  <cp:revision>1</cp:revision>
  <dcterms:created xsi:type="dcterms:W3CDTF">2026-10-08T07:38:47Z</dcterms:created>
  <dcterms:modified xsi:type="dcterms:W3CDTF">2026-10-08T07:38:47Z</dcterms:modified>
</cp:coreProperties>
</file>